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chivo Black" charset="1" panose="020B0A03020202020B04"/>
      <p:regular r:id="rId24"/>
    </p:embeddedFont>
    <p:embeddedFont>
      <p:font typeface="Akzidenz-Grotesk" charset="1" panose="02000503030000020003"/>
      <p:regular r:id="rId25"/>
    </p:embeddedFont>
    <p:embeddedFont>
      <p:font typeface="Akzidenz-Grotesk Bold" charset="1" panose="0200080305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620250" cy="10287000"/>
            <a:chOff x="0" y="0"/>
            <a:chExt cx="12827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827000">
                  <a:moveTo>
                    <a:pt x="0" y="0"/>
                  </a:moveTo>
                  <a:lnTo>
                    <a:pt x="12827000" y="0"/>
                  </a:lnTo>
                  <a:lnTo>
                    <a:pt x="1282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2500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19150" y="1276350"/>
            <a:ext cx="7239000" cy="175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82"/>
              </a:lnSpc>
            </a:pPr>
            <a:r>
              <a:rPr lang="en-US" sz="133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SIC8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150" y="3048000"/>
            <a:ext cx="7810500" cy="128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502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</a:t>
            </a:r>
          </a:p>
          <a:p>
            <a:pPr algn="l">
              <a:lnSpc>
                <a:spcPts val="4924"/>
              </a:lnSpc>
            </a:pPr>
            <a:r>
              <a:rPr lang="en-US" sz="502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 INGESTION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9150" y="6372225"/>
            <a:ext cx="7239000" cy="84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Zero DB inserts. Sub-10ms fraud scoring. One Medallion Lakehouse.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150" y="8524875"/>
            <a:ext cx="723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AWS S3  ×  DATABRICKS  ×  MSK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INGESTION DILEMMA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High transaction velocity turns a familiar RDBMS into a shared choke point.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04900" y="3009900"/>
            <a:ext cx="2857500" cy="1428750"/>
            <a:chOff x="0" y="0"/>
            <a:chExt cx="3810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952750"/>
            <a:ext cx="2857500" cy="1428750"/>
            <a:chOff x="0" y="0"/>
            <a:chExt cx="3810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PAYMENTS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APIs + EVENTS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476500" y="4476750"/>
            <a:ext cx="666750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914900" y="3009900"/>
            <a:ext cx="2857500" cy="1428750"/>
            <a:chOff x="0" y="0"/>
            <a:chExt cx="3810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57750" y="2952750"/>
            <a:ext cx="2857500" cy="1428750"/>
            <a:chOff x="0" y="0"/>
            <a:chExt cx="3810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CUSTOMERS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POSTGRESQL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6286500" y="4476750"/>
            <a:ext cx="285750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8724900" y="3009900"/>
            <a:ext cx="2857500" cy="1428750"/>
            <a:chOff x="0" y="0"/>
            <a:chExt cx="3810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67750" y="2952750"/>
            <a:ext cx="2857500" cy="1428750"/>
            <a:chOff x="0" y="0"/>
            <a:chExt cx="3810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REFERENCE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DAILY FILES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9144000" y="4476750"/>
            <a:ext cx="95250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7153275" y="5867400"/>
            <a:ext cx="4095750" cy="1809750"/>
            <a:chOff x="0" y="0"/>
            <a:chExt cx="5461000" cy="241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6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461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96125" y="5810250"/>
            <a:ext cx="4095750" cy="1809750"/>
            <a:chOff x="0" y="0"/>
            <a:chExt cx="5461000" cy="2413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61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461000">
                  <a:moveTo>
                    <a:pt x="23628" y="0"/>
                  </a:moveTo>
                  <a:lnTo>
                    <a:pt x="5437372" y="0"/>
                  </a:lnTo>
                  <a:cubicBezTo>
                    <a:pt x="5450422" y="0"/>
                    <a:pt x="5461000" y="10579"/>
                    <a:pt x="5461000" y="23628"/>
                  </a:cubicBezTo>
                  <a:lnTo>
                    <a:pt x="5461000" y="2389372"/>
                  </a:lnTo>
                  <a:cubicBezTo>
                    <a:pt x="5461000" y="2402421"/>
                    <a:pt x="5450422" y="2413000"/>
                    <a:pt x="5437372" y="2413000"/>
                  </a:cubicBezTo>
                  <a:lnTo>
                    <a:pt x="23628" y="2413000"/>
                  </a:lnTo>
                  <a:cubicBezTo>
                    <a:pt x="10579" y="2413000"/>
                    <a:pt x="0" y="2402421"/>
                    <a:pt x="0" y="2389372"/>
                  </a:cubicBezTo>
                  <a:lnTo>
                    <a:pt x="0" y="23628"/>
                  </a:lnTo>
                  <a:cubicBezTo>
                    <a:pt x="0" y="10579"/>
                    <a:pt x="10579" y="0"/>
                    <a:pt x="23628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61000" cy="24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RDBMS</a:t>
              </a:r>
            </a:p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WRITE EXHAUSTION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095750" y="8382000"/>
            <a:ext cx="10096500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2"/>
              </a:lnSpc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LOCKS  •  I/O  •  POLLING  •  DOUBLE-WRITES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DECOUPLE INGESTION FROM PERSISTENCE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Four paths, one event contract, zero relational inserts on the payment hot path.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009900"/>
            <a:ext cx="3429000" cy="1714500"/>
            <a:chOff x="0" y="0"/>
            <a:chExt cx="4572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952750"/>
            <a:ext cx="3429000" cy="1714500"/>
            <a:chOff x="0" y="0"/>
            <a:chExt cx="45720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257778"/>
                  </a:lnTo>
                  <a:cubicBezTo>
                    <a:pt x="4572000" y="2265263"/>
                    <a:pt x="4569027" y="2272441"/>
                    <a:pt x="4563734" y="2277734"/>
                  </a:cubicBezTo>
                  <a:cubicBezTo>
                    <a:pt x="4558441" y="2283027"/>
                    <a:pt x="4551263" y="2286000"/>
                    <a:pt x="4543778" y="2286000"/>
                  </a:cubicBezTo>
                  <a:lnTo>
                    <a:pt x="28222" y="2286000"/>
                  </a:lnTo>
                  <a:cubicBezTo>
                    <a:pt x="20737" y="2286000"/>
                    <a:pt x="13559" y="2283027"/>
                    <a:pt x="8266" y="2277734"/>
                  </a:cubicBezTo>
                  <a:cubicBezTo>
                    <a:pt x="2973" y="2272441"/>
                    <a:pt x="0" y="2265263"/>
                    <a:pt x="0" y="2257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572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  REAL-TIME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EVENTS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571750" y="4762500"/>
            <a:ext cx="6572250" cy="18097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248275" y="3009900"/>
            <a:ext cx="3429000" cy="1714500"/>
            <a:chOff x="0" y="0"/>
            <a:chExt cx="4572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91125" y="2952750"/>
            <a:ext cx="3429000" cy="1714500"/>
            <a:chOff x="0" y="0"/>
            <a:chExt cx="4572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257778"/>
                  </a:lnTo>
                  <a:cubicBezTo>
                    <a:pt x="4572000" y="2265263"/>
                    <a:pt x="4569027" y="2272441"/>
                    <a:pt x="4563734" y="2277734"/>
                  </a:cubicBezTo>
                  <a:cubicBezTo>
                    <a:pt x="4558441" y="2283027"/>
                    <a:pt x="4551263" y="2286000"/>
                    <a:pt x="4543778" y="2286000"/>
                  </a:cubicBezTo>
                  <a:lnTo>
                    <a:pt x="28222" y="2286000"/>
                  </a:lnTo>
                  <a:cubicBezTo>
                    <a:pt x="20737" y="2286000"/>
                    <a:pt x="13559" y="2283027"/>
                    <a:pt x="8266" y="2277734"/>
                  </a:cubicBezTo>
                  <a:cubicBezTo>
                    <a:pt x="2973" y="2272441"/>
                    <a:pt x="0" y="2265263"/>
                    <a:pt x="0" y="2257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572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  POSTGRES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CDC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6905625" y="4762500"/>
            <a:ext cx="2238375" cy="18097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582150" y="3009900"/>
            <a:ext cx="3429000" cy="1714500"/>
            <a:chOff x="0" y="0"/>
            <a:chExt cx="4572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0" y="2952750"/>
            <a:ext cx="3429000" cy="1714500"/>
            <a:chOff x="0" y="0"/>
            <a:chExt cx="457200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257778"/>
                  </a:lnTo>
                  <a:cubicBezTo>
                    <a:pt x="4572000" y="2265263"/>
                    <a:pt x="4569027" y="2272441"/>
                    <a:pt x="4563734" y="2277734"/>
                  </a:cubicBezTo>
                  <a:cubicBezTo>
                    <a:pt x="4558441" y="2283027"/>
                    <a:pt x="4551263" y="2286000"/>
                    <a:pt x="4543778" y="2286000"/>
                  </a:cubicBezTo>
                  <a:lnTo>
                    <a:pt x="28222" y="2286000"/>
                  </a:lnTo>
                  <a:cubicBezTo>
                    <a:pt x="20737" y="2286000"/>
                    <a:pt x="13559" y="2283027"/>
                    <a:pt x="8266" y="2277734"/>
                  </a:cubicBezTo>
                  <a:cubicBezTo>
                    <a:pt x="2973" y="2272441"/>
                    <a:pt x="0" y="2265263"/>
                    <a:pt x="0" y="2257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72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  BATCH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REFERENCE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9144000" y="4762500"/>
            <a:ext cx="2095500" cy="18097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3916025" y="3009900"/>
            <a:ext cx="3429000" cy="1714500"/>
            <a:chOff x="0" y="0"/>
            <a:chExt cx="4572000" cy="228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8875" y="2952750"/>
            <a:ext cx="3429000" cy="1714500"/>
            <a:chOff x="0" y="0"/>
            <a:chExt cx="4572000" cy="228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257778"/>
                  </a:lnTo>
                  <a:cubicBezTo>
                    <a:pt x="4572000" y="2265263"/>
                    <a:pt x="4569027" y="2272441"/>
                    <a:pt x="4563734" y="2277734"/>
                  </a:cubicBezTo>
                  <a:cubicBezTo>
                    <a:pt x="4558441" y="2283027"/>
                    <a:pt x="4551263" y="2286000"/>
                    <a:pt x="4543778" y="2286000"/>
                  </a:cubicBezTo>
                  <a:lnTo>
                    <a:pt x="28222" y="2286000"/>
                  </a:lnTo>
                  <a:cubicBezTo>
                    <a:pt x="20737" y="2286000"/>
                    <a:pt x="13559" y="2283027"/>
                    <a:pt x="8266" y="2277734"/>
                  </a:cubicBezTo>
                  <a:cubicBezTo>
                    <a:pt x="2973" y="2272441"/>
                    <a:pt x="0" y="2265263"/>
                    <a:pt x="0" y="2257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572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  FRAUD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INFERENCE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9144000" y="4762500"/>
            <a:ext cx="6429375" cy="18097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6248400" y="6629400"/>
            <a:ext cx="5905500" cy="1809750"/>
            <a:chOff x="0" y="0"/>
            <a:chExt cx="7874000" cy="2413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7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87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91250" y="6572250"/>
            <a:ext cx="5905500" cy="1809750"/>
            <a:chOff x="0" y="0"/>
            <a:chExt cx="7874000" cy="241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7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7874000">
                  <a:moveTo>
                    <a:pt x="16387" y="0"/>
                  </a:moveTo>
                  <a:lnTo>
                    <a:pt x="7857613" y="0"/>
                  </a:lnTo>
                  <a:cubicBezTo>
                    <a:pt x="7861959" y="0"/>
                    <a:pt x="7866127" y="1726"/>
                    <a:pt x="7869200" y="4800"/>
                  </a:cubicBezTo>
                  <a:cubicBezTo>
                    <a:pt x="7872274" y="7873"/>
                    <a:pt x="7874000" y="12041"/>
                    <a:pt x="7874000" y="16387"/>
                  </a:cubicBezTo>
                  <a:lnTo>
                    <a:pt x="7874000" y="2396613"/>
                  </a:lnTo>
                  <a:cubicBezTo>
                    <a:pt x="7874000" y="2400959"/>
                    <a:pt x="7872274" y="2405127"/>
                    <a:pt x="7869200" y="2408200"/>
                  </a:cubicBezTo>
                  <a:cubicBezTo>
                    <a:pt x="7866127" y="2411274"/>
                    <a:pt x="7861959" y="2413000"/>
                    <a:pt x="7857613" y="2413000"/>
                  </a:cubicBezTo>
                  <a:lnTo>
                    <a:pt x="16387" y="2413000"/>
                  </a:lnTo>
                  <a:cubicBezTo>
                    <a:pt x="12041" y="2413000"/>
                    <a:pt x="7873" y="2411274"/>
                    <a:pt x="4800" y="2408200"/>
                  </a:cubicBezTo>
                  <a:cubicBezTo>
                    <a:pt x="1726" y="2405127"/>
                    <a:pt x="0" y="2400959"/>
                    <a:pt x="0" y="2396613"/>
                  </a:cubicBezTo>
                  <a:lnTo>
                    <a:pt x="0" y="16387"/>
                  </a:lnTo>
                  <a:cubicBezTo>
                    <a:pt x="0" y="12041"/>
                    <a:pt x="1726" y="7873"/>
                    <a:pt x="4800" y="4800"/>
                  </a:cubicBezTo>
                  <a:cubicBezTo>
                    <a:pt x="7873" y="1726"/>
                    <a:pt x="12041" y="0"/>
                    <a:pt x="1638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874000" cy="2422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MEDALLION LAKEHOUSE</a:t>
              </a:r>
            </a:p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LINEAR SCALE + INSTANT PROTECTION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TOPOLOGY. FOUR DATA PATHS.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9150" y="2438400"/>
            <a:ext cx="2857500" cy="1428750"/>
            <a:chOff x="0" y="0"/>
            <a:chExt cx="3810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2000" y="2381250"/>
            <a:ext cx="2857500" cy="1428750"/>
            <a:chOff x="0" y="0"/>
            <a:chExt cx="3810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PAYMENT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PRODUCERS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19650" y="2438400"/>
            <a:ext cx="2857500" cy="1428750"/>
            <a:chOff x="0" y="0"/>
            <a:chExt cx="3810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62500" y="2381250"/>
            <a:ext cx="2857500" cy="1428750"/>
            <a:chOff x="0" y="0"/>
            <a:chExt cx="381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AMAZON MSK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20150" y="2438400"/>
            <a:ext cx="2857500" cy="1428750"/>
            <a:chOff x="0" y="0"/>
            <a:chExt cx="3810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63000" y="2381250"/>
            <a:ext cx="2857500" cy="1428750"/>
            <a:chOff x="0" y="0"/>
            <a:chExt cx="3810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REDIS +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LIGHTGBM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19650" y="6724650"/>
            <a:ext cx="2857500" cy="1428750"/>
            <a:chOff x="0" y="0"/>
            <a:chExt cx="3810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62500" y="6667500"/>
            <a:ext cx="2857500" cy="1428750"/>
            <a:chOff x="0" y="0"/>
            <a:chExt cx="3810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S3 BRONZE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820150" y="6724650"/>
            <a:ext cx="2857500" cy="1428750"/>
            <a:chOff x="0" y="0"/>
            <a:chExt cx="38100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63000" y="6667500"/>
            <a:ext cx="2857500" cy="1428750"/>
            <a:chOff x="0" y="0"/>
            <a:chExt cx="3810000" cy="1905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1871133"/>
                  </a:lnTo>
                  <a:cubicBezTo>
                    <a:pt x="3810000" y="1889837"/>
                    <a:pt x="3794837" y="1905000"/>
                    <a:pt x="3776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81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SILVER / GOLD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92150" y="4581525"/>
            <a:ext cx="3429000" cy="1714500"/>
            <a:chOff x="0" y="0"/>
            <a:chExt cx="4572000" cy="228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572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35000" y="4524375"/>
            <a:ext cx="3429000" cy="1714500"/>
            <a:chOff x="0" y="0"/>
            <a:chExt cx="4572000" cy="228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257778"/>
                  </a:lnTo>
                  <a:cubicBezTo>
                    <a:pt x="4572000" y="2265263"/>
                    <a:pt x="4569027" y="2272441"/>
                    <a:pt x="4563734" y="2277734"/>
                  </a:cubicBezTo>
                  <a:cubicBezTo>
                    <a:pt x="4558441" y="2283027"/>
                    <a:pt x="4551263" y="2286000"/>
                    <a:pt x="4543778" y="2286000"/>
                  </a:cubicBezTo>
                  <a:lnTo>
                    <a:pt x="28222" y="2286000"/>
                  </a:lnTo>
                  <a:cubicBezTo>
                    <a:pt x="20737" y="2286000"/>
                    <a:pt x="13559" y="2283027"/>
                    <a:pt x="8266" y="2277734"/>
                  </a:cubicBezTo>
                  <a:cubicBezTo>
                    <a:pt x="2973" y="2272441"/>
                    <a:pt x="0" y="2265263"/>
                    <a:pt x="0" y="2257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572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FRAUD OPS +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ANALYTICS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3619500" y="3095625"/>
            <a:ext cx="114300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7620000" y="3095625"/>
            <a:ext cx="114300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6191250" y="3905250"/>
            <a:ext cx="0" cy="27622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7620000" y="7381875"/>
            <a:ext cx="114300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1620500" y="3095625"/>
            <a:ext cx="1714500" cy="20002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V="true">
            <a:off x="11620500" y="5857875"/>
            <a:ext cx="1714500" cy="15240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— ZERO-DB STREAMING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Payment events bypass relational persistence and land directly in durable streaming infrastructure.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" y="4152900"/>
            <a:ext cx="2857500" cy="2095500"/>
            <a:chOff x="0" y="0"/>
            <a:chExt cx="3810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095750"/>
            <a:ext cx="2857500" cy="2095500"/>
            <a:chOff x="0" y="0"/>
            <a:chExt cx="3810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PAYMENT API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5814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48150" y="4152900"/>
            <a:ext cx="2857500" cy="2095500"/>
            <a:chOff x="0" y="0"/>
            <a:chExt cx="3810000" cy="279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1000" y="4095750"/>
            <a:ext cx="2857500" cy="2095500"/>
            <a:chOff x="0" y="0"/>
            <a:chExt cx="38100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AVRO CONTRACT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056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772400" y="4152900"/>
            <a:ext cx="2857500" cy="2095500"/>
            <a:chOff x="0" y="0"/>
            <a:chExt cx="3810000" cy="279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5250" y="4095750"/>
            <a:ext cx="2857500" cy="2095500"/>
            <a:chOff x="0" y="0"/>
            <a:chExt cx="3810000" cy="279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AMAZON MSK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6299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296650" y="4152900"/>
            <a:ext cx="2857500" cy="2095500"/>
            <a:chOff x="0" y="0"/>
            <a:chExt cx="3810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9500" y="4095750"/>
            <a:ext cx="2857500" cy="2095500"/>
            <a:chOff x="0" y="0"/>
            <a:chExt cx="3810000" cy="279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S3 MICRO-BATCH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1541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4820900" y="4152900"/>
            <a:ext cx="2857500" cy="2095500"/>
            <a:chOff x="0" y="0"/>
            <a:chExt cx="3810000" cy="279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3750" y="4095750"/>
            <a:ext cx="2857500" cy="2095500"/>
            <a:chOff x="0" y="0"/>
            <a:chExt cx="3810000" cy="279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BRONZE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57500" y="7591425"/>
            <a:ext cx="12573000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3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RELATIONAL WRITE ON THE HOT PATH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 — POSTGRESQL CDC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Debezium 2.5 tails WAL logs: no polling, no double-write, no application coupling.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" y="4152900"/>
            <a:ext cx="2857500" cy="2095500"/>
            <a:chOff x="0" y="0"/>
            <a:chExt cx="3810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095750"/>
            <a:ext cx="2857500" cy="2095500"/>
            <a:chOff x="0" y="0"/>
            <a:chExt cx="3810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POSTGRESQL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5814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48150" y="4152900"/>
            <a:ext cx="2857500" cy="2095500"/>
            <a:chOff x="0" y="0"/>
            <a:chExt cx="3810000" cy="279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1000" y="4095750"/>
            <a:ext cx="2857500" cy="2095500"/>
            <a:chOff x="0" y="0"/>
            <a:chExt cx="38100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WAL LOG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056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772400" y="4152900"/>
            <a:ext cx="2857500" cy="2095500"/>
            <a:chOff x="0" y="0"/>
            <a:chExt cx="3810000" cy="279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5250" y="4095750"/>
            <a:ext cx="2857500" cy="2095500"/>
            <a:chOff x="0" y="0"/>
            <a:chExt cx="3810000" cy="279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DEBEZIUM 2.5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6299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296650" y="4152900"/>
            <a:ext cx="2857500" cy="2095500"/>
            <a:chOff x="0" y="0"/>
            <a:chExt cx="3810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9500" y="4095750"/>
            <a:ext cx="2857500" cy="2095500"/>
            <a:chOff x="0" y="0"/>
            <a:chExt cx="3810000" cy="279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CDC TOPIC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1541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4820900" y="4152900"/>
            <a:ext cx="2857500" cy="2095500"/>
            <a:chOff x="0" y="0"/>
            <a:chExt cx="3810000" cy="279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3750" y="4095750"/>
            <a:ext cx="2857500" cy="2095500"/>
            <a:chOff x="0" y="0"/>
            <a:chExt cx="3810000" cy="279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SILVER CUSTOMER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57500" y="7591425"/>
            <a:ext cx="12573000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3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RELATIONAL WRITE ON THE HOT PATH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 — SCHEDULED REFERENCE INGESTION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Airflow snapshots dimensions into compact, query-efficient Parquet.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" y="4152900"/>
            <a:ext cx="2857500" cy="2095500"/>
            <a:chOff x="0" y="0"/>
            <a:chExt cx="3810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095750"/>
            <a:ext cx="2857500" cy="2095500"/>
            <a:chOff x="0" y="0"/>
            <a:chExt cx="3810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AIRFLOW DAG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5814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48150" y="4152900"/>
            <a:ext cx="2857500" cy="2095500"/>
            <a:chOff x="0" y="0"/>
            <a:chExt cx="3810000" cy="279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1000" y="4095750"/>
            <a:ext cx="2857500" cy="2095500"/>
            <a:chOff x="0" y="0"/>
            <a:chExt cx="38100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EXTRACT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056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772400" y="4152900"/>
            <a:ext cx="2857500" cy="2095500"/>
            <a:chOff x="0" y="0"/>
            <a:chExt cx="3810000" cy="279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5250" y="4095750"/>
            <a:ext cx="2857500" cy="2095500"/>
            <a:chOff x="0" y="0"/>
            <a:chExt cx="3810000" cy="279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VALIDATE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6299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296650" y="4152900"/>
            <a:ext cx="2857500" cy="2095500"/>
            <a:chOff x="0" y="0"/>
            <a:chExt cx="3810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9500" y="4095750"/>
            <a:ext cx="2857500" cy="2095500"/>
            <a:chOff x="0" y="0"/>
            <a:chExt cx="3810000" cy="279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PARQUET + SNAPPY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1541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4820900" y="4152900"/>
            <a:ext cx="2857500" cy="2095500"/>
            <a:chOff x="0" y="0"/>
            <a:chExt cx="3810000" cy="279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3750" y="4095750"/>
            <a:ext cx="2857500" cy="2095500"/>
            <a:chOff x="0" y="0"/>
            <a:chExt cx="3810000" cy="279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S3 LANDING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57500" y="7591425"/>
            <a:ext cx="12573000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3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RELATIONAL WRITE ON THE HOT 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 — SUB-10MS FRAUD INFERENCE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In-flight scoring hydrates behavioral state before a payment reaches authorization.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" y="4152900"/>
            <a:ext cx="2857500" cy="2095500"/>
            <a:chOff x="0" y="0"/>
            <a:chExt cx="38100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095750"/>
            <a:ext cx="2857500" cy="2095500"/>
            <a:chOff x="0" y="0"/>
            <a:chExt cx="3810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EVENT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5814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48150" y="4152900"/>
            <a:ext cx="2857500" cy="2095500"/>
            <a:chOff x="0" y="0"/>
            <a:chExt cx="3810000" cy="279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1000" y="4095750"/>
            <a:ext cx="2857500" cy="2095500"/>
            <a:chOff x="0" y="0"/>
            <a:chExt cx="38100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REDIS FEATURES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056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772400" y="4152900"/>
            <a:ext cx="2857500" cy="2095500"/>
            <a:chOff x="0" y="0"/>
            <a:chExt cx="3810000" cy="279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5250" y="4095750"/>
            <a:ext cx="2857500" cy="2095500"/>
            <a:chOff x="0" y="0"/>
            <a:chExt cx="3810000" cy="279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LIGHTGBM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62990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296650" y="4152900"/>
            <a:ext cx="2857500" cy="2095500"/>
            <a:chOff x="0" y="0"/>
            <a:chExt cx="3810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9500" y="4095750"/>
            <a:ext cx="2857500" cy="2095500"/>
            <a:chOff x="0" y="0"/>
            <a:chExt cx="3810000" cy="279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SCORE GATE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154150" y="5143500"/>
            <a:ext cx="5524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4820900" y="4152900"/>
            <a:ext cx="2857500" cy="2095500"/>
            <a:chOff x="0" y="0"/>
            <a:chExt cx="3810000" cy="279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3750" y="4095750"/>
            <a:ext cx="2857500" cy="2095500"/>
            <a:chOff x="0" y="0"/>
            <a:chExt cx="3810000" cy="279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33867" y="0"/>
                  </a:moveTo>
                  <a:lnTo>
                    <a:pt x="3776133" y="0"/>
                  </a:lnTo>
                  <a:cubicBezTo>
                    <a:pt x="3794837" y="0"/>
                    <a:pt x="3810000" y="15163"/>
                    <a:pt x="3810000" y="33867"/>
                  </a:cubicBezTo>
                  <a:lnTo>
                    <a:pt x="3810000" y="2760133"/>
                  </a:lnTo>
                  <a:cubicBezTo>
                    <a:pt x="3810000" y="2778837"/>
                    <a:pt x="3794837" y="2794000"/>
                    <a:pt x="3776133" y="2794000"/>
                  </a:cubicBezTo>
                  <a:lnTo>
                    <a:pt x="33867" y="2794000"/>
                  </a:lnTo>
                  <a:cubicBezTo>
                    <a:pt x="15163" y="2794000"/>
                    <a:pt x="0" y="2778837"/>
                    <a:pt x="0" y="2760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10000" cy="280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3"/>
                </a:lnSpc>
              </a:pPr>
              <a:r>
                <a:rPr lang="en-US" sz="217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ALLOW / BLOCK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57500" y="7591425"/>
            <a:ext cx="12573000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3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P95 TARGET  &lt; 10ms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LINEAGE IS CODE, NOT A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Provenance is explicit from source offset through every Delta transformation.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295650"/>
            <a:ext cx="3333750" cy="1905000"/>
            <a:chOff x="0" y="0"/>
            <a:chExt cx="4445000" cy="254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45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3238500"/>
            <a:ext cx="3333750" cy="1905000"/>
            <a:chOff x="0" y="0"/>
            <a:chExt cx="4445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29029" y="0"/>
                  </a:moveTo>
                  <a:lnTo>
                    <a:pt x="4415972" y="0"/>
                  </a:lnTo>
                  <a:cubicBezTo>
                    <a:pt x="4432004" y="0"/>
                    <a:pt x="4445000" y="12997"/>
                    <a:pt x="4445000" y="29029"/>
                  </a:cubicBezTo>
                  <a:lnTo>
                    <a:pt x="4445000" y="2510971"/>
                  </a:lnTo>
                  <a:cubicBezTo>
                    <a:pt x="4445000" y="2527004"/>
                    <a:pt x="4432004" y="2540000"/>
                    <a:pt x="4415972" y="2540000"/>
                  </a:cubicBezTo>
                  <a:lnTo>
                    <a:pt x="29029" y="2540000"/>
                  </a:lnTo>
                  <a:cubicBezTo>
                    <a:pt x="12997" y="2540000"/>
                    <a:pt x="0" y="2527004"/>
                    <a:pt x="0" y="2510971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445000" cy="255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MSK OFFSET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+ SCHEMA ID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48150" y="4191000"/>
            <a:ext cx="88582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248275" y="3295650"/>
            <a:ext cx="3333750" cy="1905000"/>
            <a:chOff x="0" y="0"/>
            <a:chExt cx="4445000" cy="254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45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91125" y="3238500"/>
            <a:ext cx="3333750" cy="1905000"/>
            <a:chOff x="0" y="0"/>
            <a:chExt cx="44450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29029" y="0"/>
                  </a:moveTo>
                  <a:lnTo>
                    <a:pt x="4415972" y="0"/>
                  </a:lnTo>
                  <a:cubicBezTo>
                    <a:pt x="4432004" y="0"/>
                    <a:pt x="4445000" y="12997"/>
                    <a:pt x="4445000" y="29029"/>
                  </a:cubicBezTo>
                  <a:lnTo>
                    <a:pt x="4445000" y="2510971"/>
                  </a:lnTo>
                  <a:cubicBezTo>
                    <a:pt x="4445000" y="2527004"/>
                    <a:pt x="4432004" y="2540000"/>
                    <a:pt x="4415972" y="2540000"/>
                  </a:cubicBezTo>
                  <a:lnTo>
                    <a:pt x="29029" y="2540000"/>
                  </a:lnTo>
                  <a:cubicBezTo>
                    <a:pt x="12997" y="2540000"/>
                    <a:pt x="0" y="2527004"/>
                    <a:pt x="0" y="2510971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445000" cy="255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BRONZE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AUTOLOADER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582025" y="4191000"/>
            <a:ext cx="88582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582150" y="3295650"/>
            <a:ext cx="3333750" cy="1905000"/>
            <a:chOff x="0" y="0"/>
            <a:chExt cx="4445000" cy="254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445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0" y="3238500"/>
            <a:ext cx="3333750" cy="1905000"/>
            <a:chOff x="0" y="0"/>
            <a:chExt cx="4445000" cy="254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29029" y="0"/>
                  </a:moveTo>
                  <a:lnTo>
                    <a:pt x="4415972" y="0"/>
                  </a:lnTo>
                  <a:cubicBezTo>
                    <a:pt x="4432004" y="0"/>
                    <a:pt x="4445000" y="12997"/>
                    <a:pt x="4445000" y="29029"/>
                  </a:cubicBezTo>
                  <a:lnTo>
                    <a:pt x="4445000" y="2510971"/>
                  </a:lnTo>
                  <a:cubicBezTo>
                    <a:pt x="4445000" y="2527004"/>
                    <a:pt x="4432004" y="2540000"/>
                    <a:pt x="4415972" y="2540000"/>
                  </a:cubicBezTo>
                  <a:lnTo>
                    <a:pt x="29029" y="2540000"/>
                  </a:lnTo>
                  <a:cubicBezTo>
                    <a:pt x="12997" y="2540000"/>
                    <a:pt x="0" y="2527004"/>
                    <a:pt x="0" y="2510971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445000" cy="255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SILVER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CONTRACT v2.1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2915900" y="4191000"/>
            <a:ext cx="88582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3916025" y="3295650"/>
            <a:ext cx="3333750" cy="1905000"/>
            <a:chOff x="0" y="0"/>
            <a:chExt cx="4445000" cy="254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445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8875" y="3238500"/>
            <a:ext cx="3333750" cy="1905000"/>
            <a:chOff x="0" y="0"/>
            <a:chExt cx="4445000" cy="254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445000">
                  <a:moveTo>
                    <a:pt x="29029" y="0"/>
                  </a:moveTo>
                  <a:lnTo>
                    <a:pt x="4415972" y="0"/>
                  </a:lnTo>
                  <a:cubicBezTo>
                    <a:pt x="4432004" y="0"/>
                    <a:pt x="4445000" y="12997"/>
                    <a:pt x="4445000" y="29029"/>
                  </a:cubicBezTo>
                  <a:lnTo>
                    <a:pt x="4445000" y="2510971"/>
                  </a:lnTo>
                  <a:cubicBezTo>
                    <a:pt x="4445000" y="2527004"/>
                    <a:pt x="4432004" y="2540000"/>
                    <a:pt x="4415972" y="2540000"/>
                  </a:cubicBezTo>
                  <a:lnTo>
                    <a:pt x="29029" y="2540000"/>
                  </a:lnTo>
                  <a:cubicBezTo>
                    <a:pt x="12997" y="2540000"/>
                    <a:pt x="0" y="2527004"/>
                    <a:pt x="0" y="2510971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445000" cy="255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GOLD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FRAUD MARTS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6858000" y="5238750"/>
            <a:ext cx="0" cy="1714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4724400" y="7010400"/>
            <a:ext cx="4381500" cy="1428750"/>
            <a:chOff x="0" y="0"/>
            <a:chExt cx="5842000" cy="190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4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84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67250" y="6953250"/>
            <a:ext cx="4381500" cy="1428750"/>
            <a:chOff x="0" y="0"/>
            <a:chExt cx="5842000" cy="1905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4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842000">
                  <a:moveTo>
                    <a:pt x="22087" y="0"/>
                  </a:moveTo>
                  <a:lnTo>
                    <a:pt x="5819913" y="0"/>
                  </a:lnTo>
                  <a:cubicBezTo>
                    <a:pt x="5825771" y="0"/>
                    <a:pt x="5831389" y="2327"/>
                    <a:pt x="5835531" y="6469"/>
                  </a:cubicBezTo>
                  <a:cubicBezTo>
                    <a:pt x="5839673" y="10611"/>
                    <a:pt x="5842000" y="16229"/>
                    <a:pt x="5842000" y="22087"/>
                  </a:cubicBezTo>
                  <a:lnTo>
                    <a:pt x="5842000" y="1882913"/>
                  </a:lnTo>
                  <a:cubicBezTo>
                    <a:pt x="5842000" y="1888771"/>
                    <a:pt x="5839673" y="1894389"/>
                    <a:pt x="5835531" y="1898531"/>
                  </a:cubicBezTo>
                  <a:cubicBezTo>
                    <a:pt x="5831389" y="1902673"/>
                    <a:pt x="5825771" y="1905000"/>
                    <a:pt x="5819913" y="1905000"/>
                  </a:cubicBezTo>
                  <a:lnTo>
                    <a:pt x="22087" y="1905000"/>
                  </a:lnTo>
                  <a:cubicBezTo>
                    <a:pt x="16229" y="1905000"/>
                    <a:pt x="10611" y="1902673"/>
                    <a:pt x="6469" y="1898531"/>
                  </a:cubicBezTo>
                  <a:cubicBezTo>
                    <a:pt x="2327" y="1894389"/>
                    <a:pt x="0" y="1888771"/>
                    <a:pt x="0" y="1882913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84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QUARANTINE DLQ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REASON + PAYLOAD + TRACE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MEDALLION STORAGE, BUILT FOR REPLAY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00150" y="2914650"/>
            <a:ext cx="16002000" cy="1428750"/>
            <a:chOff x="0" y="0"/>
            <a:chExt cx="21336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3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36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857500"/>
            <a:ext cx="16002000" cy="1428750"/>
            <a:chOff x="0" y="0"/>
            <a:chExt cx="21336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336000">
                  <a:moveTo>
                    <a:pt x="6048" y="0"/>
                  </a:moveTo>
                  <a:lnTo>
                    <a:pt x="21329952" y="0"/>
                  </a:lnTo>
                  <a:cubicBezTo>
                    <a:pt x="21333293" y="0"/>
                    <a:pt x="21336000" y="2708"/>
                    <a:pt x="21336000" y="6048"/>
                  </a:cubicBezTo>
                  <a:lnTo>
                    <a:pt x="21336000" y="1898952"/>
                  </a:lnTo>
                  <a:cubicBezTo>
                    <a:pt x="21336000" y="1902292"/>
                    <a:pt x="21333293" y="1905000"/>
                    <a:pt x="21329952" y="1905000"/>
                  </a:cubicBezTo>
                  <a:lnTo>
                    <a:pt x="6048" y="1905000"/>
                  </a:lnTo>
                  <a:cubicBezTo>
                    <a:pt x="2708" y="1905000"/>
                    <a:pt x="0" y="1902292"/>
                    <a:pt x="0" y="1898952"/>
                  </a:cubicBezTo>
                  <a:lnTo>
                    <a:pt x="0" y="6048"/>
                  </a:lnTo>
                  <a:cubicBezTo>
                    <a:pt x="0" y="2708"/>
                    <a:pt x="2708" y="0"/>
                    <a:pt x="6048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33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1"/>
                </a:lnSpc>
              </a:pPr>
              <a:r>
                <a:rPr lang="en-US" sz="23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BRONZE  /  IMMUTABLE RAW  /  EVENT TIME + INGEST TIME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38400" y="5010150"/>
            <a:ext cx="13525500" cy="1428750"/>
            <a:chOff x="0" y="0"/>
            <a:chExt cx="18034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8034000">
                  <a:moveTo>
                    <a:pt x="0" y="0"/>
                  </a:moveTo>
                  <a:lnTo>
                    <a:pt x="18034000" y="0"/>
                  </a:lnTo>
                  <a:lnTo>
                    <a:pt x="1803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03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81250" y="4953000"/>
            <a:ext cx="13525500" cy="1428750"/>
            <a:chOff x="0" y="0"/>
            <a:chExt cx="18034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8034000">
                  <a:moveTo>
                    <a:pt x="7155" y="0"/>
                  </a:moveTo>
                  <a:lnTo>
                    <a:pt x="18026845" y="0"/>
                  </a:lnTo>
                  <a:cubicBezTo>
                    <a:pt x="18028743" y="0"/>
                    <a:pt x="18030563" y="754"/>
                    <a:pt x="18031904" y="2096"/>
                  </a:cubicBezTo>
                  <a:cubicBezTo>
                    <a:pt x="18033247" y="3437"/>
                    <a:pt x="18034000" y="5257"/>
                    <a:pt x="18034000" y="7155"/>
                  </a:cubicBezTo>
                  <a:lnTo>
                    <a:pt x="18034000" y="1897845"/>
                  </a:lnTo>
                  <a:cubicBezTo>
                    <a:pt x="18034000" y="1899743"/>
                    <a:pt x="18033247" y="1901563"/>
                    <a:pt x="18031904" y="1902904"/>
                  </a:cubicBezTo>
                  <a:cubicBezTo>
                    <a:pt x="18030563" y="1904246"/>
                    <a:pt x="18028743" y="1905000"/>
                    <a:pt x="18026845" y="1905000"/>
                  </a:cubicBezTo>
                  <a:lnTo>
                    <a:pt x="7155" y="1905000"/>
                  </a:lnTo>
                  <a:cubicBezTo>
                    <a:pt x="5257" y="1905000"/>
                    <a:pt x="3437" y="1904246"/>
                    <a:pt x="2096" y="1902904"/>
                  </a:cubicBezTo>
                  <a:cubicBezTo>
                    <a:pt x="754" y="1901563"/>
                    <a:pt x="0" y="1899743"/>
                    <a:pt x="0" y="1897845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034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1"/>
                </a:lnSpc>
              </a:pPr>
              <a:r>
                <a:rPr lang="en-US" sz="23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SILVER  /  CONTRACT v2.1  /  DEDUPED + TYPED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76650" y="7105650"/>
            <a:ext cx="11049000" cy="1428750"/>
            <a:chOff x="0" y="0"/>
            <a:chExt cx="14732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3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4732000">
                  <a:moveTo>
                    <a:pt x="0" y="0"/>
                  </a:moveTo>
                  <a:lnTo>
                    <a:pt x="14732000" y="0"/>
                  </a:lnTo>
                  <a:lnTo>
                    <a:pt x="1473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73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19500" y="7048500"/>
            <a:ext cx="11049000" cy="1428750"/>
            <a:chOff x="0" y="0"/>
            <a:chExt cx="14732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3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4732000">
                  <a:moveTo>
                    <a:pt x="8759" y="0"/>
                  </a:moveTo>
                  <a:lnTo>
                    <a:pt x="14723241" y="0"/>
                  </a:lnTo>
                  <a:cubicBezTo>
                    <a:pt x="14725565" y="0"/>
                    <a:pt x="14727793" y="923"/>
                    <a:pt x="14729434" y="2565"/>
                  </a:cubicBezTo>
                  <a:cubicBezTo>
                    <a:pt x="14731078" y="4208"/>
                    <a:pt x="14732000" y="6436"/>
                    <a:pt x="14732000" y="8759"/>
                  </a:cubicBezTo>
                  <a:lnTo>
                    <a:pt x="14732000" y="1896241"/>
                  </a:lnTo>
                  <a:cubicBezTo>
                    <a:pt x="14732000" y="1898564"/>
                    <a:pt x="14731078" y="1900792"/>
                    <a:pt x="14729434" y="1902435"/>
                  </a:cubicBezTo>
                  <a:cubicBezTo>
                    <a:pt x="14727793" y="1904077"/>
                    <a:pt x="14725565" y="1905000"/>
                    <a:pt x="14723241" y="1905000"/>
                  </a:cubicBezTo>
                  <a:lnTo>
                    <a:pt x="8759" y="1905000"/>
                  </a:lnTo>
                  <a:cubicBezTo>
                    <a:pt x="6436" y="1905000"/>
                    <a:pt x="4208" y="1904077"/>
                    <a:pt x="2565" y="1902435"/>
                  </a:cubicBezTo>
                  <a:cubicBezTo>
                    <a:pt x="923" y="1900792"/>
                    <a:pt x="0" y="1898564"/>
                    <a:pt x="0" y="1896241"/>
                  </a:cubicBezTo>
                  <a:lnTo>
                    <a:pt x="0" y="8759"/>
                  </a:lnTo>
                  <a:cubicBezTo>
                    <a:pt x="0" y="6436"/>
                    <a:pt x="923" y="4208"/>
                    <a:pt x="2565" y="2565"/>
                  </a:cubicBezTo>
                  <a:cubicBezTo>
                    <a:pt x="4208" y="923"/>
                    <a:pt x="6436" y="0"/>
                    <a:pt x="8759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73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1"/>
                </a:lnSpc>
              </a:pPr>
              <a:r>
                <a:rPr lang="en-US" sz="23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GOLD  /  FRAUD + FINANCE MARTS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RAW SIGNAL → BEHAVIORAL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Streaming transforms convert telemetry into high-predictive-value features in milliseconds.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6275" y="3771900"/>
            <a:ext cx="2905125" cy="2190750"/>
            <a:chOff x="0" y="0"/>
            <a:chExt cx="3873500" cy="292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735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125" y="3714750"/>
            <a:ext cx="2905125" cy="2190750"/>
            <a:chOff x="0" y="0"/>
            <a:chExt cx="38735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33311" y="0"/>
                  </a:moveTo>
                  <a:lnTo>
                    <a:pt x="3840188" y="0"/>
                  </a:lnTo>
                  <a:cubicBezTo>
                    <a:pt x="3858586" y="0"/>
                    <a:pt x="3873500" y="14914"/>
                    <a:pt x="3873500" y="33311"/>
                  </a:cubicBezTo>
                  <a:lnTo>
                    <a:pt x="3873500" y="2887688"/>
                  </a:lnTo>
                  <a:cubicBezTo>
                    <a:pt x="3873500" y="2906086"/>
                    <a:pt x="3858586" y="2921000"/>
                    <a:pt x="3840188" y="2921000"/>
                  </a:cubicBezTo>
                  <a:lnTo>
                    <a:pt x="33311" y="2921000"/>
                  </a:lnTo>
                  <a:cubicBezTo>
                    <a:pt x="14914" y="2921000"/>
                    <a:pt x="0" y="2906086"/>
                    <a:pt x="0" y="2887688"/>
                  </a:cubicBezTo>
                  <a:lnTo>
                    <a:pt x="0" y="33311"/>
                  </a:lnTo>
                  <a:cubicBezTo>
                    <a:pt x="0" y="14914"/>
                    <a:pt x="14914" y="0"/>
                    <a:pt x="333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873500" cy="293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AMOUNT + MCC</a:t>
              </a:r>
            </a:p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DEVICE + GEO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581400" y="4810125"/>
            <a:ext cx="52387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19575" y="3771900"/>
            <a:ext cx="2905125" cy="2190750"/>
            <a:chOff x="0" y="0"/>
            <a:chExt cx="3873500" cy="292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735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62425" y="3714750"/>
            <a:ext cx="2905125" cy="2190750"/>
            <a:chOff x="0" y="0"/>
            <a:chExt cx="38735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33311" y="0"/>
                  </a:moveTo>
                  <a:lnTo>
                    <a:pt x="3840188" y="0"/>
                  </a:lnTo>
                  <a:cubicBezTo>
                    <a:pt x="3858586" y="0"/>
                    <a:pt x="3873500" y="14914"/>
                    <a:pt x="3873500" y="33311"/>
                  </a:cubicBezTo>
                  <a:lnTo>
                    <a:pt x="3873500" y="2887688"/>
                  </a:lnTo>
                  <a:cubicBezTo>
                    <a:pt x="3873500" y="2906086"/>
                    <a:pt x="3858586" y="2921000"/>
                    <a:pt x="3840188" y="2921000"/>
                  </a:cubicBezTo>
                  <a:lnTo>
                    <a:pt x="33311" y="2921000"/>
                  </a:lnTo>
                  <a:cubicBezTo>
                    <a:pt x="14914" y="2921000"/>
                    <a:pt x="0" y="2906086"/>
                    <a:pt x="0" y="2887688"/>
                  </a:cubicBezTo>
                  <a:lnTo>
                    <a:pt x="0" y="33311"/>
                  </a:lnTo>
                  <a:cubicBezTo>
                    <a:pt x="0" y="14914"/>
                    <a:pt x="14914" y="0"/>
                    <a:pt x="33311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73500" cy="293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VELOCITY</a:t>
              </a:r>
            </a:p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1m / 5m / 1h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24700" y="4810125"/>
            <a:ext cx="52387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762875" y="3771900"/>
            <a:ext cx="2905125" cy="2190750"/>
            <a:chOff x="0" y="0"/>
            <a:chExt cx="38735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735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05725" y="3714750"/>
            <a:ext cx="2905125" cy="2190750"/>
            <a:chOff x="0" y="0"/>
            <a:chExt cx="387350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33311" y="0"/>
                  </a:moveTo>
                  <a:lnTo>
                    <a:pt x="3840188" y="0"/>
                  </a:lnTo>
                  <a:cubicBezTo>
                    <a:pt x="3858586" y="0"/>
                    <a:pt x="3873500" y="14914"/>
                    <a:pt x="3873500" y="33311"/>
                  </a:cubicBezTo>
                  <a:lnTo>
                    <a:pt x="3873500" y="2887688"/>
                  </a:lnTo>
                  <a:cubicBezTo>
                    <a:pt x="3873500" y="2906086"/>
                    <a:pt x="3858586" y="2921000"/>
                    <a:pt x="3840188" y="2921000"/>
                  </a:cubicBezTo>
                  <a:lnTo>
                    <a:pt x="33311" y="2921000"/>
                  </a:lnTo>
                  <a:cubicBezTo>
                    <a:pt x="14914" y="2921000"/>
                    <a:pt x="0" y="2906086"/>
                    <a:pt x="0" y="2887688"/>
                  </a:cubicBezTo>
                  <a:lnTo>
                    <a:pt x="0" y="33311"/>
                  </a:lnTo>
                  <a:cubicBezTo>
                    <a:pt x="0" y="14914"/>
                    <a:pt x="14914" y="0"/>
                    <a:pt x="33311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73500" cy="293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DISTANCE</a:t>
              </a:r>
            </a:p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IMPOSSIBLE TRAVEL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668000" y="4810125"/>
            <a:ext cx="52387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306175" y="3771900"/>
            <a:ext cx="2905125" cy="2190750"/>
            <a:chOff x="0" y="0"/>
            <a:chExt cx="3873500" cy="292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735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49025" y="3714750"/>
            <a:ext cx="2905125" cy="2190750"/>
            <a:chOff x="0" y="0"/>
            <a:chExt cx="387350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33311" y="0"/>
                  </a:moveTo>
                  <a:lnTo>
                    <a:pt x="3840188" y="0"/>
                  </a:lnTo>
                  <a:cubicBezTo>
                    <a:pt x="3858586" y="0"/>
                    <a:pt x="3873500" y="14914"/>
                    <a:pt x="3873500" y="33311"/>
                  </a:cubicBezTo>
                  <a:lnTo>
                    <a:pt x="3873500" y="2887688"/>
                  </a:lnTo>
                  <a:cubicBezTo>
                    <a:pt x="3873500" y="2906086"/>
                    <a:pt x="3858586" y="2921000"/>
                    <a:pt x="3840188" y="2921000"/>
                  </a:cubicBezTo>
                  <a:lnTo>
                    <a:pt x="33311" y="2921000"/>
                  </a:lnTo>
                  <a:cubicBezTo>
                    <a:pt x="14914" y="2921000"/>
                    <a:pt x="0" y="2906086"/>
                    <a:pt x="0" y="2887688"/>
                  </a:cubicBezTo>
                  <a:lnTo>
                    <a:pt x="0" y="33311"/>
                  </a:lnTo>
                  <a:cubicBezTo>
                    <a:pt x="0" y="14914"/>
                    <a:pt x="14914" y="0"/>
                    <a:pt x="33311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873500" cy="293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BEHAVIOR</a:t>
              </a:r>
            </a:p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MERCHANT NOVELTY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211300" y="4810125"/>
            <a:ext cx="523875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4849475" y="3771900"/>
            <a:ext cx="2905125" cy="2190750"/>
            <a:chOff x="0" y="0"/>
            <a:chExt cx="3873500" cy="292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735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92325" y="3714750"/>
            <a:ext cx="2905125" cy="2190750"/>
            <a:chOff x="0" y="0"/>
            <a:chExt cx="3873500" cy="292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735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3873500">
                  <a:moveTo>
                    <a:pt x="33311" y="0"/>
                  </a:moveTo>
                  <a:lnTo>
                    <a:pt x="3840188" y="0"/>
                  </a:lnTo>
                  <a:cubicBezTo>
                    <a:pt x="3858586" y="0"/>
                    <a:pt x="3873500" y="14914"/>
                    <a:pt x="3873500" y="33311"/>
                  </a:cubicBezTo>
                  <a:lnTo>
                    <a:pt x="3873500" y="2887688"/>
                  </a:lnTo>
                  <a:cubicBezTo>
                    <a:pt x="3873500" y="2906086"/>
                    <a:pt x="3858586" y="2921000"/>
                    <a:pt x="3840188" y="2921000"/>
                  </a:cubicBezTo>
                  <a:lnTo>
                    <a:pt x="33311" y="2921000"/>
                  </a:lnTo>
                  <a:cubicBezTo>
                    <a:pt x="14914" y="2921000"/>
                    <a:pt x="0" y="2906086"/>
                    <a:pt x="0" y="2887688"/>
                  </a:cubicBezTo>
                  <a:lnTo>
                    <a:pt x="0" y="33311"/>
                  </a:lnTo>
                  <a:cubicBezTo>
                    <a:pt x="0" y="14914"/>
                    <a:pt x="14914" y="0"/>
                    <a:pt x="33311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73500" cy="293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MODEL VECTOR</a:t>
              </a:r>
            </a:p>
            <a:p>
              <a:pPr algn="ctr">
                <a:lnSpc>
                  <a:spcPts val="2126"/>
                </a:lnSpc>
              </a:pPr>
              <a:r>
                <a:rPr lang="en-US" sz="2025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VERSIONED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38175"/>
            <a:ext cx="1664970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</a:pPr>
            <a:r>
              <a:rPr lang="en-US" sz="43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AIRFLOW CONDUCTS; STREAMING KEEPS PLAYING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331556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Orchestration coordinates checks and jobs without becoming the payment data plane.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058025" y="2914650"/>
            <a:ext cx="4286250" cy="1619250"/>
            <a:chOff x="0" y="0"/>
            <a:chExt cx="5715000" cy="215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15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000875" y="2857500"/>
            <a:ext cx="4286250" cy="1619250"/>
            <a:chOff x="0" y="0"/>
            <a:chExt cx="5715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715000">
                  <a:moveTo>
                    <a:pt x="22578" y="0"/>
                  </a:moveTo>
                  <a:lnTo>
                    <a:pt x="5692422" y="0"/>
                  </a:lnTo>
                  <a:cubicBezTo>
                    <a:pt x="5704892" y="0"/>
                    <a:pt x="5715000" y="10108"/>
                    <a:pt x="5715000" y="22578"/>
                  </a:cubicBezTo>
                  <a:lnTo>
                    <a:pt x="5715000" y="2136422"/>
                  </a:lnTo>
                  <a:cubicBezTo>
                    <a:pt x="5715000" y="2148892"/>
                    <a:pt x="5704892" y="2159000"/>
                    <a:pt x="5692422" y="2159000"/>
                  </a:cubicBezTo>
                  <a:lnTo>
                    <a:pt x="22578" y="2159000"/>
                  </a:lnTo>
                  <a:cubicBezTo>
                    <a:pt x="10108" y="2159000"/>
                    <a:pt x="0" y="2148892"/>
                    <a:pt x="0" y="2136422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715000" cy="216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APACHE AIRFLOW</a:t>
              </a:r>
            </a:p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CONTROL PLANE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3429000" y="4572000"/>
            <a:ext cx="5715000" cy="19050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485900" y="6534150"/>
            <a:ext cx="4000500" cy="1619250"/>
            <a:chOff x="0" y="0"/>
            <a:chExt cx="533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3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8750" y="6477000"/>
            <a:ext cx="4000500" cy="1619250"/>
            <a:chOff x="0" y="0"/>
            <a:chExt cx="5334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2134810"/>
                  </a:lnTo>
                  <a:cubicBezTo>
                    <a:pt x="5334000" y="2141225"/>
                    <a:pt x="5331451" y="2147378"/>
                    <a:pt x="5326915" y="2151915"/>
                  </a:cubicBezTo>
                  <a:cubicBezTo>
                    <a:pt x="5322378" y="2156451"/>
                    <a:pt x="5316225" y="2159000"/>
                    <a:pt x="5309810" y="2159000"/>
                  </a:cubicBezTo>
                  <a:lnTo>
                    <a:pt x="24190" y="2159000"/>
                  </a:lnTo>
                  <a:cubicBezTo>
                    <a:pt x="17775" y="2159000"/>
                    <a:pt x="11622" y="2156451"/>
                    <a:pt x="7085" y="2151915"/>
                  </a:cubicBezTo>
                  <a:cubicBezTo>
                    <a:pt x="2549" y="2147378"/>
                    <a:pt x="0" y="2141225"/>
                    <a:pt x="0" y="2134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334000" cy="217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 HEALTH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EVERY 5 MIN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9144000" y="4572000"/>
            <a:ext cx="95250" cy="19050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7296150" y="6534150"/>
            <a:ext cx="4000500" cy="1619250"/>
            <a:chOff x="0" y="0"/>
            <a:chExt cx="5334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33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0" y="6477000"/>
            <a:ext cx="4000500" cy="1619250"/>
            <a:chOff x="0" y="0"/>
            <a:chExt cx="5334000" cy="215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2134810"/>
                  </a:lnTo>
                  <a:cubicBezTo>
                    <a:pt x="5334000" y="2141225"/>
                    <a:pt x="5331451" y="2147378"/>
                    <a:pt x="5326915" y="2151915"/>
                  </a:cubicBezTo>
                  <a:cubicBezTo>
                    <a:pt x="5322378" y="2156451"/>
                    <a:pt x="5316225" y="2159000"/>
                    <a:pt x="5309810" y="2159000"/>
                  </a:cubicBezTo>
                  <a:lnTo>
                    <a:pt x="24190" y="2159000"/>
                  </a:lnTo>
                  <a:cubicBezTo>
                    <a:pt x="17775" y="2159000"/>
                    <a:pt x="11622" y="2156451"/>
                    <a:pt x="7085" y="2151915"/>
                  </a:cubicBezTo>
                  <a:cubicBezTo>
                    <a:pt x="2549" y="2147378"/>
                    <a:pt x="0" y="2141225"/>
                    <a:pt x="0" y="2134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34000" cy="217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REFERENCE SNAPSHOT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DAILY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9144000" y="4572000"/>
            <a:ext cx="5905500" cy="19050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3106400" y="6534150"/>
            <a:ext cx="4000500" cy="1619250"/>
            <a:chOff x="0" y="0"/>
            <a:chExt cx="5334000" cy="2159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33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49250" y="6477000"/>
            <a:ext cx="4000500" cy="1619250"/>
            <a:chOff x="0" y="0"/>
            <a:chExt cx="5334000" cy="2159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2134810"/>
                  </a:lnTo>
                  <a:cubicBezTo>
                    <a:pt x="5334000" y="2141225"/>
                    <a:pt x="5331451" y="2147378"/>
                    <a:pt x="5326915" y="2151915"/>
                  </a:cubicBezTo>
                  <a:cubicBezTo>
                    <a:pt x="5322378" y="2156451"/>
                    <a:pt x="5316225" y="2159000"/>
                    <a:pt x="5309810" y="2159000"/>
                  </a:cubicBezTo>
                  <a:lnTo>
                    <a:pt x="24190" y="2159000"/>
                  </a:lnTo>
                  <a:cubicBezTo>
                    <a:pt x="17775" y="2159000"/>
                    <a:pt x="11622" y="2156451"/>
                    <a:pt x="7085" y="2151915"/>
                  </a:cubicBezTo>
                  <a:cubicBezTo>
                    <a:pt x="2549" y="2147378"/>
                    <a:pt x="0" y="2141225"/>
                    <a:pt x="0" y="2134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334000" cy="217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DATABRICKS JOBS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DEPENDENCY-AWARE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FAIL CLOSED? FAIL OPEN? FAIL TRACEABLY.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Each failure mode has an explicit containment path and recovery contract.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00150" y="2914650"/>
            <a:ext cx="4191000" cy="1524000"/>
            <a:chOff x="0" y="0"/>
            <a:chExt cx="5588000" cy="203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88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857500"/>
            <a:ext cx="4191000" cy="1524000"/>
            <a:chOff x="0" y="0"/>
            <a:chExt cx="55880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008909"/>
                  </a:lnTo>
                  <a:cubicBezTo>
                    <a:pt x="5588000" y="2021662"/>
                    <a:pt x="5577662" y="2032000"/>
                    <a:pt x="5564909" y="2032000"/>
                  </a:cubicBezTo>
                  <a:lnTo>
                    <a:pt x="23091" y="2032000"/>
                  </a:lnTo>
                  <a:cubicBezTo>
                    <a:pt x="10338" y="2032000"/>
                    <a:pt x="0" y="2021662"/>
                    <a:pt x="0" y="2008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588000" cy="205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MALFORMED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PAYLOAD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238500" y="4476750"/>
            <a:ext cx="0" cy="16192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200150" y="6153150"/>
            <a:ext cx="4191000" cy="1714500"/>
            <a:chOff x="0" y="0"/>
            <a:chExt cx="5588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88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6096000"/>
            <a:ext cx="4191000" cy="1714500"/>
            <a:chOff x="0" y="0"/>
            <a:chExt cx="5588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262909"/>
                  </a:lnTo>
                  <a:cubicBezTo>
                    <a:pt x="5588000" y="2275662"/>
                    <a:pt x="5577662" y="2286000"/>
                    <a:pt x="5564909" y="2286000"/>
                  </a:cubicBezTo>
                  <a:lnTo>
                    <a:pt x="23091" y="2286000"/>
                  </a:lnTo>
                  <a:cubicBezTo>
                    <a:pt x="10338" y="2286000"/>
                    <a:pt x="0" y="2275662"/>
                    <a:pt x="0" y="2262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588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QUARANTINE DLQ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19900" y="2914650"/>
            <a:ext cx="4191000" cy="1524000"/>
            <a:chOff x="0" y="0"/>
            <a:chExt cx="5588000" cy="203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88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62750" y="2857500"/>
            <a:ext cx="4191000" cy="1524000"/>
            <a:chOff x="0" y="0"/>
            <a:chExt cx="5588000" cy="203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008909"/>
                  </a:lnTo>
                  <a:cubicBezTo>
                    <a:pt x="5588000" y="2021662"/>
                    <a:pt x="5577662" y="2032000"/>
                    <a:pt x="5564909" y="2032000"/>
                  </a:cubicBezTo>
                  <a:lnTo>
                    <a:pt x="23091" y="2032000"/>
                  </a:lnTo>
                  <a:cubicBezTo>
                    <a:pt x="10338" y="2032000"/>
                    <a:pt x="0" y="2021662"/>
                    <a:pt x="0" y="2008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588000" cy="205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REDIS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DOWNTIME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8858250" y="4476750"/>
            <a:ext cx="0" cy="16192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819900" y="6153150"/>
            <a:ext cx="4191000" cy="1714500"/>
            <a:chOff x="0" y="0"/>
            <a:chExt cx="55880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588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62750" y="6096000"/>
            <a:ext cx="4191000" cy="1714500"/>
            <a:chOff x="0" y="0"/>
            <a:chExt cx="5588000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262909"/>
                  </a:lnTo>
                  <a:cubicBezTo>
                    <a:pt x="5588000" y="2275662"/>
                    <a:pt x="5577662" y="2286000"/>
                    <a:pt x="5564909" y="2286000"/>
                  </a:cubicBezTo>
                  <a:lnTo>
                    <a:pt x="23091" y="2286000"/>
                  </a:lnTo>
                  <a:cubicBezTo>
                    <a:pt x="10338" y="2286000"/>
                    <a:pt x="0" y="2275662"/>
                    <a:pt x="0" y="2262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588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CIRCUIT BREAKER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+ SAFE POLICY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39650" y="2914650"/>
            <a:ext cx="4191000" cy="1524000"/>
            <a:chOff x="0" y="0"/>
            <a:chExt cx="5588000" cy="2032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588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82500" y="2857500"/>
            <a:ext cx="4191000" cy="1524000"/>
            <a:chOff x="0" y="0"/>
            <a:chExt cx="5588000" cy="203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88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008909"/>
                  </a:lnTo>
                  <a:cubicBezTo>
                    <a:pt x="5588000" y="2021662"/>
                    <a:pt x="5577662" y="2032000"/>
                    <a:pt x="5564909" y="2032000"/>
                  </a:cubicBezTo>
                  <a:lnTo>
                    <a:pt x="23091" y="2032000"/>
                  </a:lnTo>
                  <a:cubicBezTo>
                    <a:pt x="10338" y="2032000"/>
                    <a:pt x="0" y="2021662"/>
                    <a:pt x="0" y="2008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588000" cy="205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CONSUMER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LAG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4478000" y="4476750"/>
            <a:ext cx="0" cy="16192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2439650" y="6153150"/>
            <a:ext cx="4191000" cy="1714500"/>
            <a:chOff x="0" y="0"/>
            <a:chExt cx="5588000" cy="2286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588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82500" y="6096000"/>
            <a:ext cx="4191000" cy="1714500"/>
            <a:chOff x="0" y="0"/>
            <a:chExt cx="5588000" cy="2286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58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2262909"/>
                  </a:lnTo>
                  <a:cubicBezTo>
                    <a:pt x="5588000" y="2275662"/>
                    <a:pt x="5577662" y="2286000"/>
                    <a:pt x="5564909" y="2286000"/>
                  </a:cubicBezTo>
                  <a:lnTo>
                    <a:pt x="23091" y="2286000"/>
                  </a:lnTo>
                  <a:cubicBezTo>
                    <a:pt x="10338" y="2286000"/>
                    <a:pt x="0" y="2275662"/>
                    <a:pt x="0" y="22629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58800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BACKPRESSURE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+ REPLAY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EXECUTIVE FRAUD OPERATIONS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43977" y="1460657"/>
            <a:ext cx="12479954" cy="8222936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2153900" y="2628900"/>
            <a:ext cx="4762500" cy="1619250"/>
            <a:chOff x="0" y="0"/>
            <a:chExt cx="6350000" cy="215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50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96750" y="2571750"/>
            <a:ext cx="4762500" cy="1619250"/>
            <a:chOff x="0" y="0"/>
            <a:chExt cx="6350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2138680"/>
                  </a:lnTo>
                  <a:cubicBezTo>
                    <a:pt x="6350000" y="2149902"/>
                    <a:pt x="6340902" y="2159000"/>
                    <a:pt x="6329680" y="2159000"/>
                  </a:cubicBezTo>
                  <a:lnTo>
                    <a:pt x="20320" y="2159000"/>
                  </a:lnTo>
                  <a:cubicBezTo>
                    <a:pt x="9098" y="2159000"/>
                    <a:pt x="0" y="2149902"/>
                    <a:pt x="0" y="2138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350000" cy="216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96.4%</a:t>
              </a:r>
            </a:p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PRECISION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53900" y="4724400"/>
            <a:ext cx="4762500" cy="1619250"/>
            <a:chOff x="0" y="0"/>
            <a:chExt cx="6350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50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4667250"/>
            <a:ext cx="4762500" cy="1619250"/>
            <a:chOff x="0" y="0"/>
            <a:chExt cx="6350000" cy="215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2138680"/>
                  </a:lnTo>
                  <a:cubicBezTo>
                    <a:pt x="6350000" y="2149902"/>
                    <a:pt x="6340902" y="2159000"/>
                    <a:pt x="6329680" y="2159000"/>
                  </a:cubicBezTo>
                  <a:lnTo>
                    <a:pt x="20320" y="2159000"/>
                  </a:lnTo>
                  <a:cubicBezTo>
                    <a:pt x="9098" y="2159000"/>
                    <a:pt x="0" y="2149902"/>
                    <a:pt x="0" y="2138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350000" cy="216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$2.8M</a:t>
              </a:r>
            </a:p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BLOCKED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53900" y="6819900"/>
            <a:ext cx="4762500" cy="1619250"/>
            <a:chOff x="0" y="0"/>
            <a:chExt cx="6350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96750" y="6762750"/>
            <a:ext cx="4762500" cy="1619250"/>
            <a:chOff x="0" y="0"/>
            <a:chExt cx="6350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2138680"/>
                  </a:lnTo>
                  <a:cubicBezTo>
                    <a:pt x="6350000" y="2149902"/>
                    <a:pt x="6340902" y="2159000"/>
                    <a:pt x="6329680" y="2159000"/>
                  </a:cubicBezTo>
                  <a:lnTo>
                    <a:pt x="20320" y="2159000"/>
                  </a:lnTo>
                  <a:cubicBezTo>
                    <a:pt x="9098" y="2159000"/>
                    <a:pt x="0" y="2149902"/>
                    <a:pt x="0" y="2138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350000" cy="216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7.6ms</a:t>
              </a:r>
            </a:p>
            <a:p>
              <a:pPr algn="ctr">
                <a:lnSpc>
                  <a:spcPts val="2992"/>
                </a:lnSpc>
              </a:pPr>
              <a:r>
                <a:rPr lang="en-US" sz="285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P95 SCORE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INGESTION &amp; PIPELINE HEALTH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97961" y="1555962"/>
            <a:ext cx="13359424" cy="8127576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2820650" y="2724150"/>
            <a:ext cx="4191000" cy="1476375"/>
            <a:chOff x="0" y="0"/>
            <a:chExt cx="5588000" cy="196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88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63500" y="2667000"/>
            <a:ext cx="4191000" cy="1476375"/>
            <a:chOff x="0" y="0"/>
            <a:chExt cx="5588000" cy="19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1945409"/>
                  </a:lnTo>
                  <a:cubicBezTo>
                    <a:pt x="5588000" y="1958162"/>
                    <a:pt x="5577662" y="1968500"/>
                    <a:pt x="5564909" y="1968500"/>
                  </a:cubicBezTo>
                  <a:lnTo>
                    <a:pt x="23091" y="1968500"/>
                  </a:lnTo>
                  <a:cubicBezTo>
                    <a:pt x="10338" y="1968500"/>
                    <a:pt x="0" y="1958162"/>
                    <a:pt x="0" y="19454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588000" cy="198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0.42s</a:t>
              </a:r>
            </a:p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TOPIC LAG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20650" y="4724400"/>
            <a:ext cx="4191000" cy="1476375"/>
            <a:chOff x="0" y="0"/>
            <a:chExt cx="5588000" cy="196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588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63500" y="4667250"/>
            <a:ext cx="4191000" cy="1476375"/>
            <a:chOff x="0" y="0"/>
            <a:chExt cx="5588000" cy="196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1945409"/>
                  </a:lnTo>
                  <a:cubicBezTo>
                    <a:pt x="5588000" y="1958162"/>
                    <a:pt x="5577662" y="1968500"/>
                    <a:pt x="5564909" y="1968500"/>
                  </a:cubicBezTo>
                  <a:lnTo>
                    <a:pt x="23091" y="1968500"/>
                  </a:lnTo>
                  <a:cubicBezTo>
                    <a:pt x="10338" y="1968500"/>
                    <a:pt x="0" y="1958162"/>
                    <a:pt x="0" y="19454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588000" cy="198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0.81s</a:t>
              </a:r>
            </a:p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S3 FLUSH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20650" y="6724650"/>
            <a:ext cx="4191000" cy="1476375"/>
            <a:chOff x="0" y="0"/>
            <a:chExt cx="5588000" cy="196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968500"/>
                  </a:lnTo>
                  <a:lnTo>
                    <a:pt x="0" y="19685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88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63500" y="6667500"/>
            <a:ext cx="4191000" cy="1476375"/>
            <a:chOff x="0" y="0"/>
            <a:chExt cx="5588000" cy="196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88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5588000">
                  <a:moveTo>
                    <a:pt x="23091" y="0"/>
                  </a:moveTo>
                  <a:lnTo>
                    <a:pt x="5564909" y="0"/>
                  </a:lnTo>
                  <a:cubicBezTo>
                    <a:pt x="5577662" y="0"/>
                    <a:pt x="5588000" y="10338"/>
                    <a:pt x="5588000" y="23091"/>
                  </a:cubicBezTo>
                  <a:lnTo>
                    <a:pt x="5588000" y="1945409"/>
                  </a:lnTo>
                  <a:cubicBezTo>
                    <a:pt x="5588000" y="1958162"/>
                    <a:pt x="5577662" y="1968500"/>
                    <a:pt x="5564909" y="1968500"/>
                  </a:cubicBezTo>
                  <a:lnTo>
                    <a:pt x="23091" y="1968500"/>
                  </a:lnTo>
                  <a:cubicBezTo>
                    <a:pt x="10338" y="1968500"/>
                    <a:pt x="0" y="1958162"/>
                    <a:pt x="0" y="1945409"/>
                  </a:cubicBezTo>
                  <a:lnTo>
                    <a:pt x="0" y="23091"/>
                  </a:lnTo>
                  <a:cubicBezTo>
                    <a:pt x="0" y="10338"/>
                    <a:pt x="10338" y="0"/>
                    <a:pt x="23091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588000" cy="198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68%</a:t>
              </a:r>
            </a:p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CLUSTER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DELIBERATE TRADE-OFFS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9650" y="2724150"/>
            <a:ext cx="4762500" cy="1428750"/>
            <a:chOff x="0" y="0"/>
            <a:chExt cx="6350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2667000"/>
            <a:ext cx="4762500" cy="1428750"/>
            <a:chOff x="0" y="0"/>
            <a:chExt cx="6350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884680"/>
                  </a:lnTo>
                  <a:cubicBezTo>
                    <a:pt x="6350000" y="1895902"/>
                    <a:pt x="6340902" y="1905000"/>
                    <a:pt x="6329680" y="1905000"/>
                  </a:cubicBezTo>
                  <a:lnTo>
                    <a:pt x="20320" y="1905000"/>
                  </a:lnTo>
                  <a:cubicBezTo>
                    <a:pt x="9098" y="1905000"/>
                    <a:pt x="0" y="1895902"/>
                    <a:pt x="0" y="1884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35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DIRECT TO MSK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62750" y="2667000"/>
            <a:ext cx="4000500" cy="1428750"/>
            <a:chOff x="0" y="0"/>
            <a:chExt cx="5334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1880810"/>
                  </a:lnTo>
                  <a:cubicBezTo>
                    <a:pt x="5334000" y="1887225"/>
                    <a:pt x="5331451" y="1893378"/>
                    <a:pt x="5326915" y="1897915"/>
                  </a:cubicBezTo>
                  <a:cubicBezTo>
                    <a:pt x="5322378" y="1902451"/>
                    <a:pt x="5316225" y="1905000"/>
                    <a:pt x="5309810" y="1905000"/>
                  </a:cubicBezTo>
                  <a:lnTo>
                    <a:pt x="24190" y="1905000"/>
                  </a:lnTo>
                  <a:cubicBezTo>
                    <a:pt x="17775" y="1905000"/>
                    <a:pt x="11622" y="1902451"/>
                    <a:pt x="7085" y="1897915"/>
                  </a:cubicBezTo>
                  <a:cubicBezTo>
                    <a:pt x="2549" y="1893378"/>
                    <a:pt x="0" y="1887225"/>
                    <a:pt x="0" y="1880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334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RDBMS FIRST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11000" y="2667000"/>
            <a:ext cx="5334000" cy="1428750"/>
            <a:chOff x="0" y="0"/>
            <a:chExt cx="7112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112000">
                  <a:moveTo>
                    <a:pt x="18143" y="0"/>
                  </a:moveTo>
                  <a:lnTo>
                    <a:pt x="7093857" y="0"/>
                  </a:lnTo>
                  <a:cubicBezTo>
                    <a:pt x="7103877" y="0"/>
                    <a:pt x="7112000" y="8123"/>
                    <a:pt x="7112000" y="18143"/>
                  </a:cubicBezTo>
                  <a:lnTo>
                    <a:pt x="7112000" y="1886857"/>
                  </a:lnTo>
                  <a:cubicBezTo>
                    <a:pt x="7112000" y="1896877"/>
                    <a:pt x="7103877" y="1905000"/>
                    <a:pt x="7093857" y="1905000"/>
                  </a:cubicBezTo>
                  <a:lnTo>
                    <a:pt x="18143" y="1905000"/>
                  </a:lnTo>
                  <a:cubicBezTo>
                    <a:pt x="8123" y="1905000"/>
                    <a:pt x="0" y="1896877"/>
                    <a:pt x="0" y="1886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11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Linear scale wins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810250" y="3381375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0858500" y="3381375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009650" y="4867275"/>
            <a:ext cx="4762500" cy="1428750"/>
            <a:chOff x="0" y="0"/>
            <a:chExt cx="6350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4810125"/>
            <a:ext cx="4762500" cy="1428750"/>
            <a:chOff x="0" y="0"/>
            <a:chExt cx="6350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884680"/>
                  </a:lnTo>
                  <a:cubicBezTo>
                    <a:pt x="6350000" y="1895902"/>
                    <a:pt x="6340902" y="1905000"/>
                    <a:pt x="6329680" y="1905000"/>
                  </a:cubicBezTo>
                  <a:lnTo>
                    <a:pt x="20320" y="1905000"/>
                  </a:lnTo>
                  <a:cubicBezTo>
                    <a:pt x="9098" y="1905000"/>
                    <a:pt x="0" y="1895902"/>
                    <a:pt x="0" y="1884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35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DEBEZIUM WAL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62750" y="4810125"/>
            <a:ext cx="4000500" cy="1428750"/>
            <a:chOff x="0" y="0"/>
            <a:chExt cx="5334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1880810"/>
                  </a:lnTo>
                  <a:cubicBezTo>
                    <a:pt x="5334000" y="1887225"/>
                    <a:pt x="5331451" y="1893378"/>
                    <a:pt x="5326915" y="1897915"/>
                  </a:cubicBezTo>
                  <a:cubicBezTo>
                    <a:pt x="5322378" y="1902451"/>
                    <a:pt x="5316225" y="1905000"/>
                    <a:pt x="5309810" y="1905000"/>
                  </a:cubicBezTo>
                  <a:lnTo>
                    <a:pt x="24190" y="1905000"/>
                  </a:lnTo>
                  <a:cubicBezTo>
                    <a:pt x="17775" y="1905000"/>
                    <a:pt x="11622" y="1902451"/>
                    <a:pt x="7085" y="1897915"/>
                  </a:cubicBezTo>
                  <a:cubicBezTo>
                    <a:pt x="2549" y="1893378"/>
                    <a:pt x="0" y="1887225"/>
                    <a:pt x="0" y="1880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334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APP POLLING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11000" y="4810125"/>
            <a:ext cx="5334000" cy="1428750"/>
            <a:chOff x="0" y="0"/>
            <a:chExt cx="7112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112000">
                  <a:moveTo>
                    <a:pt x="18143" y="0"/>
                  </a:moveTo>
                  <a:lnTo>
                    <a:pt x="7093857" y="0"/>
                  </a:lnTo>
                  <a:cubicBezTo>
                    <a:pt x="7103877" y="0"/>
                    <a:pt x="7112000" y="8123"/>
                    <a:pt x="7112000" y="18143"/>
                  </a:cubicBezTo>
                  <a:lnTo>
                    <a:pt x="7112000" y="1886857"/>
                  </a:lnTo>
                  <a:cubicBezTo>
                    <a:pt x="7112000" y="1896877"/>
                    <a:pt x="7103877" y="1905000"/>
                    <a:pt x="7093857" y="1905000"/>
                  </a:cubicBezTo>
                  <a:lnTo>
                    <a:pt x="18143" y="1905000"/>
                  </a:lnTo>
                  <a:cubicBezTo>
                    <a:pt x="8123" y="1905000"/>
                    <a:pt x="0" y="1896877"/>
                    <a:pt x="0" y="1886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11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Lower coupling wins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5810250" y="5524500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0858500" y="5524500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1009650" y="7010400"/>
            <a:ext cx="4762500" cy="1428750"/>
            <a:chOff x="0" y="0"/>
            <a:chExt cx="6350000" cy="1905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3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2500" y="6953250"/>
            <a:ext cx="4762500" cy="1428750"/>
            <a:chOff x="0" y="0"/>
            <a:chExt cx="6350000" cy="1905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884680"/>
                  </a:lnTo>
                  <a:cubicBezTo>
                    <a:pt x="6350000" y="1895902"/>
                    <a:pt x="6340902" y="1905000"/>
                    <a:pt x="6329680" y="1905000"/>
                  </a:cubicBezTo>
                  <a:lnTo>
                    <a:pt x="20320" y="1905000"/>
                  </a:lnTo>
                  <a:cubicBezTo>
                    <a:pt x="9098" y="1905000"/>
                    <a:pt x="0" y="1895902"/>
                    <a:pt x="0" y="1884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350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DELTA LAKE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62750" y="6953250"/>
            <a:ext cx="4000500" cy="1428750"/>
            <a:chOff x="0" y="0"/>
            <a:chExt cx="5334000" cy="1905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24190" y="0"/>
                  </a:moveTo>
                  <a:lnTo>
                    <a:pt x="5309810" y="0"/>
                  </a:lnTo>
                  <a:cubicBezTo>
                    <a:pt x="5316225" y="0"/>
                    <a:pt x="5322378" y="2549"/>
                    <a:pt x="5326915" y="7085"/>
                  </a:cubicBezTo>
                  <a:cubicBezTo>
                    <a:pt x="5331451" y="11622"/>
                    <a:pt x="5334000" y="17775"/>
                    <a:pt x="5334000" y="24190"/>
                  </a:cubicBezTo>
                  <a:lnTo>
                    <a:pt x="5334000" y="1880810"/>
                  </a:lnTo>
                  <a:cubicBezTo>
                    <a:pt x="5334000" y="1887225"/>
                    <a:pt x="5331451" y="1893378"/>
                    <a:pt x="5326915" y="1897915"/>
                  </a:cubicBezTo>
                  <a:cubicBezTo>
                    <a:pt x="5322378" y="1902451"/>
                    <a:pt x="5316225" y="1905000"/>
                    <a:pt x="5309810" y="1905000"/>
                  </a:cubicBezTo>
                  <a:lnTo>
                    <a:pt x="24190" y="1905000"/>
                  </a:lnTo>
                  <a:cubicBezTo>
                    <a:pt x="17775" y="1905000"/>
                    <a:pt x="11622" y="1902451"/>
                    <a:pt x="7085" y="1897915"/>
                  </a:cubicBezTo>
                  <a:cubicBezTo>
                    <a:pt x="2549" y="1893378"/>
                    <a:pt x="0" y="1887225"/>
                    <a:pt x="0" y="1880810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334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PLAIN PARQUET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11000" y="6953250"/>
            <a:ext cx="5334000" cy="1428750"/>
            <a:chOff x="0" y="0"/>
            <a:chExt cx="7112000" cy="1905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112000">
                  <a:moveTo>
                    <a:pt x="18143" y="0"/>
                  </a:moveTo>
                  <a:lnTo>
                    <a:pt x="7093857" y="0"/>
                  </a:lnTo>
                  <a:cubicBezTo>
                    <a:pt x="7103877" y="0"/>
                    <a:pt x="7112000" y="8123"/>
                    <a:pt x="7112000" y="18143"/>
                  </a:cubicBezTo>
                  <a:lnTo>
                    <a:pt x="7112000" y="1886857"/>
                  </a:lnTo>
                  <a:cubicBezTo>
                    <a:pt x="7112000" y="1896877"/>
                    <a:pt x="7103877" y="1905000"/>
                    <a:pt x="7093857" y="1905000"/>
                  </a:cubicBezTo>
                  <a:lnTo>
                    <a:pt x="18143" y="1905000"/>
                  </a:lnTo>
                  <a:cubicBezTo>
                    <a:pt x="8123" y="1905000"/>
                    <a:pt x="0" y="1896877"/>
                    <a:pt x="0" y="1886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112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Reliable mutation wins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5810250" y="7667625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858500" y="7667625"/>
            <a:ext cx="85725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 THE SYSTEM, NOT JUST THE FUNCTIONS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9150" y="1400937"/>
            <a:ext cx="13811250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Parity across generators, transport, state, transformations and orchestration.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6775" y="3200400"/>
            <a:ext cx="3429000" cy="1809750"/>
            <a:chOff x="0" y="0"/>
            <a:chExt cx="45720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9625" y="3143250"/>
            <a:ext cx="3429000" cy="1809750"/>
            <a:chOff x="0" y="0"/>
            <a:chExt cx="4572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384778"/>
                  </a:lnTo>
                  <a:cubicBezTo>
                    <a:pt x="4572000" y="2392263"/>
                    <a:pt x="4569027" y="2399441"/>
                    <a:pt x="4563734" y="2404734"/>
                  </a:cubicBezTo>
                  <a:cubicBezTo>
                    <a:pt x="4558441" y="2410027"/>
                    <a:pt x="4551263" y="2413000"/>
                    <a:pt x="4543778" y="2413000"/>
                  </a:cubicBezTo>
                  <a:lnTo>
                    <a:pt x="28222" y="2413000"/>
                  </a:lnTo>
                  <a:cubicBezTo>
                    <a:pt x="20737" y="2413000"/>
                    <a:pt x="13559" y="2410027"/>
                    <a:pt x="8266" y="2404734"/>
                  </a:cubicBezTo>
                  <a:cubicBezTo>
                    <a:pt x="2973" y="2399441"/>
                    <a:pt x="0" y="2392263"/>
                    <a:pt x="0" y="2384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572000" cy="24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DATA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GENERATORS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524125" y="5048250"/>
            <a:ext cx="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809625" y="6381750"/>
            <a:ext cx="3429000" cy="1238250"/>
            <a:chOff x="0" y="0"/>
            <a:chExt cx="4572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1622778"/>
                  </a:lnTo>
                  <a:cubicBezTo>
                    <a:pt x="4572000" y="1630263"/>
                    <a:pt x="4569027" y="1637441"/>
                    <a:pt x="4563734" y="1642734"/>
                  </a:cubicBezTo>
                  <a:cubicBezTo>
                    <a:pt x="4558441" y="1648027"/>
                    <a:pt x="4551263" y="1651000"/>
                    <a:pt x="4543778" y="1651000"/>
                  </a:cubicBezTo>
                  <a:lnTo>
                    <a:pt x="28222" y="1651000"/>
                  </a:lnTo>
                  <a:cubicBezTo>
                    <a:pt x="20737" y="1651000"/>
                    <a:pt x="13559" y="1648027"/>
                    <a:pt x="8266" y="1642734"/>
                  </a:cubicBezTo>
                  <a:cubicBezTo>
                    <a:pt x="2973" y="1637441"/>
                    <a:pt x="0" y="1630263"/>
                    <a:pt x="0" y="1622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572000" cy="167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CONTRACT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00650" y="3200400"/>
            <a:ext cx="3429000" cy="1809750"/>
            <a:chOff x="0" y="0"/>
            <a:chExt cx="4572000" cy="241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43500" y="3143250"/>
            <a:ext cx="3429000" cy="1809750"/>
            <a:chOff x="0" y="0"/>
            <a:chExt cx="4572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384778"/>
                  </a:lnTo>
                  <a:cubicBezTo>
                    <a:pt x="4572000" y="2392263"/>
                    <a:pt x="4569027" y="2399441"/>
                    <a:pt x="4563734" y="2404734"/>
                  </a:cubicBezTo>
                  <a:cubicBezTo>
                    <a:pt x="4558441" y="2410027"/>
                    <a:pt x="4551263" y="2413000"/>
                    <a:pt x="4543778" y="2413000"/>
                  </a:cubicBezTo>
                  <a:lnTo>
                    <a:pt x="28222" y="2413000"/>
                  </a:lnTo>
                  <a:cubicBezTo>
                    <a:pt x="20737" y="2413000"/>
                    <a:pt x="13559" y="2410027"/>
                    <a:pt x="8266" y="2404734"/>
                  </a:cubicBezTo>
                  <a:cubicBezTo>
                    <a:pt x="2973" y="2399441"/>
                    <a:pt x="0" y="2392263"/>
                    <a:pt x="0" y="2384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572000" cy="24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STREAMING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PIPELINES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6858000" y="5048250"/>
            <a:ext cx="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5143500" y="6381750"/>
            <a:ext cx="3429000" cy="1238250"/>
            <a:chOff x="0" y="0"/>
            <a:chExt cx="4572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1622778"/>
                  </a:lnTo>
                  <a:cubicBezTo>
                    <a:pt x="4572000" y="1630263"/>
                    <a:pt x="4569027" y="1637441"/>
                    <a:pt x="4563734" y="1642734"/>
                  </a:cubicBezTo>
                  <a:cubicBezTo>
                    <a:pt x="4558441" y="1648027"/>
                    <a:pt x="4551263" y="1651000"/>
                    <a:pt x="4543778" y="1651000"/>
                  </a:cubicBezTo>
                  <a:lnTo>
                    <a:pt x="28222" y="1651000"/>
                  </a:lnTo>
                  <a:cubicBezTo>
                    <a:pt x="20737" y="1651000"/>
                    <a:pt x="13559" y="1648027"/>
                    <a:pt x="8266" y="1642734"/>
                  </a:cubicBezTo>
                  <a:cubicBezTo>
                    <a:pt x="2973" y="1637441"/>
                    <a:pt x="0" y="1630263"/>
                    <a:pt x="0" y="1622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72000" cy="167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REPLAY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34525" y="3200400"/>
            <a:ext cx="3429000" cy="1809750"/>
            <a:chOff x="0" y="0"/>
            <a:chExt cx="45720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77375" y="3143250"/>
            <a:ext cx="3429000" cy="1809750"/>
            <a:chOff x="0" y="0"/>
            <a:chExt cx="4572000" cy="2413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384778"/>
                  </a:lnTo>
                  <a:cubicBezTo>
                    <a:pt x="4572000" y="2392263"/>
                    <a:pt x="4569027" y="2399441"/>
                    <a:pt x="4563734" y="2404734"/>
                  </a:cubicBezTo>
                  <a:cubicBezTo>
                    <a:pt x="4558441" y="2410027"/>
                    <a:pt x="4551263" y="2413000"/>
                    <a:pt x="4543778" y="2413000"/>
                  </a:cubicBezTo>
                  <a:lnTo>
                    <a:pt x="28222" y="2413000"/>
                  </a:lnTo>
                  <a:cubicBezTo>
                    <a:pt x="20737" y="2413000"/>
                    <a:pt x="13559" y="2410027"/>
                    <a:pt x="8266" y="2404734"/>
                  </a:cubicBezTo>
                  <a:cubicBezTo>
                    <a:pt x="2973" y="2399441"/>
                    <a:pt x="0" y="2392263"/>
                    <a:pt x="0" y="2384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7C3AE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572000" cy="24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ML STATE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STORE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1191875" y="5048250"/>
            <a:ext cx="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9477375" y="6381750"/>
            <a:ext cx="3429000" cy="1238250"/>
            <a:chOff x="0" y="0"/>
            <a:chExt cx="4572000" cy="165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1622778"/>
                  </a:lnTo>
                  <a:cubicBezTo>
                    <a:pt x="4572000" y="1630263"/>
                    <a:pt x="4569027" y="1637441"/>
                    <a:pt x="4563734" y="1642734"/>
                  </a:cubicBezTo>
                  <a:cubicBezTo>
                    <a:pt x="4558441" y="1648027"/>
                    <a:pt x="4551263" y="1651000"/>
                    <a:pt x="4543778" y="1651000"/>
                  </a:cubicBezTo>
                  <a:lnTo>
                    <a:pt x="28222" y="1651000"/>
                  </a:lnTo>
                  <a:cubicBezTo>
                    <a:pt x="20737" y="1651000"/>
                    <a:pt x="13559" y="1648027"/>
                    <a:pt x="8266" y="1642734"/>
                  </a:cubicBezTo>
                  <a:cubicBezTo>
                    <a:pt x="2973" y="1637441"/>
                    <a:pt x="0" y="1630263"/>
                    <a:pt x="0" y="1622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572000" cy="167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TTL + FALLBACK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868400" y="3200400"/>
            <a:ext cx="3429000" cy="1809750"/>
            <a:chOff x="0" y="0"/>
            <a:chExt cx="4572000" cy="241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5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811250" y="3143250"/>
            <a:ext cx="3429000" cy="1809750"/>
            <a:chOff x="0" y="0"/>
            <a:chExt cx="4572000" cy="2413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2384778"/>
                  </a:lnTo>
                  <a:cubicBezTo>
                    <a:pt x="4572000" y="2392263"/>
                    <a:pt x="4569027" y="2399441"/>
                    <a:pt x="4563734" y="2404734"/>
                  </a:cubicBezTo>
                  <a:cubicBezTo>
                    <a:pt x="4558441" y="2410027"/>
                    <a:pt x="4551263" y="2413000"/>
                    <a:pt x="4543778" y="2413000"/>
                  </a:cubicBezTo>
                  <a:lnTo>
                    <a:pt x="28222" y="2413000"/>
                  </a:lnTo>
                  <a:cubicBezTo>
                    <a:pt x="20737" y="2413000"/>
                    <a:pt x="13559" y="2410027"/>
                    <a:pt x="8266" y="2404734"/>
                  </a:cubicBezTo>
                  <a:cubicBezTo>
                    <a:pt x="2973" y="2399441"/>
                    <a:pt x="0" y="2392263"/>
                    <a:pt x="0" y="2384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572000" cy="24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AIRFLOW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DAGS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5525750" y="5048250"/>
            <a:ext cx="0" cy="133350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0">
            <a:off x="13811250" y="6381750"/>
            <a:ext cx="3429000" cy="1238250"/>
            <a:chOff x="0" y="0"/>
            <a:chExt cx="4572000" cy="1651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28222" y="0"/>
                  </a:moveTo>
                  <a:lnTo>
                    <a:pt x="4543778" y="0"/>
                  </a:lnTo>
                  <a:cubicBezTo>
                    <a:pt x="4551263" y="0"/>
                    <a:pt x="4558441" y="2973"/>
                    <a:pt x="4563734" y="8266"/>
                  </a:cubicBezTo>
                  <a:cubicBezTo>
                    <a:pt x="4569027" y="13559"/>
                    <a:pt x="4572000" y="20737"/>
                    <a:pt x="4572000" y="28222"/>
                  </a:cubicBezTo>
                  <a:lnTo>
                    <a:pt x="4572000" y="1622778"/>
                  </a:lnTo>
                  <a:cubicBezTo>
                    <a:pt x="4572000" y="1630263"/>
                    <a:pt x="4569027" y="1637441"/>
                    <a:pt x="4563734" y="1642734"/>
                  </a:cubicBezTo>
                  <a:cubicBezTo>
                    <a:pt x="4558441" y="1648027"/>
                    <a:pt x="4551263" y="1651000"/>
                    <a:pt x="4543778" y="1651000"/>
                  </a:cubicBezTo>
                  <a:lnTo>
                    <a:pt x="28222" y="1651000"/>
                  </a:lnTo>
                  <a:cubicBezTo>
                    <a:pt x="20737" y="1651000"/>
                    <a:pt x="13559" y="1648027"/>
                    <a:pt x="8266" y="1642734"/>
                  </a:cubicBezTo>
                  <a:cubicBezTo>
                    <a:pt x="2973" y="1637441"/>
                    <a:pt x="0" y="1630263"/>
                    <a:pt x="0" y="1622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572000" cy="167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DEPENDENCIES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476500" y="8629650"/>
            <a:ext cx="13335000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8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UNIT  →  INTEGRATION  →  CHAOS  →  RECOVERY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A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647700"/>
            <a:ext cx="16649700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8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SHIPPED FOR SCALE. READY FOR HARDENING.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9650" y="2914650"/>
            <a:ext cx="4762500" cy="4953000"/>
            <a:chOff x="0" y="0"/>
            <a:chExt cx="6350000" cy="660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2857500"/>
            <a:ext cx="4762500" cy="1143000"/>
            <a:chOff x="0" y="0"/>
            <a:chExt cx="6350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503680"/>
                  </a:lnTo>
                  <a:cubicBezTo>
                    <a:pt x="6350000" y="1514902"/>
                    <a:pt x="6340902" y="1524000"/>
                    <a:pt x="6329680" y="1524000"/>
                  </a:cubicBezTo>
                  <a:lnTo>
                    <a:pt x="20320" y="1524000"/>
                  </a:lnTo>
                  <a:cubicBezTo>
                    <a:pt x="9098" y="1524000"/>
                    <a:pt x="0" y="1514902"/>
                    <a:pt x="0" y="1503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00F5A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350000" cy="1543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4000500"/>
            <a:ext cx="4762500" cy="3810000"/>
            <a:chOff x="0" y="0"/>
            <a:chExt cx="6350000" cy="508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00" cy="5080000"/>
              <a:chOff x="0" y="0"/>
              <a:chExt cx="6350000" cy="508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71500" y="749300"/>
              <a:ext cx="5207000" cy="157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Zero DB inserts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Sub-10ms scoring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Replayable lineage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19900" y="2914650"/>
            <a:ext cx="4762500" cy="4953000"/>
            <a:chOff x="0" y="0"/>
            <a:chExt cx="6350000" cy="66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0" y="2857500"/>
            <a:ext cx="4762500" cy="1143000"/>
            <a:chOff x="0" y="0"/>
            <a:chExt cx="6350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503680"/>
                  </a:lnTo>
                  <a:cubicBezTo>
                    <a:pt x="6350000" y="1514902"/>
                    <a:pt x="6340902" y="1524000"/>
                    <a:pt x="6329680" y="1524000"/>
                  </a:cubicBezTo>
                  <a:lnTo>
                    <a:pt x="20320" y="1524000"/>
                  </a:lnTo>
                  <a:cubicBezTo>
                    <a:pt x="9098" y="1524000"/>
                    <a:pt x="0" y="1514902"/>
                    <a:pt x="0" y="1503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47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350000" cy="1543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LIMITS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62750" y="4000500"/>
            <a:ext cx="4762500" cy="3810000"/>
            <a:chOff x="0" y="0"/>
            <a:chExt cx="6350000" cy="508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350000" cy="5080000"/>
              <a:chOff x="0" y="0"/>
              <a:chExt cx="6350000" cy="508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71500" y="749300"/>
              <a:ext cx="5207000" cy="157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Single-region baseline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Feature freshness risk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Manual model promotion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30150" y="2914650"/>
            <a:ext cx="4762500" cy="4953000"/>
            <a:chOff x="0" y="0"/>
            <a:chExt cx="6350000" cy="660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50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73000" y="2857500"/>
            <a:ext cx="4762500" cy="1143000"/>
            <a:chOff x="0" y="0"/>
            <a:chExt cx="6350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20320" y="0"/>
                  </a:moveTo>
                  <a:lnTo>
                    <a:pt x="6329680" y="0"/>
                  </a:lnTo>
                  <a:cubicBezTo>
                    <a:pt x="6335069" y="0"/>
                    <a:pt x="6340238" y="2141"/>
                    <a:pt x="6344048" y="5952"/>
                  </a:cubicBezTo>
                  <a:cubicBezTo>
                    <a:pt x="6347859" y="9762"/>
                    <a:pt x="6350000" y="14931"/>
                    <a:pt x="6350000" y="20320"/>
                  </a:cubicBezTo>
                  <a:lnTo>
                    <a:pt x="6350000" y="1503680"/>
                  </a:lnTo>
                  <a:cubicBezTo>
                    <a:pt x="6350000" y="1514902"/>
                    <a:pt x="6340902" y="1524000"/>
                    <a:pt x="6329680" y="1524000"/>
                  </a:cubicBezTo>
                  <a:lnTo>
                    <a:pt x="20320" y="1524000"/>
                  </a:lnTo>
                  <a:cubicBezTo>
                    <a:pt x="9098" y="1524000"/>
                    <a:pt x="0" y="1514902"/>
                    <a:pt x="0" y="1503680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E6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350000" cy="1543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00000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NEXT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73000" y="4000500"/>
            <a:ext cx="4762500" cy="3810000"/>
            <a:chOff x="0" y="0"/>
            <a:chExt cx="6350000" cy="508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350000" cy="5080000"/>
              <a:chOff x="0" y="0"/>
              <a:chExt cx="6350000" cy="508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50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350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71500" y="749300"/>
              <a:ext cx="5207000" cy="1579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Multi-region MSK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Online feature store</a:t>
              </a:r>
            </a:p>
            <a:p>
              <a:pPr algn="l">
                <a:lnSpc>
                  <a:spcPts val="3000"/>
                </a:lnSpc>
              </a:pPr>
              <a:r>
                <a:rPr lang="en-US" sz="2400">
                  <a:solidFill>
                    <a:srgbClr val="000000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Automated model gates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095500" y="8724900"/>
            <a:ext cx="14097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3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SIC8 turns payment velocity into a competitive advantage.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DAHZa2MBwVU</dc:identifier>
  <dcterms:modified xsi:type="dcterms:W3CDTF">2011-08-01T06:04:30Z</dcterms:modified>
  <cp:revision>1</cp:revision>
  <dc:title>SIC8 Anti-Fraud Lakehouse</dc:title>
</cp:coreProperties>
</file>