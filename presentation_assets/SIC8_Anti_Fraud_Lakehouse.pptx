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slide+xml" PartName="/ppt/slides/slide18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x="18288000" cy="10287000"/>
  <p:notesSz cx="6858000" cy="9144000"/>
  <p:embeddedFontLst>
    <p:embeddedFont>
      <p:font typeface="Archivo Black" charset="1" panose="020B0A03020202020B04"/>
      <p:regular r:id="rId24"/>
    </p:embeddedFont>
    <p:embeddedFont>
      <p:font typeface="Akzidenz-Grotesk" charset="1" panose="02000503030000020003"/>
      <p:regular r:id="rId25"/>
    </p:embeddedFont>
    <p:embeddedFont>
      <p:font typeface="Akzidenz-Grotesk Bold" charset="1" panose="02000803050000020004"/>
      <p:regular r:id="rId2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slides/slide16.xml" Type="http://schemas.openxmlformats.org/officeDocument/2006/relationships/slide"/><Relationship Id="rId22" Target="slides/slide17.xml" Type="http://schemas.openxmlformats.org/officeDocument/2006/relationships/slide"/><Relationship Id="rId23" Target="slides/slide18.xml" Type="http://schemas.openxmlformats.org/officeDocument/2006/relationships/slide"/><Relationship Id="rId24" Target="fonts/font24.fntdata" Type="http://schemas.openxmlformats.org/officeDocument/2006/relationships/font"/><Relationship Id="rId25" Target="fonts/font25.fntdata" Type="http://schemas.openxmlformats.org/officeDocument/2006/relationships/font"/><Relationship Id="rId26" Target="fonts/font26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.png" Type="http://schemas.openxmlformats.org/officeDocument/2006/relationships/image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A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9620250" cy="10287000"/>
            <a:chOff x="0" y="0"/>
            <a:chExt cx="12827000" cy="137160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2827000" cy="13716000"/>
            </a:xfrm>
            <a:custGeom>
              <a:avLst/>
              <a:gdLst/>
              <a:ahLst/>
              <a:cxnLst/>
              <a:rect r="r" b="b" t="t" l="l"/>
              <a:pathLst>
                <a:path h="13716000" w="12827000">
                  <a:moveTo>
                    <a:pt x="0" y="0"/>
                  </a:moveTo>
                  <a:lnTo>
                    <a:pt x="12827000" y="0"/>
                  </a:lnTo>
                  <a:lnTo>
                    <a:pt x="12827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E600"/>
            </a:solidFill>
            <a:ln cap="sq">
              <a:noFill/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2827000" cy="13754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9525000" y="0"/>
            <a:ext cx="8763000" cy="10287000"/>
          </a:xfrm>
          <a:custGeom>
            <a:avLst/>
            <a:gdLst/>
            <a:ahLst/>
            <a:cxnLst/>
            <a:rect r="r" b="b" t="t" l="l"/>
            <a:pathLst>
              <a:path h="10287000" w="8763000">
                <a:moveTo>
                  <a:pt x="0" y="0"/>
                </a:moveTo>
                <a:lnTo>
                  <a:pt x="8763000" y="0"/>
                </a:lnTo>
                <a:lnTo>
                  <a:pt x="8763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5" r="0" b="-35"/>
            </a:stretch>
          </a:blipFill>
          <a:ln cap="sq">
            <a:noFill/>
            <a:prstDash val="solid"/>
            <a:miter/>
          </a:ln>
        </p:spPr>
      </p:sp>
      <p:sp>
        <p:nvSpPr>
          <p:cNvPr name="TextBox 6" id="6"/>
          <p:cNvSpPr txBox="true"/>
          <p:nvPr/>
        </p:nvSpPr>
        <p:spPr>
          <a:xfrm rot="0">
            <a:off x="819150" y="1276350"/>
            <a:ext cx="7239000" cy="17541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3082"/>
              </a:lnSpc>
            </a:pPr>
            <a:r>
              <a:rPr lang="en-US" sz="13350">
                <a:solidFill>
                  <a:srgbClr val="000000"/>
                </a:solidFill>
                <a:latin typeface="Archivo Black"/>
                <a:ea typeface="Archivo Black"/>
                <a:cs typeface="Archivo Black"/>
                <a:sym typeface="Archivo Black"/>
              </a:rPr>
              <a:t>SIC8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819150" y="3048000"/>
            <a:ext cx="7810500" cy="128339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924"/>
              </a:lnSpc>
            </a:pPr>
            <a:r>
              <a:rPr lang="en-US" sz="5025">
                <a:solidFill>
                  <a:srgbClr val="000000"/>
                </a:solidFill>
                <a:latin typeface="Archivo Black"/>
                <a:ea typeface="Archivo Black"/>
                <a:cs typeface="Archivo Black"/>
                <a:sym typeface="Archivo Black"/>
              </a:rPr>
              <a:t>REAL-TIME</a:t>
            </a:r>
          </a:p>
          <a:p>
            <a:pPr algn="l">
              <a:lnSpc>
                <a:spcPts val="4924"/>
              </a:lnSpc>
            </a:pPr>
            <a:r>
              <a:rPr lang="en-US" sz="5025">
                <a:solidFill>
                  <a:srgbClr val="000000"/>
                </a:solidFill>
                <a:latin typeface="Archivo Black"/>
                <a:ea typeface="Archivo Black"/>
                <a:cs typeface="Archivo Black"/>
                <a:sym typeface="Archivo Black"/>
              </a:rPr>
              <a:t>PAYMENT INGESTION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819150" y="6372225"/>
            <a:ext cx="7239000" cy="8410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87"/>
              </a:lnSpc>
            </a:pPr>
            <a:r>
              <a:rPr lang="en-US" sz="2550">
                <a:solidFill>
                  <a:srgbClr val="000000"/>
                </a:solidFill>
                <a:latin typeface="Akzidenz-Grotesk"/>
                <a:ea typeface="Akzidenz-Grotesk"/>
                <a:cs typeface="Akzidenz-Grotesk"/>
                <a:sym typeface="Akzidenz-Grotesk"/>
              </a:rPr>
              <a:t>Zero DB inserts. Sub-10ms fraud scoring. One Medallion Lakehouse.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819150" y="8524875"/>
            <a:ext cx="7239000" cy="3219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50"/>
              </a:lnSpc>
            </a:pPr>
            <a:r>
              <a:rPr lang="en-US" sz="1800">
                <a:solidFill>
                  <a:srgbClr val="000000"/>
                </a:solidFill>
                <a:latin typeface="Akzidenz-Grotesk"/>
                <a:ea typeface="Akzidenz-Grotesk"/>
                <a:cs typeface="Akzidenz-Grotesk"/>
                <a:sym typeface="Akzidenz-Grotesk"/>
              </a:rPr>
              <a:t>AWS S3  ×  DATABRICKS  ×  MSK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bg>
      <p:bgPr>
        <a:solidFill>
          <a:srgbClr val="FA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819150" y="647700"/>
            <a:ext cx="16649700" cy="6294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04"/>
              </a:lnSpc>
            </a:pPr>
            <a:r>
              <a:rPr lang="en-US" sz="4800">
                <a:solidFill>
                  <a:srgbClr val="000000"/>
                </a:solidFill>
                <a:latin typeface="Archivo Black"/>
                <a:ea typeface="Archivo Black"/>
                <a:cs typeface="Archivo Black"/>
                <a:sym typeface="Archivo Black"/>
              </a:rPr>
              <a:t>THE INGESTION DILEMMA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819150" y="1400937"/>
            <a:ext cx="13811250" cy="3309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3"/>
              </a:lnSpc>
            </a:pPr>
            <a:r>
              <a:rPr lang="en-US" sz="1875">
                <a:solidFill>
                  <a:srgbClr val="000000"/>
                </a:solidFill>
                <a:latin typeface="Akzidenz-Grotesk"/>
                <a:ea typeface="Akzidenz-Grotesk"/>
                <a:cs typeface="Akzidenz-Grotesk"/>
                <a:sym typeface="Akzidenz-Grotesk"/>
              </a:rPr>
              <a:t>High transaction velocity turns a familiar RDBMS into a shared choke point.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1104900" y="3009900"/>
            <a:ext cx="2857500" cy="1428750"/>
            <a:chOff x="0" y="0"/>
            <a:chExt cx="3810000" cy="1905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3810000" cy="1905000"/>
            </a:xfrm>
            <a:custGeom>
              <a:avLst/>
              <a:gdLst/>
              <a:ahLst/>
              <a:cxnLst/>
              <a:rect r="r" b="b" t="t" l="l"/>
              <a:pathLst>
                <a:path h="1905000" w="3810000">
                  <a:moveTo>
                    <a:pt x="0" y="0"/>
                  </a:moveTo>
                  <a:lnTo>
                    <a:pt x="3810000" y="0"/>
                  </a:lnTo>
                  <a:lnTo>
                    <a:pt x="3810000" y="1905000"/>
                  </a:lnTo>
                  <a:lnTo>
                    <a:pt x="0" y="1905000"/>
                  </a:lnTo>
                  <a:close/>
                </a:path>
              </a:pathLst>
            </a:custGeom>
            <a:solidFill>
              <a:srgbClr val="000000"/>
            </a:solidFill>
            <a:ln cap="sq">
              <a:noFill/>
              <a:prstDash val="solid"/>
              <a:miter/>
            </a:ln>
          </p:spPr>
        </p:sp>
        <p:sp>
          <p:nvSpPr>
            <p:cNvPr name="TextBox 6" id="6"/>
            <p:cNvSpPr txBox="true"/>
            <p:nvPr/>
          </p:nvSpPr>
          <p:spPr>
            <a:xfrm>
              <a:off x="0" y="-38100"/>
              <a:ext cx="3810000" cy="194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047750" y="2952750"/>
            <a:ext cx="2857500" cy="1428750"/>
            <a:chOff x="0" y="0"/>
            <a:chExt cx="3810000" cy="1905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3810000" cy="1905000"/>
            </a:xfrm>
            <a:custGeom>
              <a:avLst/>
              <a:gdLst/>
              <a:ahLst/>
              <a:cxnLst/>
              <a:rect r="r" b="b" t="t" l="l"/>
              <a:pathLst>
                <a:path h="1905000" w="3810000">
                  <a:moveTo>
                    <a:pt x="33867" y="0"/>
                  </a:moveTo>
                  <a:lnTo>
                    <a:pt x="3776133" y="0"/>
                  </a:lnTo>
                  <a:cubicBezTo>
                    <a:pt x="3794837" y="0"/>
                    <a:pt x="3810000" y="15163"/>
                    <a:pt x="3810000" y="33867"/>
                  </a:cubicBezTo>
                  <a:lnTo>
                    <a:pt x="3810000" y="1871133"/>
                  </a:lnTo>
                  <a:cubicBezTo>
                    <a:pt x="3810000" y="1889837"/>
                    <a:pt x="3794837" y="1905000"/>
                    <a:pt x="3776133" y="1905000"/>
                  </a:cubicBezTo>
                  <a:lnTo>
                    <a:pt x="33867" y="1905000"/>
                  </a:lnTo>
                  <a:cubicBezTo>
                    <a:pt x="15163" y="1905000"/>
                    <a:pt x="0" y="1889837"/>
                    <a:pt x="0" y="1871133"/>
                  </a:cubicBezTo>
                  <a:lnTo>
                    <a:pt x="0" y="33867"/>
                  </a:lnTo>
                  <a:cubicBezTo>
                    <a:pt x="0" y="15163"/>
                    <a:pt x="15163" y="0"/>
                    <a:pt x="33867" y="0"/>
                  </a:cubicBezTo>
                  <a:close/>
                </a:path>
              </a:pathLst>
            </a:custGeom>
            <a:solidFill>
              <a:srgbClr val="FFE600"/>
            </a:solidFill>
            <a:ln w="3810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9" id="9"/>
            <p:cNvSpPr txBox="true"/>
            <p:nvPr/>
          </p:nvSpPr>
          <p:spPr>
            <a:xfrm>
              <a:off x="0" y="-19050"/>
              <a:ext cx="3810000" cy="19240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05"/>
                </a:lnSpc>
              </a:pPr>
              <a:r>
                <a:rPr lang="en-US" sz="2100" b="true">
                  <a:solidFill>
                    <a:srgbClr val="000000"/>
                  </a:solidFill>
                  <a:latin typeface="Akzidenz-Grotesk Bold"/>
                  <a:ea typeface="Akzidenz-Grotesk Bold"/>
                  <a:cs typeface="Akzidenz-Grotesk Bold"/>
                  <a:sym typeface="Akzidenz-Grotesk Bold"/>
                </a:rPr>
                <a:t>PAYMENTS</a:t>
              </a:r>
            </a:p>
            <a:p>
              <a:pPr algn="ctr">
                <a:lnSpc>
                  <a:spcPts val="2205"/>
                </a:lnSpc>
              </a:pPr>
              <a:r>
                <a:rPr lang="en-US" sz="2100" b="true">
                  <a:solidFill>
                    <a:srgbClr val="000000"/>
                  </a:solidFill>
                  <a:latin typeface="Akzidenz-Grotesk Bold"/>
                  <a:ea typeface="Akzidenz-Grotesk Bold"/>
                  <a:cs typeface="Akzidenz-Grotesk Bold"/>
                  <a:sym typeface="Akzidenz-Grotesk Bold"/>
                </a:rPr>
                <a:t>APIs + EVENTS</a:t>
              </a:r>
            </a:p>
          </p:txBody>
        </p:sp>
      </p:grpSp>
      <p:sp>
        <p:nvSpPr>
          <p:cNvPr name="AutoShape 10" id="10"/>
          <p:cNvSpPr/>
          <p:nvPr/>
        </p:nvSpPr>
        <p:spPr>
          <a:xfrm>
            <a:off x="2476500" y="4476750"/>
            <a:ext cx="6667500" cy="1333500"/>
          </a:xfrm>
          <a:prstGeom prst="line">
            <a:avLst/>
          </a:prstGeom>
          <a:ln cap="rnd" w="47625">
            <a:solidFill>
              <a:srgbClr val="000000"/>
            </a:solidFill>
            <a:prstDash val="solid"/>
            <a:headEnd type="none" len="sm" w="sm"/>
            <a:tailEnd type="arrow" len="sm" w="med"/>
          </a:ln>
        </p:spPr>
      </p:sp>
      <p:grpSp>
        <p:nvGrpSpPr>
          <p:cNvPr name="Group 11" id="11"/>
          <p:cNvGrpSpPr/>
          <p:nvPr/>
        </p:nvGrpSpPr>
        <p:grpSpPr>
          <a:xfrm rot="0">
            <a:off x="4914900" y="3009900"/>
            <a:ext cx="2857500" cy="1428750"/>
            <a:chOff x="0" y="0"/>
            <a:chExt cx="3810000" cy="19050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3810000" cy="1905000"/>
            </a:xfrm>
            <a:custGeom>
              <a:avLst/>
              <a:gdLst/>
              <a:ahLst/>
              <a:cxnLst/>
              <a:rect r="r" b="b" t="t" l="l"/>
              <a:pathLst>
                <a:path h="1905000" w="3810000">
                  <a:moveTo>
                    <a:pt x="0" y="0"/>
                  </a:moveTo>
                  <a:lnTo>
                    <a:pt x="3810000" y="0"/>
                  </a:lnTo>
                  <a:lnTo>
                    <a:pt x="3810000" y="1905000"/>
                  </a:lnTo>
                  <a:lnTo>
                    <a:pt x="0" y="1905000"/>
                  </a:lnTo>
                  <a:close/>
                </a:path>
              </a:pathLst>
            </a:custGeom>
            <a:solidFill>
              <a:srgbClr val="000000"/>
            </a:solidFill>
            <a:ln cap="sq">
              <a:noFill/>
              <a:prstDash val="solid"/>
              <a:miter/>
            </a:ln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3810000" cy="194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4857750" y="2952750"/>
            <a:ext cx="2857500" cy="1428750"/>
            <a:chOff x="0" y="0"/>
            <a:chExt cx="3810000" cy="19050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3810000" cy="1905000"/>
            </a:xfrm>
            <a:custGeom>
              <a:avLst/>
              <a:gdLst/>
              <a:ahLst/>
              <a:cxnLst/>
              <a:rect r="r" b="b" t="t" l="l"/>
              <a:pathLst>
                <a:path h="1905000" w="3810000">
                  <a:moveTo>
                    <a:pt x="33867" y="0"/>
                  </a:moveTo>
                  <a:lnTo>
                    <a:pt x="3776133" y="0"/>
                  </a:lnTo>
                  <a:cubicBezTo>
                    <a:pt x="3794837" y="0"/>
                    <a:pt x="3810000" y="15163"/>
                    <a:pt x="3810000" y="33867"/>
                  </a:cubicBezTo>
                  <a:lnTo>
                    <a:pt x="3810000" y="1871133"/>
                  </a:lnTo>
                  <a:cubicBezTo>
                    <a:pt x="3810000" y="1889837"/>
                    <a:pt x="3794837" y="1905000"/>
                    <a:pt x="3776133" y="1905000"/>
                  </a:cubicBezTo>
                  <a:lnTo>
                    <a:pt x="33867" y="1905000"/>
                  </a:lnTo>
                  <a:cubicBezTo>
                    <a:pt x="15163" y="1905000"/>
                    <a:pt x="0" y="1889837"/>
                    <a:pt x="0" y="1871133"/>
                  </a:cubicBezTo>
                  <a:lnTo>
                    <a:pt x="0" y="33867"/>
                  </a:lnTo>
                  <a:cubicBezTo>
                    <a:pt x="0" y="15163"/>
                    <a:pt x="15163" y="0"/>
                    <a:pt x="33867" y="0"/>
                  </a:cubicBezTo>
                  <a:close/>
                </a:path>
              </a:pathLst>
            </a:custGeom>
            <a:solidFill>
              <a:srgbClr val="00F5A0"/>
            </a:solidFill>
            <a:ln w="3810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0" y="-19050"/>
              <a:ext cx="3810000" cy="19240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05"/>
                </a:lnSpc>
              </a:pPr>
              <a:r>
                <a:rPr lang="en-US" sz="2100" b="true">
                  <a:solidFill>
                    <a:srgbClr val="000000"/>
                  </a:solidFill>
                  <a:latin typeface="Akzidenz-Grotesk Bold"/>
                  <a:ea typeface="Akzidenz-Grotesk Bold"/>
                  <a:cs typeface="Akzidenz-Grotesk Bold"/>
                  <a:sym typeface="Akzidenz-Grotesk Bold"/>
                </a:rPr>
                <a:t>CUSTOMERS</a:t>
              </a:r>
            </a:p>
            <a:p>
              <a:pPr algn="ctr">
                <a:lnSpc>
                  <a:spcPts val="2205"/>
                </a:lnSpc>
              </a:pPr>
              <a:r>
                <a:rPr lang="en-US" sz="2100" b="true">
                  <a:solidFill>
                    <a:srgbClr val="000000"/>
                  </a:solidFill>
                  <a:latin typeface="Akzidenz-Grotesk Bold"/>
                  <a:ea typeface="Akzidenz-Grotesk Bold"/>
                  <a:cs typeface="Akzidenz-Grotesk Bold"/>
                  <a:sym typeface="Akzidenz-Grotesk Bold"/>
                </a:rPr>
                <a:t>POSTGRESQL</a:t>
              </a:r>
            </a:p>
          </p:txBody>
        </p:sp>
      </p:grpSp>
      <p:sp>
        <p:nvSpPr>
          <p:cNvPr name="AutoShape 17" id="17"/>
          <p:cNvSpPr/>
          <p:nvPr/>
        </p:nvSpPr>
        <p:spPr>
          <a:xfrm>
            <a:off x="6286500" y="4476750"/>
            <a:ext cx="2857500" cy="1333500"/>
          </a:xfrm>
          <a:prstGeom prst="line">
            <a:avLst/>
          </a:prstGeom>
          <a:ln cap="rnd" w="47625">
            <a:solidFill>
              <a:srgbClr val="000000"/>
            </a:solidFill>
            <a:prstDash val="solid"/>
            <a:headEnd type="none" len="sm" w="sm"/>
            <a:tailEnd type="arrow" len="sm" w="med"/>
          </a:ln>
        </p:spPr>
      </p:sp>
      <p:grpSp>
        <p:nvGrpSpPr>
          <p:cNvPr name="Group 18" id="18"/>
          <p:cNvGrpSpPr/>
          <p:nvPr/>
        </p:nvGrpSpPr>
        <p:grpSpPr>
          <a:xfrm rot="0">
            <a:off x="8724900" y="3009900"/>
            <a:ext cx="2857500" cy="1428750"/>
            <a:chOff x="0" y="0"/>
            <a:chExt cx="3810000" cy="190500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3810000" cy="1905000"/>
            </a:xfrm>
            <a:custGeom>
              <a:avLst/>
              <a:gdLst/>
              <a:ahLst/>
              <a:cxnLst/>
              <a:rect r="r" b="b" t="t" l="l"/>
              <a:pathLst>
                <a:path h="1905000" w="3810000">
                  <a:moveTo>
                    <a:pt x="0" y="0"/>
                  </a:moveTo>
                  <a:lnTo>
                    <a:pt x="3810000" y="0"/>
                  </a:lnTo>
                  <a:lnTo>
                    <a:pt x="3810000" y="1905000"/>
                  </a:lnTo>
                  <a:lnTo>
                    <a:pt x="0" y="1905000"/>
                  </a:lnTo>
                  <a:close/>
                </a:path>
              </a:pathLst>
            </a:custGeom>
            <a:solidFill>
              <a:srgbClr val="000000"/>
            </a:solidFill>
            <a:ln cap="sq">
              <a:noFill/>
              <a:prstDash val="solid"/>
              <a:miter/>
            </a:ln>
          </p:spPr>
        </p:sp>
        <p:sp>
          <p:nvSpPr>
            <p:cNvPr name="TextBox 20" id="20"/>
            <p:cNvSpPr txBox="true"/>
            <p:nvPr/>
          </p:nvSpPr>
          <p:spPr>
            <a:xfrm>
              <a:off x="0" y="-38100"/>
              <a:ext cx="3810000" cy="194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8667750" y="2952750"/>
            <a:ext cx="2857500" cy="1428750"/>
            <a:chOff x="0" y="0"/>
            <a:chExt cx="3810000" cy="190500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3810000" cy="1905000"/>
            </a:xfrm>
            <a:custGeom>
              <a:avLst/>
              <a:gdLst/>
              <a:ahLst/>
              <a:cxnLst/>
              <a:rect r="r" b="b" t="t" l="l"/>
              <a:pathLst>
                <a:path h="1905000" w="3810000">
                  <a:moveTo>
                    <a:pt x="33867" y="0"/>
                  </a:moveTo>
                  <a:lnTo>
                    <a:pt x="3776133" y="0"/>
                  </a:lnTo>
                  <a:cubicBezTo>
                    <a:pt x="3794837" y="0"/>
                    <a:pt x="3810000" y="15163"/>
                    <a:pt x="3810000" y="33867"/>
                  </a:cubicBezTo>
                  <a:lnTo>
                    <a:pt x="3810000" y="1871133"/>
                  </a:lnTo>
                  <a:cubicBezTo>
                    <a:pt x="3810000" y="1889837"/>
                    <a:pt x="3794837" y="1905000"/>
                    <a:pt x="3776133" y="1905000"/>
                  </a:cubicBezTo>
                  <a:lnTo>
                    <a:pt x="33867" y="1905000"/>
                  </a:lnTo>
                  <a:cubicBezTo>
                    <a:pt x="15163" y="1905000"/>
                    <a:pt x="0" y="1889837"/>
                    <a:pt x="0" y="1871133"/>
                  </a:cubicBezTo>
                  <a:lnTo>
                    <a:pt x="0" y="33867"/>
                  </a:lnTo>
                  <a:cubicBezTo>
                    <a:pt x="0" y="15163"/>
                    <a:pt x="15163" y="0"/>
                    <a:pt x="33867" y="0"/>
                  </a:cubicBezTo>
                  <a:close/>
                </a:path>
              </a:pathLst>
            </a:custGeom>
            <a:solidFill>
              <a:srgbClr val="7C3AED"/>
            </a:solidFill>
            <a:ln w="3810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23" id="23"/>
            <p:cNvSpPr txBox="true"/>
            <p:nvPr/>
          </p:nvSpPr>
          <p:spPr>
            <a:xfrm>
              <a:off x="0" y="-19050"/>
              <a:ext cx="3810000" cy="19240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05"/>
                </a:lnSpc>
              </a:pPr>
              <a:r>
                <a:rPr lang="en-US" sz="2100" b="true">
                  <a:solidFill>
                    <a:srgbClr val="000000"/>
                  </a:solidFill>
                  <a:latin typeface="Akzidenz-Grotesk Bold"/>
                  <a:ea typeface="Akzidenz-Grotesk Bold"/>
                  <a:cs typeface="Akzidenz-Grotesk Bold"/>
                  <a:sym typeface="Akzidenz-Grotesk Bold"/>
                </a:rPr>
                <a:t>REFERENCE</a:t>
              </a:r>
            </a:p>
            <a:p>
              <a:pPr algn="ctr">
                <a:lnSpc>
                  <a:spcPts val="2205"/>
                </a:lnSpc>
              </a:pPr>
              <a:r>
                <a:rPr lang="en-US" sz="2100" b="true">
                  <a:solidFill>
                    <a:srgbClr val="000000"/>
                  </a:solidFill>
                  <a:latin typeface="Akzidenz-Grotesk Bold"/>
                  <a:ea typeface="Akzidenz-Grotesk Bold"/>
                  <a:cs typeface="Akzidenz-Grotesk Bold"/>
                  <a:sym typeface="Akzidenz-Grotesk Bold"/>
                </a:rPr>
                <a:t>DAILY FILES</a:t>
              </a:r>
            </a:p>
          </p:txBody>
        </p:sp>
      </p:grpSp>
      <p:sp>
        <p:nvSpPr>
          <p:cNvPr name="AutoShape 24" id="24"/>
          <p:cNvSpPr/>
          <p:nvPr/>
        </p:nvSpPr>
        <p:spPr>
          <a:xfrm flipH="true">
            <a:off x="9144000" y="4476750"/>
            <a:ext cx="952500" cy="1333500"/>
          </a:xfrm>
          <a:prstGeom prst="line">
            <a:avLst/>
          </a:prstGeom>
          <a:ln cap="rnd" w="47625">
            <a:solidFill>
              <a:srgbClr val="000000"/>
            </a:solidFill>
            <a:prstDash val="solid"/>
            <a:headEnd type="none" len="sm" w="sm"/>
            <a:tailEnd type="arrow" len="sm" w="med"/>
          </a:ln>
        </p:spPr>
      </p:sp>
      <p:grpSp>
        <p:nvGrpSpPr>
          <p:cNvPr name="Group 25" id="25"/>
          <p:cNvGrpSpPr/>
          <p:nvPr/>
        </p:nvGrpSpPr>
        <p:grpSpPr>
          <a:xfrm rot="0">
            <a:off x="7153275" y="5867400"/>
            <a:ext cx="4095750" cy="1809750"/>
            <a:chOff x="0" y="0"/>
            <a:chExt cx="5461000" cy="241300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5461000" cy="2413000"/>
            </a:xfrm>
            <a:custGeom>
              <a:avLst/>
              <a:gdLst/>
              <a:ahLst/>
              <a:cxnLst/>
              <a:rect r="r" b="b" t="t" l="l"/>
              <a:pathLst>
                <a:path h="2413000" w="5461000">
                  <a:moveTo>
                    <a:pt x="0" y="0"/>
                  </a:moveTo>
                  <a:lnTo>
                    <a:pt x="5461000" y="0"/>
                  </a:lnTo>
                  <a:lnTo>
                    <a:pt x="5461000" y="2413000"/>
                  </a:lnTo>
                  <a:lnTo>
                    <a:pt x="0" y="2413000"/>
                  </a:lnTo>
                  <a:close/>
                </a:path>
              </a:pathLst>
            </a:custGeom>
            <a:solidFill>
              <a:srgbClr val="000000"/>
            </a:solidFill>
            <a:ln cap="sq">
              <a:noFill/>
              <a:prstDash val="solid"/>
              <a:miter/>
            </a:ln>
          </p:spPr>
        </p:sp>
        <p:sp>
          <p:nvSpPr>
            <p:cNvPr name="TextBox 27" id="27"/>
            <p:cNvSpPr txBox="true"/>
            <p:nvPr/>
          </p:nvSpPr>
          <p:spPr>
            <a:xfrm>
              <a:off x="0" y="-38100"/>
              <a:ext cx="5461000" cy="245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8" id="28"/>
          <p:cNvGrpSpPr/>
          <p:nvPr/>
        </p:nvGrpSpPr>
        <p:grpSpPr>
          <a:xfrm rot="0">
            <a:off x="7096125" y="5810250"/>
            <a:ext cx="4095750" cy="1809750"/>
            <a:chOff x="0" y="0"/>
            <a:chExt cx="5461000" cy="241300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5461000" cy="2413000"/>
            </a:xfrm>
            <a:custGeom>
              <a:avLst/>
              <a:gdLst/>
              <a:ahLst/>
              <a:cxnLst/>
              <a:rect r="r" b="b" t="t" l="l"/>
              <a:pathLst>
                <a:path h="2413000" w="5461000">
                  <a:moveTo>
                    <a:pt x="23628" y="0"/>
                  </a:moveTo>
                  <a:lnTo>
                    <a:pt x="5437372" y="0"/>
                  </a:lnTo>
                  <a:cubicBezTo>
                    <a:pt x="5450422" y="0"/>
                    <a:pt x="5461000" y="10579"/>
                    <a:pt x="5461000" y="23628"/>
                  </a:cubicBezTo>
                  <a:lnTo>
                    <a:pt x="5461000" y="2389372"/>
                  </a:lnTo>
                  <a:cubicBezTo>
                    <a:pt x="5461000" y="2402421"/>
                    <a:pt x="5450422" y="2413000"/>
                    <a:pt x="5437372" y="2413000"/>
                  </a:cubicBezTo>
                  <a:lnTo>
                    <a:pt x="23628" y="2413000"/>
                  </a:lnTo>
                  <a:cubicBezTo>
                    <a:pt x="10579" y="2413000"/>
                    <a:pt x="0" y="2402421"/>
                    <a:pt x="0" y="2389372"/>
                  </a:cubicBezTo>
                  <a:lnTo>
                    <a:pt x="0" y="23628"/>
                  </a:lnTo>
                  <a:cubicBezTo>
                    <a:pt x="0" y="10579"/>
                    <a:pt x="10579" y="0"/>
                    <a:pt x="23628" y="0"/>
                  </a:cubicBezTo>
                  <a:close/>
                </a:path>
              </a:pathLst>
            </a:custGeom>
            <a:solidFill>
              <a:srgbClr val="FF4757"/>
            </a:solidFill>
            <a:ln w="3810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30" id="30"/>
            <p:cNvSpPr txBox="true"/>
            <p:nvPr/>
          </p:nvSpPr>
          <p:spPr>
            <a:xfrm>
              <a:off x="0" y="-19050"/>
              <a:ext cx="5461000" cy="24320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35"/>
                </a:lnSpc>
              </a:pPr>
              <a:r>
                <a:rPr lang="en-US" sz="2700" b="true">
                  <a:solidFill>
                    <a:srgbClr val="000000"/>
                  </a:solidFill>
                  <a:latin typeface="Akzidenz-Grotesk Bold"/>
                  <a:ea typeface="Akzidenz-Grotesk Bold"/>
                  <a:cs typeface="Akzidenz-Grotesk Bold"/>
                  <a:sym typeface="Akzidenz-Grotesk Bold"/>
                </a:rPr>
                <a:t>RDBMS</a:t>
              </a:r>
            </a:p>
            <a:p>
              <a:pPr algn="ctr">
                <a:lnSpc>
                  <a:spcPts val="2835"/>
                </a:lnSpc>
              </a:pPr>
              <a:r>
                <a:rPr lang="en-US" sz="2700" b="true">
                  <a:solidFill>
                    <a:srgbClr val="000000"/>
                  </a:solidFill>
                  <a:latin typeface="Akzidenz-Grotesk Bold"/>
                  <a:ea typeface="Akzidenz-Grotesk Bold"/>
                  <a:cs typeface="Akzidenz-Grotesk Bold"/>
                  <a:sym typeface="Akzidenz-Grotesk Bold"/>
                </a:rPr>
                <a:t>WRITE EXHAUSTION</a:t>
              </a:r>
            </a:p>
          </p:txBody>
        </p:sp>
      </p:grpSp>
      <p:sp>
        <p:nvSpPr>
          <p:cNvPr name="TextBox 31" id="31"/>
          <p:cNvSpPr txBox="true"/>
          <p:nvPr/>
        </p:nvSpPr>
        <p:spPr>
          <a:xfrm rot="0">
            <a:off x="4095750" y="8382000"/>
            <a:ext cx="10096500" cy="3147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352"/>
              </a:lnSpc>
            </a:pPr>
            <a:r>
              <a:rPr lang="en-US" sz="2400">
                <a:solidFill>
                  <a:srgbClr val="000000"/>
                </a:solidFill>
                <a:latin typeface="Archivo Black"/>
                <a:ea typeface="Archivo Black"/>
                <a:cs typeface="Archivo Black"/>
                <a:sym typeface="Archivo Black"/>
              </a:rPr>
              <a:t>LOCKS  •  I/O  •  POLLING  •  DOUBLE-WRITES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bg>
      <p:bgPr>
        <a:solidFill>
          <a:srgbClr val="FA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819150" y="647700"/>
            <a:ext cx="16649700" cy="6294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04"/>
              </a:lnSpc>
            </a:pPr>
            <a:r>
              <a:rPr lang="en-US" sz="4800">
                <a:solidFill>
                  <a:srgbClr val="000000"/>
                </a:solidFill>
                <a:latin typeface="Archivo Black"/>
                <a:ea typeface="Archivo Black"/>
                <a:cs typeface="Archivo Black"/>
                <a:sym typeface="Archivo Black"/>
              </a:rPr>
              <a:t>DECOUPLE INGESTION FROM PERSISTENCE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819150" y="1400937"/>
            <a:ext cx="13811250" cy="3309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3"/>
              </a:lnSpc>
            </a:pPr>
            <a:r>
              <a:rPr lang="en-US" sz="1875">
                <a:solidFill>
                  <a:srgbClr val="000000"/>
                </a:solidFill>
                <a:latin typeface="Akzidenz-Grotesk"/>
                <a:ea typeface="Akzidenz-Grotesk"/>
                <a:cs typeface="Akzidenz-Grotesk"/>
                <a:sym typeface="Akzidenz-Grotesk"/>
              </a:rPr>
              <a:t>Four paths, one event contract, zero relational inserts on the payment hot path.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914400" y="3009900"/>
            <a:ext cx="3429000" cy="1714500"/>
            <a:chOff x="0" y="0"/>
            <a:chExt cx="4572000" cy="2286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45720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4572000">
                  <a:moveTo>
                    <a:pt x="0" y="0"/>
                  </a:moveTo>
                  <a:lnTo>
                    <a:pt x="4572000" y="0"/>
                  </a:lnTo>
                  <a:lnTo>
                    <a:pt x="4572000" y="2286000"/>
                  </a:lnTo>
                  <a:lnTo>
                    <a:pt x="0" y="2286000"/>
                  </a:lnTo>
                  <a:close/>
                </a:path>
              </a:pathLst>
            </a:custGeom>
            <a:solidFill>
              <a:srgbClr val="000000"/>
            </a:solidFill>
            <a:ln cap="sq">
              <a:noFill/>
              <a:prstDash val="solid"/>
              <a:miter/>
            </a:ln>
          </p:spPr>
        </p:sp>
        <p:sp>
          <p:nvSpPr>
            <p:cNvPr name="TextBox 6" id="6"/>
            <p:cNvSpPr txBox="true"/>
            <p:nvPr/>
          </p:nvSpPr>
          <p:spPr>
            <a:xfrm>
              <a:off x="0" y="-38100"/>
              <a:ext cx="4572000" cy="2324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857250" y="2952750"/>
            <a:ext cx="3429000" cy="1714500"/>
            <a:chOff x="0" y="0"/>
            <a:chExt cx="4572000" cy="2286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45720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4572000">
                  <a:moveTo>
                    <a:pt x="28222" y="0"/>
                  </a:moveTo>
                  <a:lnTo>
                    <a:pt x="4543778" y="0"/>
                  </a:lnTo>
                  <a:cubicBezTo>
                    <a:pt x="4551263" y="0"/>
                    <a:pt x="4558441" y="2973"/>
                    <a:pt x="4563734" y="8266"/>
                  </a:cubicBezTo>
                  <a:cubicBezTo>
                    <a:pt x="4569027" y="13559"/>
                    <a:pt x="4572000" y="20737"/>
                    <a:pt x="4572000" y="28222"/>
                  </a:cubicBezTo>
                  <a:lnTo>
                    <a:pt x="4572000" y="2257778"/>
                  </a:lnTo>
                  <a:cubicBezTo>
                    <a:pt x="4572000" y="2265263"/>
                    <a:pt x="4569027" y="2272441"/>
                    <a:pt x="4563734" y="2277734"/>
                  </a:cubicBezTo>
                  <a:cubicBezTo>
                    <a:pt x="4558441" y="2283027"/>
                    <a:pt x="4551263" y="2286000"/>
                    <a:pt x="4543778" y="2286000"/>
                  </a:cubicBezTo>
                  <a:lnTo>
                    <a:pt x="28222" y="2286000"/>
                  </a:lnTo>
                  <a:cubicBezTo>
                    <a:pt x="20737" y="2286000"/>
                    <a:pt x="13559" y="2283027"/>
                    <a:pt x="8266" y="2277734"/>
                  </a:cubicBezTo>
                  <a:cubicBezTo>
                    <a:pt x="2973" y="2272441"/>
                    <a:pt x="0" y="2265263"/>
                    <a:pt x="0" y="2257778"/>
                  </a:cubicBezTo>
                  <a:lnTo>
                    <a:pt x="0" y="28222"/>
                  </a:lnTo>
                  <a:cubicBezTo>
                    <a:pt x="0" y="20737"/>
                    <a:pt x="2973" y="13559"/>
                    <a:pt x="8266" y="8266"/>
                  </a:cubicBezTo>
                  <a:cubicBezTo>
                    <a:pt x="13559" y="2973"/>
                    <a:pt x="20737" y="0"/>
                    <a:pt x="28222" y="0"/>
                  </a:cubicBezTo>
                  <a:close/>
                </a:path>
              </a:pathLst>
            </a:custGeom>
            <a:solidFill>
              <a:srgbClr val="FFE600"/>
            </a:solidFill>
            <a:ln w="3810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9" id="9"/>
            <p:cNvSpPr txBox="true"/>
            <p:nvPr/>
          </p:nvSpPr>
          <p:spPr>
            <a:xfrm>
              <a:off x="0" y="-19050"/>
              <a:ext cx="4572000" cy="23050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05"/>
                </a:lnSpc>
              </a:pPr>
              <a:r>
                <a:rPr lang="en-US" sz="2100" b="true">
                  <a:solidFill>
                    <a:srgbClr val="000000"/>
                  </a:solidFill>
                  <a:latin typeface="Akzidenz-Grotesk Bold"/>
                  <a:ea typeface="Akzidenz-Grotesk Bold"/>
                  <a:cs typeface="Akzidenz-Grotesk Bold"/>
                  <a:sym typeface="Akzidenz-Grotesk Bold"/>
                </a:rPr>
                <a:t>A  REAL-TIME</a:t>
              </a:r>
            </a:p>
            <a:p>
              <a:pPr algn="ctr">
                <a:lnSpc>
                  <a:spcPts val="2205"/>
                </a:lnSpc>
              </a:pPr>
              <a:r>
                <a:rPr lang="en-US" sz="2100" b="true">
                  <a:solidFill>
                    <a:srgbClr val="000000"/>
                  </a:solidFill>
                  <a:latin typeface="Akzidenz-Grotesk Bold"/>
                  <a:ea typeface="Akzidenz-Grotesk Bold"/>
                  <a:cs typeface="Akzidenz-Grotesk Bold"/>
                  <a:sym typeface="Akzidenz-Grotesk Bold"/>
                </a:rPr>
                <a:t>EVENTS</a:t>
              </a:r>
            </a:p>
          </p:txBody>
        </p:sp>
      </p:grpSp>
      <p:sp>
        <p:nvSpPr>
          <p:cNvPr name="AutoShape 10" id="10"/>
          <p:cNvSpPr/>
          <p:nvPr/>
        </p:nvSpPr>
        <p:spPr>
          <a:xfrm>
            <a:off x="2571750" y="4762500"/>
            <a:ext cx="6572250" cy="1809750"/>
          </a:xfrm>
          <a:prstGeom prst="line">
            <a:avLst/>
          </a:prstGeom>
          <a:ln cap="rnd" w="47625">
            <a:solidFill>
              <a:srgbClr val="000000"/>
            </a:solidFill>
            <a:prstDash val="solid"/>
            <a:headEnd type="none" len="sm" w="sm"/>
            <a:tailEnd type="arrow" len="sm" w="med"/>
          </a:ln>
        </p:spPr>
      </p:sp>
      <p:grpSp>
        <p:nvGrpSpPr>
          <p:cNvPr name="Group 11" id="11"/>
          <p:cNvGrpSpPr/>
          <p:nvPr/>
        </p:nvGrpSpPr>
        <p:grpSpPr>
          <a:xfrm rot="0">
            <a:off x="5248275" y="3009900"/>
            <a:ext cx="3429000" cy="1714500"/>
            <a:chOff x="0" y="0"/>
            <a:chExt cx="4572000" cy="22860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45720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4572000">
                  <a:moveTo>
                    <a:pt x="0" y="0"/>
                  </a:moveTo>
                  <a:lnTo>
                    <a:pt x="4572000" y="0"/>
                  </a:lnTo>
                  <a:lnTo>
                    <a:pt x="4572000" y="2286000"/>
                  </a:lnTo>
                  <a:lnTo>
                    <a:pt x="0" y="2286000"/>
                  </a:lnTo>
                  <a:close/>
                </a:path>
              </a:pathLst>
            </a:custGeom>
            <a:solidFill>
              <a:srgbClr val="000000"/>
            </a:solidFill>
            <a:ln cap="sq">
              <a:noFill/>
              <a:prstDash val="solid"/>
              <a:miter/>
            </a:ln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4572000" cy="2324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5191125" y="2952750"/>
            <a:ext cx="3429000" cy="1714500"/>
            <a:chOff x="0" y="0"/>
            <a:chExt cx="4572000" cy="22860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45720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4572000">
                  <a:moveTo>
                    <a:pt x="28222" y="0"/>
                  </a:moveTo>
                  <a:lnTo>
                    <a:pt x="4543778" y="0"/>
                  </a:lnTo>
                  <a:cubicBezTo>
                    <a:pt x="4551263" y="0"/>
                    <a:pt x="4558441" y="2973"/>
                    <a:pt x="4563734" y="8266"/>
                  </a:cubicBezTo>
                  <a:cubicBezTo>
                    <a:pt x="4569027" y="13559"/>
                    <a:pt x="4572000" y="20737"/>
                    <a:pt x="4572000" y="28222"/>
                  </a:cubicBezTo>
                  <a:lnTo>
                    <a:pt x="4572000" y="2257778"/>
                  </a:lnTo>
                  <a:cubicBezTo>
                    <a:pt x="4572000" y="2265263"/>
                    <a:pt x="4569027" y="2272441"/>
                    <a:pt x="4563734" y="2277734"/>
                  </a:cubicBezTo>
                  <a:cubicBezTo>
                    <a:pt x="4558441" y="2283027"/>
                    <a:pt x="4551263" y="2286000"/>
                    <a:pt x="4543778" y="2286000"/>
                  </a:cubicBezTo>
                  <a:lnTo>
                    <a:pt x="28222" y="2286000"/>
                  </a:lnTo>
                  <a:cubicBezTo>
                    <a:pt x="20737" y="2286000"/>
                    <a:pt x="13559" y="2283027"/>
                    <a:pt x="8266" y="2277734"/>
                  </a:cubicBezTo>
                  <a:cubicBezTo>
                    <a:pt x="2973" y="2272441"/>
                    <a:pt x="0" y="2265263"/>
                    <a:pt x="0" y="2257778"/>
                  </a:cubicBezTo>
                  <a:lnTo>
                    <a:pt x="0" y="28222"/>
                  </a:lnTo>
                  <a:cubicBezTo>
                    <a:pt x="0" y="20737"/>
                    <a:pt x="2973" y="13559"/>
                    <a:pt x="8266" y="8266"/>
                  </a:cubicBezTo>
                  <a:cubicBezTo>
                    <a:pt x="13559" y="2973"/>
                    <a:pt x="20737" y="0"/>
                    <a:pt x="28222" y="0"/>
                  </a:cubicBezTo>
                  <a:close/>
                </a:path>
              </a:pathLst>
            </a:custGeom>
            <a:solidFill>
              <a:srgbClr val="00F5A0"/>
            </a:solidFill>
            <a:ln w="3810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0" y="-19050"/>
              <a:ext cx="4572000" cy="23050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05"/>
                </a:lnSpc>
              </a:pPr>
              <a:r>
                <a:rPr lang="en-US" sz="2100" b="true">
                  <a:solidFill>
                    <a:srgbClr val="000000"/>
                  </a:solidFill>
                  <a:latin typeface="Akzidenz-Grotesk Bold"/>
                  <a:ea typeface="Akzidenz-Grotesk Bold"/>
                  <a:cs typeface="Akzidenz-Grotesk Bold"/>
                  <a:sym typeface="Akzidenz-Grotesk Bold"/>
                </a:rPr>
                <a:t>B  POSTGRES</a:t>
              </a:r>
            </a:p>
            <a:p>
              <a:pPr algn="ctr">
                <a:lnSpc>
                  <a:spcPts val="2205"/>
                </a:lnSpc>
              </a:pPr>
              <a:r>
                <a:rPr lang="en-US" sz="2100" b="true">
                  <a:solidFill>
                    <a:srgbClr val="000000"/>
                  </a:solidFill>
                  <a:latin typeface="Akzidenz-Grotesk Bold"/>
                  <a:ea typeface="Akzidenz-Grotesk Bold"/>
                  <a:cs typeface="Akzidenz-Grotesk Bold"/>
                  <a:sym typeface="Akzidenz-Grotesk Bold"/>
                </a:rPr>
                <a:t>CDC</a:t>
              </a:r>
            </a:p>
          </p:txBody>
        </p:sp>
      </p:grpSp>
      <p:sp>
        <p:nvSpPr>
          <p:cNvPr name="AutoShape 17" id="17"/>
          <p:cNvSpPr/>
          <p:nvPr/>
        </p:nvSpPr>
        <p:spPr>
          <a:xfrm>
            <a:off x="6905625" y="4762500"/>
            <a:ext cx="2238375" cy="1809750"/>
          </a:xfrm>
          <a:prstGeom prst="line">
            <a:avLst/>
          </a:prstGeom>
          <a:ln cap="rnd" w="47625">
            <a:solidFill>
              <a:srgbClr val="000000"/>
            </a:solidFill>
            <a:prstDash val="solid"/>
            <a:headEnd type="none" len="sm" w="sm"/>
            <a:tailEnd type="arrow" len="sm" w="med"/>
          </a:ln>
        </p:spPr>
      </p:sp>
      <p:grpSp>
        <p:nvGrpSpPr>
          <p:cNvPr name="Group 18" id="18"/>
          <p:cNvGrpSpPr/>
          <p:nvPr/>
        </p:nvGrpSpPr>
        <p:grpSpPr>
          <a:xfrm rot="0">
            <a:off x="9582150" y="3009900"/>
            <a:ext cx="3429000" cy="1714500"/>
            <a:chOff x="0" y="0"/>
            <a:chExt cx="4572000" cy="228600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45720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4572000">
                  <a:moveTo>
                    <a:pt x="0" y="0"/>
                  </a:moveTo>
                  <a:lnTo>
                    <a:pt x="4572000" y="0"/>
                  </a:lnTo>
                  <a:lnTo>
                    <a:pt x="4572000" y="2286000"/>
                  </a:lnTo>
                  <a:lnTo>
                    <a:pt x="0" y="2286000"/>
                  </a:lnTo>
                  <a:close/>
                </a:path>
              </a:pathLst>
            </a:custGeom>
            <a:solidFill>
              <a:srgbClr val="000000"/>
            </a:solidFill>
            <a:ln cap="sq">
              <a:noFill/>
              <a:prstDash val="solid"/>
              <a:miter/>
            </a:ln>
          </p:spPr>
        </p:sp>
        <p:sp>
          <p:nvSpPr>
            <p:cNvPr name="TextBox 20" id="20"/>
            <p:cNvSpPr txBox="true"/>
            <p:nvPr/>
          </p:nvSpPr>
          <p:spPr>
            <a:xfrm>
              <a:off x="0" y="-38100"/>
              <a:ext cx="4572000" cy="2324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9525000" y="2952750"/>
            <a:ext cx="3429000" cy="1714500"/>
            <a:chOff x="0" y="0"/>
            <a:chExt cx="4572000" cy="228600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45720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4572000">
                  <a:moveTo>
                    <a:pt x="28222" y="0"/>
                  </a:moveTo>
                  <a:lnTo>
                    <a:pt x="4543778" y="0"/>
                  </a:lnTo>
                  <a:cubicBezTo>
                    <a:pt x="4551263" y="0"/>
                    <a:pt x="4558441" y="2973"/>
                    <a:pt x="4563734" y="8266"/>
                  </a:cubicBezTo>
                  <a:cubicBezTo>
                    <a:pt x="4569027" y="13559"/>
                    <a:pt x="4572000" y="20737"/>
                    <a:pt x="4572000" y="28222"/>
                  </a:cubicBezTo>
                  <a:lnTo>
                    <a:pt x="4572000" y="2257778"/>
                  </a:lnTo>
                  <a:cubicBezTo>
                    <a:pt x="4572000" y="2265263"/>
                    <a:pt x="4569027" y="2272441"/>
                    <a:pt x="4563734" y="2277734"/>
                  </a:cubicBezTo>
                  <a:cubicBezTo>
                    <a:pt x="4558441" y="2283027"/>
                    <a:pt x="4551263" y="2286000"/>
                    <a:pt x="4543778" y="2286000"/>
                  </a:cubicBezTo>
                  <a:lnTo>
                    <a:pt x="28222" y="2286000"/>
                  </a:lnTo>
                  <a:cubicBezTo>
                    <a:pt x="20737" y="2286000"/>
                    <a:pt x="13559" y="2283027"/>
                    <a:pt x="8266" y="2277734"/>
                  </a:cubicBezTo>
                  <a:cubicBezTo>
                    <a:pt x="2973" y="2272441"/>
                    <a:pt x="0" y="2265263"/>
                    <a:pt x="0" y="2257778"/>
                  </a:cubicBezTo>
                  <a:lnTo>
                    <a:pt x="0" y="28222"/>
                  </a:lnTo>
                  <a:cubicBezTo>
                    <a:pt x="0" y="20737"/>
                    <a:pt x="2973" y="13559"/>
                    <a:pt x="8266" y="8266"/>
                  </a:cubicBezTo>
                  <a:cubicBezTo>
                    <a:pt x="13559" y="2973"/>
                    <a:pt x="20737" y="0"/>
                    <a:pt x="28222" y="0"/>
                  </a:cubicBezTo>
                  <a:close/>
                </a:path>
              </a:pathLst>
            </a:custGeom>
            <a:solidFill>
              <a:srgbClr val="7C3AED"/>
            </a:solidFill>
            <a:ln w="3810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23" id="23"/>
            <p:cNvSpPr txBox="true"/>
            <p:nvPr/>
          </p:nvSpPr>
          <p:spPr>
            <a:xfrm>
              <a:off x="0" y="-19050"/>
              <a:ext cx="4572000" cy="23050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05"/>
                </a:lnSpc>
              </a:pPr>
              <a:r>
                <a:rPr lang="en-US" sz="2100" b="true">
                  <a:solidFill>
                    <a:srgbClr val="000000"/>
                  </a:solidFill>
                  <a:latin typeface="Akzidenz-Grotesk Bold"/>
                  <a:ea typeface="Akzidenz-Grotesk Bold"/>
                  <a:cs typeface="Akzidenz-Grotesk Bold"/>
                  <a:sym typeface="Akzidenz-Grotesk Bold"/>
                </a:rPr>
                <a:t>C  BATCH</a:t>
              </a:r>
            </a:p>
            <a:p>
              <a:pPr algn="ctr">
                <a:lnSpc>
                  <a:spcPts val="2205"/>
                </a:lnSpc>
              </a:pPr>
              <a:r>
                <a:rPr lang="en-US" sz="2100" b="true">
                  <a:solidFill>
                    <a:srgbClr val="000000"/>
                  </a:solidFill>
                  <a:latin typeface="Akzidenz-Grotesk Bold"/>
                  <a:ea typeface="Akzidenz-Grotesk Bold"/>
                  <a:cs typeface="Akzidenz-Grotesk Bold"/>
                  <a:sym typeface="Akzidenz-Grotesk Bold"/>
                </a:rPr>
                <a:t>REFERENCE</a:t>
              </a:r>
            </a:p>
          </p:txBody>
        </p:sp>
      </p:grpSp>
      <p:sp>
        <p:nvSpPr>
          <p:cNvPr name="AutoShape 24" id="24"/>
          <p:cNvSpPr/>
          <p:nvPr/>
        </p:nvSpPr>
        <p:spPr>
          <a:xfrm flipH="true">
            <a:off x="9144000" y="4762500"/>
            <a:ext cx="2095500" cy="1809750"/>
          </a:xfrm>
          <a:prstGeom prst="line">
            <a:avLst/>
          </a:prstGeom>
          <a:ln cap="rnd" w="47625">
            <a:solidFill>
              <a:srgbClr val="000000"/>
            </a:solidFill>
            <a:prstDash val="solid"/>
            <a:headEnd type="none" len="sm" w="sm"/>
            <a:tailEnd type="arrow" len="sm" w="med"/>
          </a:ln>
        </p:spPr>
      </p:sp>
      <p:grpSp>
        <p:nvGrpSpPr>
          <p:cNvPr name="Group 25" id="25"/>
          <p:cNvGrpSpPr/>
          <p:nvPr/>
        </p:nvGrpSpPr>
        <p:grpSpPr>
          <a:xfrm rot="0">
            <a:off x="13916025" y="3009900"/>
            <a:ext cx="3429000" cy="1714500"/>
            <a:chOff x="0" y="0"/>
            <a:chExt cx="4572000" cy="228600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45720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4572000">
                  <a:moveTo>
                    <a:pt x="0" y="0"/>
                  </a:moveTo>
                  <a:lnTo>
                    <a:pt x="4572000" y="0"/>
                  </a:lnTo>
                  <a:lnTo>
                    <a:pt x="4572000" y="2286000"/>
                  </a:lnTo>
                  <a:lnTo>
                    <a:pt x="0" y="2286000"/>
                  </a:lnTo>
                  <a:close/>
                </a:path>
              </a:pathLst>
            </a:custGeom>
            <a:solidFill>
              <a:srgbClr val="000000"/>
            </a:solidFill>
            <a:ln cap="sq">
              <a:noFill/>
              <a:prstDash val="solid"/>
              <a:miter/>
            </a:ln>
          </p:spPr>
        </p:sp>
        <p:sp>
          <p:nvSpPr>
            <p:cNvPr name="TextBox 27" id="27"/>
            <p:cNvSpPr txBox="true"/>
            <p:nvPr/>
          </p:nvSpPr>
          <p:spPr>
            <a:xfrm>
              <a:off x="0" y="-38100"/>
              <a:ext cx="4572000" cy="2324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8" id="28"/>
          <p:cNvGrpSpPr/>
          <p:nvPr/>
        </p:nvGrpSpPr>
        <p:grpSpPr>
          <a:xfrm rot="0">
            <a:off x="13858875" y="2952750"/>
            <a:ext cx="3429000" cy="1714500"/>
            <a:chOff x="0" y="0"/>
            <a:chExt cx="4572000" cy="228600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45720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4572000">
                  <a:moveTo>
                    <a:pt x="28222" y="0"/>
                  </a:moveTo>
                  <a:lnTo>
                    <a:pt x="4543778" y="0"/>
                  </a:lnTo>
                  <a:cubicBezTo>
                    <a:pt x="4551263" y="0"/>
                    <a:pt x="4558441" y="2973"/>
                    <a:pt x="4563734" y="8266"/>
                  </a:cubicBezTo>
                  <a:cubicBezTo>
                    <a:pt x="4569027" y="13559"/>
                    <a:pt x="4572000" y="20737"/>
                    <a:pt x="4572000" y="28222"/>
                  </a:cubicBezTo>
                  <a:lnTo>
                    <a:pt x="4572000" y="2257778"/>
                  </a:lnTo>
                  <a:cubicBezTo>
                    <a:pt x="4572000" y="2265263"/>
                    <a:pt x="4569027" y="2272441"/>
                    <a:pt x="4563734" y="2277734"/>
                  </a:cubicBezTo>
                  <a:cubicBezTo>
                    <a:pt x="4558441" y="2283027"/>
                    <a:pt x="4551263" y="2286000"/>
                    <a:pt x="4543778" y="2286000"/>
                  </a:cubicBezTo>
                  <a:lnTo>
                    <a:pt x="28222" y="2286000"/>
                  </a:lnTo>
                  <a:cubicBezTo>
                    <a:pt x="20737" y="2286000"/>
                    <a:pt x="13559" y="2283027"/>
                    <a:pt x="8266" y="2277734"/>
                  </a:cubicBezTo>
                  <a:cubicBezTo>
                    <a:pt x="2973" y="2272441"/>
                    <a:pt x="0" y="2265263"/>
                    <a:pt x="0" y="2257778"/>
                  </a:cubicBezTo>
                  <a:lnTo>
                    <a:pt x="0" y="28222"/>
                  </a:lnTo>
                  <a:cubicBezTo>
                    <a:pt x="0" y="20737"/>
                    <a:pt x="2973" y="13559"/>
                    <a:pt x="8266" y="8266"/>
                  </a:cubicBezTo>
                  <a:cubicBezTo>
                    <a:pt x="13559" y="2973"/>
                    <a:pt x="20737" y="0"/>
                    <a:pt x="28222" y="0"/>
                  </a:cubicBezTo>
                  <a:close/>
                </a:path>
              </a:pathLst>
            </a:custGeom>
            <a:solidFill>
              <a:srgbClr val="FF4757"/>
            </a:solidFill>
            <a:ln w="3810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30" id="30"/>
            <p:cNvSpPr txBox="true"/>
            <p:nvPr/>
          </p:nvSpPr>
          <p:spPr>
            <a:xfrm>
              <a:off x="0" y="-19050"/>
              <a:ext cx="4572000" cy="23050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05"/>
                </a:lnSpc>
              </a:pPr>
              <a:r>
                <a:rPr lang="en-US" sz="2100" b="true">
                  <a:solidFill>
                    <a:srgbClr val="000000"/>
                  </a:solidFill>
                  <a:latin typeface="Akzidenz-Grotesk Bold"/>
                  <a:ea typeface="Akzidenz-Grotesk Bold"/>
                  <a:cs typeface="Akzidenz-Grotesk Bold"/>
                  <a:sym typeface="Akzidenz-Grotesk Bold"/>
                </a:rPr>
                <a:t>D  FRAUD</a:t>
              </a:r>
            </a:p>
            <a:p>
              <a:pPr algn="ctr">
                <a:lnSpc>
                  <a:spcPts val="2205"/>
                </a:lnSpc>
              </a:pPr>
              <a:r>
                <a:rPr lang="en-US" sz="2100" b="true">
                  <a:solidFill>
                    <a:srgbClr val="000000"/>
                  </a:solidFill>
                  <a:latin typeface="Akzidenz-Grotesk Bold"/>
                  <a:ea typeface="Akzidenz-Grotesk Bold"/>
                  <a:cs typeface="Akzidenz-Grotesk Bold"/>
                  <a:sym typeface="Akzidenz-Grotesk Bold"/>
                </a:rPr>
                <a:t>INFERENCE</a:t>
              </a:r>
            </a:p>
          </p:txBody>
        </p:sp>
      </p:grpSp>
      <p:sp>
        <p:nvSpPr>
          <p:cNvPr name="AutoShape 31" id="31"/>
          <p:cNvSpPr/>
          <p:nvPr/>
        </p:nvSpPr>
        <p:spPr>
          <a:xfrm flipH="true">
            <a:off x="9144000" y="4762500"/>
            <a:ext cx="6429375" cy="1809750"/>
          </a:xfrm>
          <a:prstGeom prst="line">
            <a:avLst/>
          </a:prstGeom>
          <a:ln cap="rnd" w="47625">
            <a:solidFill>
              <a:srgbClr val="000000"/>
            </a:solidFill>
            <a:prstDash val="solid"/>
            <a:headEnd type="none" len="sm" w="sm"/>
            <a:tailEnd type="arrow" len="sm" w="med"/>
          </a:ln>
        </p:spPr>
      </p:sp>
      <p:grpSp>
        <p:nvGrpSpPr>
          <p:cNvPr name="Group 32" id="32"/>
          <p:cNvGrpSpPr/>
          <p:nvPr/>
        </p:nvGrpSpPr>
        <p:grpSpPr>
          <a:xfrm rot="0">
            <a:off x="6248400" y="6629400"/>
            <a:ext cx="5905500" cy="1809750"/>
            <a:chOff x="0" y="0"/>
            <a:chExt cx="7874000" cy="241300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7874000" cy="2413000"/>
            </a:xfrm>
            <a:custGeom>
              <a:avLst/>
              <a:gdLst/>
              <a:ahLst/>
              <a:cxnLst/>
              <a:rect r="r" b="b" t="t" l="l"/>
              <a:pathLst>
                <a:path h="2413000" w="7874000">
                  <a:moveTo>
                    <a:pt x="0" y="0"/>
                  </a:moveTo>
                  <a:lnTo>
                    <a:pt x="7874000" y="0"/>
                  </a:lnTo>
                  <a:lnTo>
                    <a:pt x="7874000" y="2413000"/>
                  </a:lnTo>
                  <a:lnTo>
                    <a:pt x="0" y="2413000"/>
                  </a:lnTo>
                  <a:close/>
                </a:path>
              </a:pathLst>
            </a:custGeom>
            <a:solidFill>
              <a:srgbClr val="000000"/>
            </a:solidFill>
            <a:ln cap="sq">
              <a:noFill/>
              <a:prstDash val="solid"/>
              <a:miter/>
            </a:ln>
          </p:spPr>
        </p:sp>
        <p:sp>
          <p:nvSpPr>
            <p:cNvPr name="TextBox 34" id="34"/>
            <p:cNvSpPr txBox="true"/>
            <p:nvPr/>
          </p:nvSpPr>
          <p:spPr>
            <a:xfrm>
              <a:off x="0" y="-38100"/>
              <a:ext cx="7874000" cy="245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6191250" y="6572250"/>
            <a:ext cx="5905500" cy="1809750"/>
            <a:chOff x="0" y="0"/>
            <a:chExt cx="7874000" cy="241300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7874000" cy="2413000"/>
            </a:xfrm>
            <a:custGeom>
              <a:avLst/>
              <a:gdLst/>
              <a:ahLst/>
              <a:cxnLst/>
              <a:rect r="r" b="b" t="t" l="l"/>
              <a:pathLst>
                <a:path h="2413000" w="7874000">
                  <a:moveTo>
                    <a:pt x="16387" y="0"/>
                  </a:moveTo>
                  <a:lnTo>
                    <a:pt x="7857613" y="0"/>
                  </a:lnTo>
                  <a:cubicBezTo>
                    <a:pt x="7861959" y="0"/>
                    <a:pt x="7866127" y="1726"/>
                    <a:pt x="7869200" y="4800"/>
                  </a:cubicBezTo>
                  <a:cubicBezTo>
                    <a:pt x="7872274" y="7873"/>
                    <a:pt x="7874000" y="12041"/>
                    <a:pt x="7874000" y="16387"/>
                  </a:cubicBezTo>
                  <a:lnTo>
                    <a:pt x="7874000" y="2396613"/>
                  </a:lnTo>
                  <a:cubicBezTo>
                    <a:pt x="7874000" y="2400959"/>
                    <a:pt x="7872274" y="2405127"/>
                    <a:pt x="7869200" y="2408200"/>
                  </a:cubicBezTo>
                  <a:cubicBezTo>
                    <a:pt x="7866127" y="2411274"/>
                    <a:pt x="7861959" y="2413000"/>
                    <a:pt x="7857613" y="2413000"/>
                  </a:cubicBezTo>
                  <a:lnTo>
                    <a:pt x="16387" y="2413000"/>
                  </a:lnTo>
                  <a:cubicBezTo>
                    <a:pt x="12041" y="2413000"/>
                    <a:pt x="7873" y="2411274"/>
                    <a:pt x="4800" y="2408200"/>
                  </a:cubicBezTo>
                  <a:cubicBezTo>
                    <a:pt x="1726" y="2405127"/>
                    <a:pt x="0" y="2400959"/>
                    <a:pt x="0" y="2396613"/>
                  </a:cubicBezTo>
                  <a:lnTo>
                    <a:pt x="0" y="16387"/>
                  </a:lnTo>
                  <a:cubicBezTo>
                    <a:pt x="0" y="12041"/>
                    <a:pt x="1726" y="7873"/>
                    <a:pt x="4800" y="4800"/>
                  </a:cubicBezTo>
                  <a:cubicBezTo>
                    <a:pt x="7873" y="1726"/>
                    <a:pt x="12041" y="0"/>
                    <a:pt x="16387" y="0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37" id="37"/>
            <p:cNvSpPr txBox="true"/>
            <p:nvPr/>
          </p:nvSpPr>
          <p:spPr>
            <a:xfrm>
              <a:off x="0" y="-9525"/>
              <a:ext cx="7874000" cy="24225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77"/>
                </a:lnSpc>
              </a:pPr>
              <a:r>
                <a:rPr lang="en-US" sz="2550" b="true">
                  <a:solidFill>
                    <a:srgbClr val="000000"/>
                  </a:solidFill>
                  <a:latin typeface="Akzidenz-Grotesk Bold"/>
                  <a:ea typeface="Akzidenz-Grotesk Bold"/>
                  <a:cs typeface="Akzidenz-Grotesk Bold"/>
                  <a:sym typeface="Akzidenz-Grotesk Bold"/>
                </a:rPr>
                <a:t>MEDALLION LAKEHOUSE</a:t>
              </a:r>
            </a:p>
            <a:p>
              <a:pPr algn="ctr">
                <a:lnSpc>
                  <a:spcPts val="2677"/>
                </a:lnSpc>
              </a:pPr>
              <a:r>
                <a:rPr lang="en-US" sz="2550" b="true">
                  <a:solidFill>
                    <a:srgbClr val="000000"/>
                  </a:solidFill>
                  <a:latin typeface="Akzidenz-Grotesk Bold"/>
                  <a:ea typeface="Akzidenz-Grotesk Bold"/>
                  <a:cs typeface="Akzidenz-Grotesk Bold"/>
                  <a:sym typeface="Akzidenz-Grotesk Bold"/>
                </a:rPr>
                <a:t>LINEAR SCALE + INSTANT PROTECTION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>
  <p:cSld>
    <p:bg>
      <p:bgPr>
        <a:solidFill>
          <a:srgbClr val="FA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819150" y="647700"/>
            <a:ext cx="16649700" cy="6294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04"/>
              </a:lnSpc>
            </a:pPr>
            <a:r>
              <a:rPr lang="en-US" sz="4800">
                <a:solidFill>
                  <a:srgbClr val="000000"/>
                </a:solidFill>
                <a:latin typeface="Archivo Black"/>
                <a:ea typeface="Archivo Black"/>
                <a:cs typeface="Archivo Black"/>
                <a:sym typeface="Archivo Black"/>
              </a:rPr>
              <a:t>ONE TOPOLOGY. FOUR DATA PATHS.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819150" y="2438400"/>
            <a:ext cx="2857500" cy="1428750"/>
            <a:chOff x="0" y="0"/>
            <a:chExt cx="3810000" cy="1905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3810000" cy="1905000"/>
            </a:xfrm>
            <a:custGeom>
              <a:avLst/>
              <a:gdLst/>
              <a:ahLst/>
              <a:cxnLst/>
              <a:rect r="r" b="b" t="t" l="l"/>
              <a:pathLst>
                <a:path h="1905000" w="3810000">
                  <a:moveTo>
                    <a:pt x="0" y="0"/>
                  </a:moveTo>
                  <a:lnTo>
                    <a:pt x="3810000" y="0"/>
                  </a:lnTo>
                  <a:lnTo>
                    <a:pt x="3810000" y="1905000"/>
                  </a:lnTo>
                  <a:lnTo>
                    <a:pt x="0" y="1905000"/>
                  </a:lnTo>
                  <a:close/>
                </a:path>
              </a:pathLst>
            </a:custGeom>
            <a:solidFill>
              <a:srgbClr val="000000"/>
            </a:solidFill>
            <a:ln cap="sq">
              <a:noFill/>
              <a:prstDash val="solid"/>
              <a:miter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3810000" cy="194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762000" y="2381250"/>
            <a:ext cx="2857500" cy="1428750"/>
            <a:chOff x="0" y="0"/>
            <a:chExt cx="3810000" cy="19050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3810000" cy="1905000"/>
            </a:xfrm>
            <a:custGeom>
              <a:avLst/>
              <a:gdLst/>
              <a:ahLst/>
              <a:cxnLst/>
              <a:rect r="r" b="b" t="t" l="l"/>
              <a:pathLst>
                <a:path h="1905000" w="3810000">
                  <a:moveTo>
                    <a:pt x="33867" y="0"/>
                  </a:moveTo>
                  <a:lnTo>
                    <a:pt x="3776133" y="0"/>
                  </a:lnTo>
                  <a:cubicBezTo>
                    <a:pt x="3794837" y="0"/>
                    <a:pt x="3810000" y="15163"/>
                    <a:pt x="3810000" y="33867"/>
                  </a:cubicBezTo>
                  <a:lnTo>
                    <a:pt x="3810000" y="1871133"/>
                  </a:lnTo>
                  <a:cubicBezTo>
                    <a:pt x="3810000" y="1889837"/>
                    <a:pt x="3794837" y="1905000"/>
                    <a:pt x="3776133" y="1905000"/>
                  </a:cubicBezTo>
                  <a:lnTo>
                    <a:pt x="33867" y="1905000"/>
                  </a:lnTo>
                  <a:cubicBezTo>
                    <a:pt x="15163" y="1905000"/>
                    <a:pt x="0" y="1889837"/>
                    <a:pt x="0" y="1871133"/>
                  </a:cubicBezTo>
                  <a:lnTo>
                    <a:pt x="0" y="33867"/>
                  </a:lnTo>
                  <a:cubicBezTo>
                    <a:pt x="0" y="15163"/>
                    <a:pt x="15163" y="0"/>
                    <a:pt x="33867" y="0"/>
                  </a:cubicBezTo>
                  <a:close/>
                </a:path>
              </a:pathLst>
            </a:custGeom>
            <a:solidFill>
              <a:srgbClr val="FFE600"/>
            </a:solidFill>
            <a:ln w="3810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8" id="8"/>
            <p:cNvSpPr txBox="true"/>
            <p:nvPr/>
          </p:nvSpPr>
          <p:spPr>
            <a:xfrm>
              <a:off x="0" y="-19050"/>
              <a:ext cx="3810000" cy="19240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05"/>
                </a:lnSpc>
              </a:pPr>
              <a:r>
                <a:rPr lang="en-US" sz="2100" b="true">
                  <a:solidFill>
                    <a:srgbClr val="000000"/>
                  </a:solidFill>
                  <a:latin typeface="Akzidenz-Grotesk Bold"/>
                  <a:ea typeface="Akzidenz-Grotesk Bold"/>
                  <a:cs typeface="Akzidenz-Grotesk Bold"/>
                  <a:sym typeface="Akzidenz-Grotesk Bold"/>
                </a:rPr>
                <a:t>PAYMENT</a:t>
              </a:r>
            </a:p>
            <a:p>
              <a:pPr algn="ctr">
                <a:lnSpc>
                  <a:spcPts val="2205"/>
                </a:lnSpc>
              </a:pPr>
              <a:r>
                <a:rPr lang="en-US" sz="2100" b="true">
                  <a:solidFill>
                    <a:srgbClr val="000000"/>
                  </a:solidFill>
                  <a:latin typeface="Akzidenz-Grotesk Bold"/>
                  <a:ea typeface="Akzidenz-Grotesk Bold"/>
                  <a:cs typeface="Akzidenz-Grotesk Bold"/>
                  <a:sym typeface="Akzidenz-Grotesk Bold"/>
                </a:rPr>
                <a:t>PRODUCERS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4819650" y="2438400"/>
            <a:ext cx="2857500" cy="1428750"/>
            <a:chOff x="0" y="0"/>
            <a:chExt cx="3810000" cy="19050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3810000" cy="1905000"/>
            </a:xfrm>
            <a:custGeom>
              <a:avLst/>
              <a:gdLst/>
              <a:ahLst/>
              <a:cxnLst/>
              <a:rect r="r" b="b" t="t" l="l"/>
              <a:pathLst>
                <a:path h="1905000" w="3810000">
                  <a:moveTo>
                    <a:pt x="0" y="0"/>
                  </a:moveTo>
                  <a:lnTo>
                    <a:pt x="3810000" y="0"/>
                  </a:lnTo>
                  <a:lnTo>
                    <a:pt x="3810000" y="1905000"/>
                  </a:lnTo>
                  <a:lnTo>
                    <a:pt x="0" y="1905000"/>
                  </a:lnTo>
                  <a:close/>
                </a:path>
              </a:pathLst>
            </a:custGeom>
            <a:solidFill>
              <a:srgbClr val="000000"/>
            </a:solidFill>
            <a:ln cap="sq">
              <a:noFill/>
              <a:prstDash val="solid"/>
              <a:miter/>
            </a:ln>
          </p:spPr>
        </p:sp>
        <p:sp>
          <p:nvSpPr>
            <p:cNvPr name="TextBox 11" id="11"/>
            <p:cNvSpPr txBox="true"/>
            <p:nvPr/>
          </p:nvSpPr>
          <p:spPr>
            <a:xfrm>
              <a:off x="0" y="-38100"/>
              <a:ext cx="3810000" cy="194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4762500" y="2381250"/>
            <a:ext cx="2857500" cy="1428750"/>
            <a:chOff x="0" y="0"/>
            <a:chExt cx="3810000" cy="19050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3810000" cy="1905000"/>
            </a:xfrm>
            <a:custGeom>
              <a:avLst/>
              <a:gdLst/>
              <a:ahLst/>
              <a:cxnLst/>
              <a:rect r="r" b="b" t="t" l="l"/>
              <a:pathLst>
                <a:path h="1905000" w="3810000">
                  <a:moveTo>
                    <a:pt x="33867" y="0"/>
                  </a:moveTo>
                  <a:lnTo>
                    <a:pt x="3776133" y="0"/>
                  </a:lnTo>
                  <a:cubicBezTo>
                    <a:pt x="3794837" y="0"/>
                    <a:pt x="3810000" y="15163"/>
                    <a:pt x="3810000" y="33867"/>
                  </a:cubicBezTo>
                  <a:lnTo>
                    <a:pt x="3810000" y="1871133"/>
                  </a:lnTo>
                  <a:cubicBezTo>
                    <a:pt x="3810000" y="1889837"/>
                    <a:pt x="3794837" y="1905000"/>
                    <a:pt x="3776133" y="1905000"/>
                  </a:cubicBezTo>
                  <a:lnTo>
                    <a:pt x="33867" y="1905000"/>
                  </a:lnTo>
                  <a:cubicBezTo>
                    <a:pt x="15163" y="1905000"/>
                    <a:pt x="0" y="1889837"/>
                    <a:pt x="0" y="1871133"/>
                  </a:cubicBezTo>
                  <a:lnTo>
                    <a:pt x="0" y="33867"/>
                  </a:lnTo>
                  <a:cubicBezTo>
                    <a:pt x="0" y="15163"/>
                    <a:pt x="15163" y="0"/>
                    <a:pt x="33867" y="0"/>
                  </a:cubicBezTo>
                  <a:close/>
                </a:path>
              </a:pathLst>
            </a:custGeom>
            <a:solidFill>
              <a:srgbClr val="00F5A0"/>
            </a:solidFill>
            <a:ln w="3810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14" id="14"/>
            <p:cNvSpPr txBox="true"/>
            <p:nvPr/>
          </p:nvSpPr>
          <p:spPr>
            <a:xfrm>
              <a:off x="0" y="-19050"/>
              <a:ext cx="3810000" cy="19240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05"/>
                </a:lnSpc>
              </a:pPr>
              <a:r>
                <a:rPr lang="en-US" sz="2100" b="true">
                  <a:solidFill>
                    <a:srgbClr val="000000"/>
                  </a:solidFill>
                  <a:latin typeface="Akzidenz-Grotesk Bold"/>
                  <a:ea typeface="Akzidenz-Grotesk Bold"/>
                  <a:cs typeface="Akzidenz-Grotesk Bold"/>
                  <a:sym typeface="Akzidenz-Grotesk Bold"/>
                </a:rPr>
                <a:t>AMAZON MSK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8820150" y="2438400"/>
            <a:ext cx="2857500" cy="1428750"/>
            <a:chOff x="0" y="0"/>
            <a:chExt cx="3810000" cy="1905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3810000" cy="1905000"/>
            </a:xfrm>
            <a:custGeom>
              <a:avLst/>
              <a:gdLst/>
              <a:ahLst/>
              <a:cxnLst/>
              <a:rect r="r" b="b" t="t" l="l"/>
              <a:pathLst>
                <a:path h="1905000" w="3810000">
                  <a:moveTo>
                    <a:pt x="0" y="0"/>
                  </a:moveTo>
                  <a:lnTo>
                    <a:pt x="3810000" y="0"/>
                  </a:lnTo>
                  <a:lnTo>
                    <a:pt x="3810000" y="1905000"/>
                  </a:lnTo>
                  <a:lnTo>
                    <a:pt x="0" y="1905000"/>
                  </a:lnTo>
                  <a:close/>
                </a:path>
              </a:pathLst>
            </a:custGeom>
            <a:solidFill>
              <a:srgbClr val="000000"/>
            </a:solidFill>
            <a:ln cap="sq">
              <a:noFill/>
              <a:prstDash val="solid"/>
              <a:miter/>
            </a:ln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3810000" cy="194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8763000" y="2381250"/>
            <a:ext cx="2857500" cy="1428750"/>
            <a:chOff x="0" y="0"/>
            <a:chExt cx="3810000" cy="190500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3810000" cy="1905000"/>
            </a:xfrm>
            <a:custGeom>
              <a:avLst/>
              <a:gdLst/>
              <a:ahLst/>
              <a:cxnLst/>
              <a:rect r="r" b="b" t="t" l="l"/>
              <a:pathLst>
                <a:path h="1905000" w="3810000">
                  <a:moveTo>
                    <a:pt x="33867" y="0"/>
                  </a:moveTo>
                  <a:lnTo>
                    <a:pt x="3776133" y="0"/>
                  </a:lnTo>
                  <a:cubicBezTo>
                    <a:pt x="3794837" y="0"/>
                    <a:pt x="3810000" y="15163"/>
                    <a:pt x="3810000" y="33867"/>
                  </a:cubicBezTo>
                  <a:lnTo>
                    <a:pt x="3810000" y="1871133"/>
                  </a:lnTo>
                  <a:cubicBezTo>
                    <a:pt x="3810000" y="1889837"/>
                    <a:pt x="3794837" y="1905000"/>
                    <a:pt x="3776133" y="1905000"/>
                  </a:cubicBezTo>
                  <a:lnTo>
                    <a:pt x="33867" y="1905000"/>
                  </a:lnTo>
                  <a:cubicBezTo>
                    <a:pt x="15163" y="1905000"/>
                    <a:pt x="0" y="1889837"/>
                    <a:pt x="0" y="1871133"/>
                  </a:cubicBezTo>
                  <a:lnTo>
                    <a:pt x="0" y="33867"/>
                  </a:lnTo>
                  <a:cubicBezTo>
                    <a:pt x="0" y="15163"/>
                    <a:pt x="15163" y="0"/>
                    <a:pt x="33867" y="0"/>
                  </a:cubicBezTo>
                  <a:close/>
                </a:path>
              </a:pathLst>
            </a:custGeom>
            <a:solidFill>
              <a:srgbClr val="FF4757"/>
            </a:solidFill>
            <a:ln w="3810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20" id="20"/>
            <p:cNvSpPr txBox="true"/>
            <p:nvPr/>
          </p:nvSpPr>
          <p:spPr>
            <a:xfrm>
              <a:off x="0" y="-19050"/>
              <a:ext cx="3810000" cy="19240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05"/>
                </a:lnSpc>
              </a:pPr>
              <a:r>
                <a:rPr lang="en-US" sz="2100" b="true">
                  <a:solidFill>
                    <a:srgbClr val="000000"/>
                  </a:solidFill>
                  <a:latin typeface="Akzidenz-Grotesk Bold"/>
                  <a:ea typeface="Akzidenz-Grotesk Bold"/>
                  <a:cs typeface="Akzidenz-Grotesk Bold"/>
                  <a:sym typeface="Akzidenz-Grotesk Bold"/>
                </a:rPr>
                <a:t>REDIS +</a:t>
              </a:r>
            </a:p>
            <a:p>
              <a:pPr algn="ctr">
                <a:lnSpc>
                  <a:spcPts val="2205"/>
                </a:lnSpc>
              </a:pPr>
              <a:r>
                <a:rPr lang="en-US" sz="2100" b="true">
                  <a:solidFill>
                    <a:srgbClr val="000000"/>
                  </a:solidFill>
                  <a:latin typeface="Akzidenz-Grotesk Bold"/>
                  <a:ea typeface="Akzidenz-Grotesk Bold"/>
                  <a:cs typeface="Akzidenz-Grotesk Bold"/>
                  <a:sym typeface="Akzidenz-Grotesk Bold"/>
                </a:rPr>
                <a:t>LIGHTGBM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4819650" y="6724650"/>
            <a:ext cx="2857500" cy="1428750"/>
            <a:chOff x="0" y="0"/>
            <a:chExt cx="3810000" cy="190500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3810000" cy="1905000"/>
            </a:xfrm>
            <a:custGeom>
              <a:avLst/>
              <a:gdLst/>
              <a:ahLst/>
              <a:cxnLst/>
              <a:rect r="r" b="b" t="t" l="l"/>
              <a:pathLst>
                <a:path h="1905000" w="3810000">
                  <a:moveTo>
                    <a:pt x="0" y="0"/>
                  </a:moveTo>
                  <a:lnTo>
                    <a:pt x="3810000" y="0"/>
                  </a:lnTo>
                  <a:lnTo>
                    <a:pt x="3810000" y="1905000"/>
                  </a:lnTo>
                  <a:lnTo>
                    <a:pt x="0" y="1905000"/>
                  </a:lnTo>
                  <a:close/>
                </a:path>
              </a:pathLst>
            </a:custGeom>
            <a:solidFill>
              <a:srgbClr val="000000"/>
            </a:solidFill>
            <a:ln cap="sq">
              <a:noFill/>
              <a:prstDash val="solid"/>
              <a:miter/>
            </a:ln>
          </p:spPr>
        </p:sp>
        <p:sp>
          <p:nvSpPr>
            <p:cNvPr name="TextBox 23" id="23"/>
            <p:cNvSpPr txBox="true"/>
            <p:nvPr/>
          </p:nvSpPr>
          <p:spPr>
            <a:xfrm>
              <a:off x="0" y="-38100"/>
              <a:ext cx="3810000" cy="194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4" id="24"/>
          <p:cNvGrpSpPr/>
          <p:nvPr/>
        </p:nvGrpSpPr>
        <p:grpSpPr>
          <a:xfrm rot="0">
            <a:off x="4762500" y="6667500"/>
            <a:ext cx="2857500" cy="1428750"/>
            <a:chOff x="0" y="0"/>
            <a:chExt cx="3810000" cy="190500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3810000" cy="1905000"/>
            </a:xfrm>
            <a:custGeom>
              <a:avLst/>
              <a:gdLst/>
              <a:ahLst/>
              <a:cxnLst/>
              <a:rect r="r" b="b" t="t" l="l"/>
              <a:pathLst>
                <a:path h="1905000" w="3810000">
                  <a:moveTo>
                    <a:pt x="33867" y="0"/>
                  </a:moveTo>
                  <a:lnTo>
                    <a:pt x="3776133" y="0"/>
                  </a:lnTo>
                  <a:cubicBezTo>
                    <a:pt x="3794837" y="0"/>
                    <a:pt x="3810000" y="15163"/>
                    <a:pt x="3810000" y="33867"/>
                  </a:cubicBezTo>
                  <a:lnTo>
                    <a:pt x="3810000" y="1871133"/>
                  </a:lnTo>
                  <a:cubicBezTo>
                    <a:pt x="3810000" y="1889837"/>
                    <a:pt x="3794837" y="1905000"/>
                    <a:pt x="3776133" y="1905000"/>
                  </a:cubicBezTo>
                  <a:lnTo>
                    <a:pt x="33867" y="1905000"/>
                  </a:lnTo>
                  <a:cubicBezTo>
                    <a:pt x="15163" y="1905000"/>
                    <a:pt x="0" y="1889837"/>
                    <a:pt x="0" y="1871133"/>
                  </a:cubicBezTo>
                  <a:lnTo>
                    <a:pt x="0" y="33867"/>
                  </a:lnTo>
                  <a:cubicBezTo>
                    <a:pt x="0" y="15163"/>
                    <a:pt x="15163" y="0"/>
                    <a:pt x="33867" y="0"/>
                  </a:cubicBezTo>
                  <a:close/>
                </a:path>
              </a:pathLst>
            </a:custGeom>
            <a:solidFill>
              <a:srgbClr val="7C3AED"/>
            </a:solidFill>
            <a:ln w="3810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26" id="26"/>
            <p:cNvSpPr txBox="true"/>
            <p:nvPr/>
          </p:nvSpPr>
          <p:spPr>
            <a:xfrm>
              <a:off x="0" y="-19050"/>
              <a:ext cx="3810000" cy="19240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05"/>
                </a:lnSpc>
              </a:pPr>
              <a:r>
                <a:rPr lang="en-US" sz="2100" b="true">
                  <a:solidFill>
                    <a:srgbClr val="000000"/>
                  </a:solidFill>
                  <a:latin typeface="Akzidenz-Grotesk Bold"/>
                  <a:ea typeface="Akzidenz-Grotesk Bold"/>
                  <a:cs typeface="Akzidenz-Grotesk Bold"/>
                  <a:sym typeface="Akzidenz-Grotesk Bold"/>
                </a:rPr>
                <a:t>S3 BRONZE</a:t>
              </a:r>
            </a:p>
          </p:txBody>
        </p:sp>
      </p:grpSp>
      <p:grpSp>
        <p:nvGrpSpPr>
          <p:cNvPr name="Group 27" id="27"/>
          <p:cNvGrpSpPr/>
          <p:nvPr/>
        </p:nvGrpSpPr>
        <p:grpSpPr>
          <a:xfrm rot="0">
            <a:off x="8820150" y="6724650"/>
            <a:ext cx="2857500" cy="1428750"/>
            <a:chOff x="0" y="0"/>
            <a:chExt cx="3810000" cy="190500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3810000" cy="1905000"/>
            </a:xfrm>
            <a:custGeom>
              <a:avLst/>
              <a:gdLst/>
              <a:ahLst/>
              <a:cxnLst/>
              <a:rect r="r" b="b" t="t" l="l"/>
              <a:pathLst>
                <a:path h="1905000" w="3810000">
                  <a:moveTo>
                    <a:pt x="0" y="0"/>
                  </a:moveTo>
                  <a:lnTo>
                    <a:pt x="3810000" y="0"/>
                  </a:lnTo>
                  <a:lnTo>
                    <a:pt x="3810000" y="1905000"/>
                  </a:lnTo>
                  <a:lnTo>
                    <a:pt x="0" y="1905000"/>
                  </a:lnTo>
                  <a:close/>
                </a:path>
              </a:pathLst>
            </a:custGeom>
            <a:solidFill>
              <a:srgbClr val="000000"/>
            </a:solidFill>
            <a:ln cap="sq">
              <a:noFill/>
              <a:prstDash val="solid"/>
              <a:miter/>
            </a:ln>
          </p:spPr>
        </p:sp>
        <p:sp>
          <p:nvSpPr>
            <p:cNvPr name="TextBox 29" id="29"/>
            <p:cNvSpPr txBox="true"/>
            <p:nvPr/>
          </p:nvSpPr>
          <p:spPr>
            <a:xfrm>
              <a:off x="0" y="-38100"/>
              <a:ext cx="3810000" cy="194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30" id="30"/>
          <p:cNvGrpSpPr/>
          <p:nvPr/>
        </p:nvGrpSpPr>
        <p:grpSpPr>
          <a:xfrm rot="0">
            <a:off x="8763000" y="6667500"/>
            <a:ext cx="2857500" cy="1428750"/>
            <a:chOff x="0" y="0"/>
            <a:chExt cx="3810000" cy="190500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3810000" cy="1905000"/>
            </a:xfrm>
            <a:custGeom>
              <a:avLst/>
              <a:gdLst/>
              <a:ahLst/>
              <a:cxnLst/>
              <a:rect r="r" b="b" t="t" l="l"/>
              <a:pathLst>
                <a:path h="1905000" w="3810000">
                  <a:moveTo>
                    <a:pt x="33867" y="0"/>
                  </a:moveTo>
                  <a:lnTo>
                    <a:pt x="3776133" y="0"/>
                  </a:lnTo>
                  <a:cubicBezTo>
                    <a:pt x="3794837" y="0"/>
                    <a:pt x="3810000" y="15163"/>
                    <a:pt x="3810000" y="33867"/>
                  </a:cubicBezTo>
                  <a:lnTo>
                    <a:pt x="3810000" y="1871133"/>
                  </a:lnTo>
                  <a:cubicBezTo>
                    <a:pt x="3810000" y="1889837"/>
                    <a:pt x="3794837" y="1905000"/>
                    <a:pt x="3776133" y="1905000"/>
                  </a:cubicBezTo>
                  <a:lnTo>
                    <a:pt x="33867" y="1905000"/>
                  </a:lnTo>
                  <a:cubicBezTo>
                    <a:pt x="15163" y="1905000"/>
                    <a:pt x="0" y="1889837"/>
                    <a:pt x="0" y="1871133"/>
                  </a:cubicBezTo>
                  <a:lnTo>
                    <a:pt x="0" y="33867"/>
                  </a:lnTo>
                  <a:cubicBezTo>
                    <a:pt x="0" y="15163"/>
                    <a:pt x="15163" y="0"/>
                    <a:pt x="33867" y="0"/>
                  </a:cubicBezTo>
                  <a:close/>
                </a:path>
              </a:pathLst>
            </a:custGeom>
            <a:solidFill>
              <a:srgbClr val="FFE600"/>
            </a:solidFill>
            <a:ln w="3810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32" id="32"/>
            <p:cNvSpPr txBox="true"/>
            <p:nvPr/>
          </p:nvSpPr>
          <p:spPr>
            <a:xfrm>
              <a:off x="0" y="-19050"/>
              <a:ext cx="3810000" cy="19240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05"/>
                </a:lnSpc>
              </a:pPr>
              <a:r>
                <a:rPr lang="en-US" sz="2100" b="true">
                  <a:solidFill>
                    <a:srgbClr val="000000"/>
                  </a:solidFill>
                  <a:latin typeface="Akzidenz-Grotesk Bold"/>
                  <a:ea typeface="Akzidenz-Grotesk Bold"/>
                  <a:cs typeface="Akzidenz-Grotesk Bold"/>
                  <a:sym typeface="Akzidenz-Grotesk Bold"/>
                </a:rPr>
                <a:t>SILVER / GOLD</a:t>
              </a:r>
            </a:p>
          </p:txBody>
        </p:sp>
      </p:grpSp>
      <p:grpSp>
        <p:nvGrpSpPr>
          <p:cNvPr name="Group 33" id="33"/>
          <p:cNvGrpSpPr/>
          <p:nvPr/>
        </p:nvGrpSpPr>
        <p:grpSpPr>
          <a:xfrm rot="0">
            <a:off x="13392150" y="4581525"/>
            <a:ext cx="3429000" cy="1714500"/>
            <a:chOff x="0" y="0"/>
            <a:chExt cx="4572000" cy="228600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45720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4572000">
                  <a:moveTo>
                    <a:pt x="0" y="0"/>
                  </a:moveTo>
                  <a:lnTo>
                    <a:pt x="4572000" y="0"/>
                  </a:lnTo>
                  <a:lnTo>
                    <a:pt x="4572000" y="2286000"/>
                  </a:lnTo>
                  <a:lnTo>
                    <a:pt x="0" y="2286000"/>
                  </a:lnTo>
                  <a:close/>
                </a:path>
              </a:pathLst>
            </a:custGeom>
            <a:solidFill>
              <a:srgbClr val="000000"/>
            </a:solidFill>
            <a:ln cap="sq">
              <a:noFill/>
              <a:prstDash val="solid"/>
              <a:miter/>
            </a:ln>
          </p:spPr>
        </p:sp>
        <p:sp>
          <p:nvSpPr>
            <p:cNvPr name="TextBox 35" id="35"/>
            <p:cNvSpPr txBox="true"/>
            <p:nvPr/>
          </p:nvSpPr>
          <p:spPr>
            <a:xfrm>
              <a:off x="0" y="-38100"/>
              <a:ext cx="4572000" cy="2324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36" id="36"/>
          <p:cNvGrpSpPr/>
          <p:nvPr/>
        </p:nvGrpSpPr>
        <p:grpSpPr>
          <a:xfrm rot="0">
            <a:off x="13335000" y="4524375"/>
            <a:ext cx="3429000" cy="1714500"/>
            <a:chOff x="0" y="0"/>
            <a:chExt cx="4572000" cy="2286000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45720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4572000">
                  <a:moveTo>
                    <a:pt x="28222" y="0"/>
                  </a:moveTo>
                  <a:lnTo>
                    <a:pt x="4543778" y="0"/>
                  </a:lnTo>
                  <a:cubicBezTo>
                    <a:pt x="4551263" y="0"/>
                    <a:pt x="4558441" y="2973"/>
                    <a:pt x="4563734" y="8266"/>
                  </a:cubicBezTo>
                  <a:cubicBezTo>
                    <a:pt x="4569027" y="13559"/>
                    <a:pt x="4572000" y="20737"/>
                    <a:pt x="4572000" y="28222"/>
                  </a:cubicBezTo>
                  <a:lnTo>
                    <a:pt x="4572000" y="2257778"/>
                  </a:lnTo>
                  <a:cubicBezTo>
                    <a:pt x="4572000" y="2265263"/>
                    <a:pt x="4569027" y="2272441"/>
                    <a:pt x="4563734" y="2277734"/>
                  </a:cubicBezTo>
                  <a:cubicBezTo>
                    <a:pt x="4558441" y="2283027"/>
                    <a:pt x="4551263" y="2286000"/>
                    <a:pt x="4543778" y="2286000"/>
                  </a:cubicBezTo>
                  <a:lnTo>
                    <a:pt x="28222" y="2286000"/>
                  </a:lnTo>
                  <a:cubicBezTo>
                    <a:pt x="20737" y="2286000"/>
                    <a:pt x="13559" y="2283027"/>
                    <a:pt x="8266" y="2277734"/>
                  </a:cubicBezTo>
                  <a:cubicBezTo>
                    <a:pt x="2973" y="2272441"/>
                    <a:pt x="0" y="2265263"/>
                    <a:pt x="0" y="2257778"/>
                  </a:cubicBezTo>
                  <a:lnTo>
                    <a:pt x="0" y="28222"/>
                  </a:lnTo>
                  <a:cubicBezTo>
                    <a:pt x="0" y="20737"/>
                    <a:pt x="2973" y="13559"/>
                    <a:pt x="8266" y="8266"/>
                  </a:cubicBezTo>
                  <a:cubicBezTo>
                    <a:pt x="13559" y="2973"/>
                    <a:pt x="20737" y="0"/>
                    <a:pt x="28222" y="0"/>
                  </a:cubicBezTo>
                  <a:close/>
                </a:path>
              </a:pathLst>
            </a:custGeom>
            <a:solidFill>
              <a:srgbClr val="00F5A0"/>
            </a:solidFill>
            <a:ln w="3810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38" id="38"/>
            <p:cNvSpPr txBox="true"/>
            <p:nvPr/>
          </p:nvSpPr>
          <p:spPr>
            <a:xfrm>
              <a:off x="0" y="-19050"/>
              <a:ext cx="4572000" cy="23050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05"/>
                </a:lnSpc>
              </a:pPr>
              <a:r>
                <a:rPr lang="en-US" sz="2100" b="true">
                  <a:solidFill>
                    <a:srgbClr val="000000"/>
                  </a:solidFill>
                  <a:latin typeface="Akzidenz-Grotesk Bold"/>
                  <a:ea typeface="Akzidenz-Grotesk Bold"/>
                  <a:cs typeface="Akzidenz-Grotesk Bold"/>
                  <a:sym typeface="Akzidenz-Grotesk Bold"/>
                </a:rPr>
                <a:t>FRAUD OPS +</a:t>
              </a:r>
            </a:p>
            <a:p>
              <a:pPr algn="ctr">
                <a:lnSpc>
                  <a:spcPts val="2205"/>
                </a:lnSpc>
              </a:pPr>
              <a:r>
                <a:rPr lang="en-US" sz="2100" b="true">
                  <a:solidFill>
                    <a:srgbClr val="000000"/>
                  </a:solidFill>
                  <a:latin typeface="Akzidenz-Grotesk Bold"/>
                  <a:ea typeface="Akzidenz-Grotesk Bold"/>
                  <a:cs typeface="Akzidenz-Grotesk Bold"/>
                  <a:sym typeface="Akzidenz-Grotesk Bold"/>
                </a:rPr>
                <a:t>ANALYTICS</a:t>
              </a:r>
            </a:p>
          </p:txBody>
        </p:sp>
      </p:grpSp>
      <p:sp>
        <p:nvSpPr>
          <p:cNvPr name="AutoShape 39" id="39"/>
          <p:cNvSpPr/>
          <p:nvPr/>
        </p:nvSpPr>
        <p:spPr>
          <a:xfrm>
            <a:off x="3619500" y="3095625"/>
            <a:ext cx="1143000" cy="0"/>
          </a:xfrm>
          <a:prstGeom prst="line">
            <a:avLst/>
          </a:prstGeom>
          <a:ln cap="rnd" w="47625">
            <a:solidFill>
              <a:srgbClr val="000000"/>
            </a:solidFill>
            <a:prstDash val="solid"/>
            <a:headEnd type="none" len="sm" w="sm"/>
            <a:tailEnd type="arrow" len="sm" w="med"/>
          </a:ln>
        </p:spPr>
      </p:sp>
      <p:sp>
        <p:nvSpPr>
          <p:cNvPr name="AutoShape 40" id="40"/>
          <p:cNvSpPr/>
          <p:nvPr/>
        </p:nvSpPr>
        <p:spPr>
          <a:xfrm>
            <a:off x="7620000" y="3095625"/>
            <a:ext cx="1143000" cy="0"/>
          </a:xfrm>
          <a:prstGeom prst="line">
            <a:avLst/>
          </a:prstGeom>
          <a:ln cap="rnd" w="47625">
            <a:solidFill>
              <a:srgbClr val="000000"/>
            </a:solidFill>
            <a:prstDash val="solid"/>
            <a:headEnd type="none" len="sm" w="sm"/>
            <a:tailEnd type="arrow" len="sm" w="med"/>
          </a:ln>
        </p:spPr>
      </p:sp>
      <p:sp>
        <p:nvSpPr>
          <p:cNvPr name="AutoShape 41" id="41"/>
          <p:cNvSpPr/>
          <p:nvPr/>
        </p:nvSpPr>
        <p:spPr>
          <a:xfrm>
            <a:off x="6191250" y="3905250"/>
            <a:ext cx="0" cy="2762250"/>
          </a:xfrm>
          <a:prstGeom prst="line">
            <a:avLst/>
          </a:prstGeom>
          <a:ln cap="rnd" w="47625">
            <a:solidFill>
              <a:srgbClr val="000000"/>
            </a:solidFill>
            <a:prstDash val="solid"/>
            <a:headEnd type="none" len="sm" w="sm"/>
            <a:tailEnd type="arrow" len="sm" w="med"/>
          </a:ln>
        </p:spPr>
      </p:sp>
      <p:sp>
        <p:nvSpPr>
          <p:cNvPr name="AutoShape 42" id="42"/>
          <p:cNvSpPr/>
          <p:nvPr/>
        </p:nvSpPr>
        <p:spPr>
          <a:xfrm>
            <a:off x="7620000" y="7381875"/>
            <a:ext cx="1143000" cy="0"/>
          </a:xfrm>
          <a:prstGeom prst="line">
            <a:avLst/>
          </a:prstGeom>
          <a:ln cap="rnd" w="47625">
            <a:solidFill>
              <a:srgbClr val="000000"/>
            </a:solidFill>
            <a:prstDash val="solid"/>
            <a:headEnd type="none" len="sm" w="sm"/>
            <a:tailEnd type="arrow" len="sm" w="med"/>
          </a:ln>
        </p:spPr>
      </p:sp>
      <p:sp>
        <p:nvSpPr>
          <p:cNvPr name="AutoShape 43" id="43"/>
          <p:cNvSpPr/>
          <p:nvPr/>
        </p:nvSpPr>
        <p:spPr>
          <a:xfrm>
            <a:off x="11620500" y="3095625"/>
            <a:ext cx="1714500" cy="2000250"/>
          </a:xfrm>
          <a:prstGeom prst="line">
            <a:avLst/>
          </a:prstGeom>
          <a:ln cap="rnd" w="47625">
            <a:solidFill>
              <a:srgbClr val="000000"/>
            </a:solidFill>
            <a:prstDash val="solid"/>
            <a:headEnd type="none" len="sm" w="sm"/>
            <a:tailEnd type="arrow" len="sm" w="med"/>
          </a:ln>
        </p:spPr>
      </p:sp>
      <p:sp>
        <p:nvSpPr>
          <p:cNvPr name="AutoShape 44" id="44"/>
          <p:cNvSpPr/>
          <p:nvPr/>
        </p:nvSpPr>
        <p:spPr>
          <a:xfrm flipV="true">
            <a:off x="11620500" y="5857875"/>
            <a:ext cx="1714500" cy="1524000"/>
          </a:xfrm>
          <a:prstGeom prst="line">
            <a:avLst/>
          </a:prstGeom>
          <a:ln cap="rnd" w="47625">
            <a:solidFill>
              <a:srgbClr val="000000"/>
            </a:solidFill>
            <a:prstDash val="solid"/>
            <a:headEnd type="none" len="sm" w="sm"/>
            <a:tailEnd type="arrow" len="sm" w="med"/>
          </a:ln>
        </p:spPr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>
  <p:cSld>
    <p:bg>
      <p:bgPr>
        <a:solidFill>
          <a:srgbClr val="FA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819150" y="647700"/>
            <a:ext cx="16649700" cy="6294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04"/>
              </a:lnSpc>
            </a:pPr>
            <a:r>
              <a:rPr lang="en-US" sz="4800">
                <a:solidFill>
                  <a:srgbClr val="000000"/>
                </a:solidFill>
                <a:latin typeface="Archivo Black"/>
                <a:ea typeface="Archivo Black"/>
                <a:cs typeface="Archivo Black"/>
                <a:sym typeface="Archivo Black"/>
              </a:rPr>
              <a:t>A — ZERO-DB STREAMING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819150" y="1400937"/>
            <a:ext cx="13811250" cy="3309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3"/>
              </a:lnSpc>
            </a:pPr>
            <a:r>
              <a:rPr lang="en-US" sz="1875">
                <a:solidFill>
                  <a:srgbClr val="000000"/>
                </a:solidFill>
                <a:latin typeface="Akzidenz-Grotesk"/>
                <a:ea typeface="Akzidenz-Grotesk"/>
                <a:cs typeface="Akzidenz-Grotesk"/>
                <a:sym typeface="Akzidenz-Grotesk"/>
              </a:rPr>
              <a:t>Payment events bypass relational persistence and land directly in durable streaming infrastructure.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723900" y="4152900"/>
            <a:ext cx="2857500" cy="2095500"/>
            <a:chOff x="0" y="0"/>
            <a:chExt cx="3810000" cy="2794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3810000" cy="2794000"/>
            </a:xfrm>
            <a:custGeom>
              <a:avLst/>
              <a:gdLst/>
              <a:ahLst/>
              <a:cxnLst/>
              <a:rect r="r" b="b" t="t" l="l"/>
              <a:pathLst>
                <a:path h="2794000" w="3810000">
                  <a:moveTo>
                    <a:pt x="0" y="0"/>
                  </a:moveTo>
                  <a:lnTo>
                    <a:pt x="3810000" y="0"/>
                  </a:lnTo>
                  <a:lnTo>
                    <a:pt x="3810000" y="2794000"/>
                  </a:lnTo>
                  <a:lnTo>
                    <a:pt x="0" y="2794000"/>
                  </a:lnTo>
                  <a:close/>
                </a:path>
              </a:pathLst>
            </a:custGeom>
            <a:solidFill>
              <a:srgbClr val="000000"/>
            </a:solidFill>
            <a:ln cap="sq">
              <a:noFill/>
              <a:prstDash val="solid"/>
              <a:miter/>
            </a:ln>
          </p:spPr>
        </p:sp>
        <p:sp>
          <p:nvSpPr>
            <p:cNvPr name="TextBox 6" id="6"/>
            <p:cNvSpPr txBox="true"/>
            <p:nvPr/>
          </p:nvSpPr>
          <p:spPr>
            <a:xfrm>
              <a:off x="0" y="-38100"/>
              <a:ext cx="3810000" cy="2832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666750" y="4095750"/>
            <a:ext cx="2857500" cy="2095500"/>
            <a:chOff x="0" y="0"/>
            <a:chExt cx="3810000" cy="2794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3810000" cy="2794000"/>
            </a:xfrm>
            <a:custGeom>
              <a:avLst/>
              <a:gdLst/>
              <a:ahLst/>
              <a:cxnLst/>
              <a:rect r="r" b="b" t="t" l="l"/>
              <a:pathLst>
                <a:path h="2794000" w="3810000">
                  <a:moveTo>
                    <a:pt x="33867" y="0"/>
                  </a:moveTo>
                  <a:lnTo>
                    <a:pt x="3776133" y="0"/>
                  </a:lnTo>
                  <a:cubicBezTo>
                    <a:pt x="3794837" y="0"/>
                    <a:pt x="3810000" y="15163"/>
                    <a:pt x="3810000" y="33867"/>
                  </a:cubicBezTo>
                  <a:lnTo>
                    <a:pt x="3810000" y="2760133"/>
                  </a:lnTo>
                  <a:cubicBezTo>
                    <a:pt x="3810000" y="2778837"/>
                    <a:pt x="3794837" y="2794000"/>
                    <a:pt x="3776133" y="2794000"/>
                  </a:cubicBezTo>
                  <a:lnTo>
                    <a:pt x="33867" y="2794000"/>
                  </a:lnTo>
                  <a:cubicBezTo>
                    <a:pt x="15163" y="2794000"/>
                    <a:pt x="0" y="2778837"/>
                    <a:pt x="0" y="2760133"/>
                  </a:cubicBezTo>
                  <a:lnTo>
                    <a:pt x="0" y="33867"/>
                  </a:lnTo>
                  <a:cubicBezTo>
                    <a:pt x="0" y="15163"/>
                    <a:pt x="15163" y="0"/>
                    <a:pt x="33867" y="0"/>
                  </a:cubicBezTo>
                  <a:close/>
                </a:path>
              </a:pathLst>
            </a:custGeom>
            <a:solidFill>
              <a:srgbClr val="FFE600"/>
            </a:solidFill>
            <a:ln w="3810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9" id="9"/>
            <p:cNvSpPr txBox="true"/>
            <p:nvPr/>
          </p:nvSpPr>
          <p:spPr>
            <a:xfrm>
              <a:off x="0" y="-9525"/>
              <a:ext cx="3810000" cy="28035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83"/>
                </a:lnSpc>
              </a:pPr>
              <a:r>
                <a:rPr lang="en-US" sz="2175" b="true">
                  <a:solidFill>
                    <a:srgbClr val="000000"/>
                  </a:solidFill>
                  <a:latin typeface="Akzidenz-Grotesk Bold"/>
                  <a:ea typeface="Akzidenz-Grotesk Bold"/>
                  <a:cs typeface="Akzidenz-Grotesk Bold"/>
                  <a:sym typeface="Akzidenz-Grotesk Bold"/>
                </a:rPr>
                <a:t>PAYMENT API</a:t>
              </a:r>
            </a:p>
          </p:txBody>
        </p:sp>
      </p:grpSp>
      <p:sp>
        <p:nvSpPr>
          <p:cNvPr name="AutoShape 10" id="10"/>
          <p:cNvSpPr/>
          <p:nvPr/>
        </p:nvSpPr>
        <p:spPr>
          <a:xfrm>
            <a:off x="3581400" y="5143500"/>
            <a:ext cx="552450" cy="0"/>
          </a:xfrm>
          <a:prstGeom prst="line">
            <a:avLst/>
          </a:prstGeom>
          <a:ln cap="rnd" w="47625">
            <a:solidFill>
              <a:srgbClr val="000000"/>
            </a:solidFill>
            <a:prstDash val="solid"/>
            <a:headEnd type="none" len="sm" w="sm"/>
            <a:tailEnd type="arrow" len="sm" w="med"/>
          </a:ln>
        </p:spPr>
      </p:sp>
      <p:grpSp>
        <p:nvGrpSpPr>
          <p:cNvPr name="Group 11" id="11"/>
          <p:cNvGrpSpPr/>
          <p:nvPr/>
        </p:nvGrpSpPr>
        <p:grpSpPr>
          <a:xfrm rot="0">
            <a:off x="4248150" y="4152900"/>
            <a:ext cx="2857500" cy="2095500"/>
            <a:chOff x="0" y="0"/>
            <a:chExt cx="3810000" cy="27940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3810000" cy="2794000"/>
            </a:xfrm>
            <a:custGeom>
              <a:avLst/>
              <a:gdLst/>
              <a:ahLst/>
              <a:cxnLst/>
              <a:rect r="r" b="b" t="t" l="l"/>
              <a:pathLst>
                <a:path h="2794000" w="3810000">
                  <a:moveTo>
                    <a:pt x="0" y="0"/>
                  </a:moveTo>
                  <a:lnTo>
                    <a:pt x="3810000" y="0"/>
                  </a:lnTo>
                  <a:lnTo>
                    <a:pt x="3810000" y="2794000"/>
                  </a:lnTo>
                  <a:lnTo>
                    <a:pt x="0" y="2794000"/>
                  </a:lnTo>
                  <a:close/>
                </a:path>
              </a:pathLst>
            </a:custGeom>
            <a:solidFill>
              <a:srgbClr val="000000"/>
            </a:solidFill>
            <a:ln cap="sq">
              <a:noFill/>
              <a:prstDash val="solid"/>
              <a:miter/>
            </a:ln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3810000" cy="2832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4191000" y="4095750"/>
            <a:ext cx="2857500" cy="2095500"/>
            <a:chOff x="0" y="0"/>
            <a:chExt cx="3810000" cy="27940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3810000" cy="2794000"/>
            </a:xfrm>
            <a:custGeom>
              <a:avLst/>
              <a:gdLst/>
              <a:ahLst/>
              <a:cxnLst/>
              <a:rect r="r" b="b" t="t" l="l"/>
              <a:pathLst>
                <a:path h="2794000" w="3810000">
                  <a:moveTo>
                    <a:pt x="33867" y="0"/>
                  </a:moveTo>
                  <a:lnTo>
                    <a:pt x="3776133" y="0"/>
                  </a:lnTo>
                  <a:cubicBezTo>
                    <a:pt x="3794837" y="0"/>
                    <a:pt x="3810000" y="15163"/>
                    <a:pt x="3810000" y="33867"/>
                  </a:cubicBezTo>
                  <a:lnTo>
                    <a:pt x="3810000" y="2760133"/>
                  </a:lnTo>
                  <a:cubicBezTo>
                    <a:pt x="3810000" y="2778837"/>
                    <a:pt x="3794837" y="2794000"/>
                    <a:pt x="3776133" y="2794000"/>
                  </a:cubicBezTo>
                  <a:lnTo>
                    <a:pt x="33867" y="2794000"/>
                  </a:lnTo>
                  <a:cubicBezTo>
                    <a:pt x="15163" y="2794000"/>
                    <a:pt x="0" y="2778837"/>
                    <a:pt x="0" y="2760133"/>
                  </a:cubicBezTo>
                  <a:lnTo>
                    <a:pt x="0" y="33867"/>
                  </a:lnTo>
                  <a:cubicBezTo>
                    <a:pt x="0" y="15163"/>
                    <a:pt x="15163" y="0"/>
                    <a:pt x="33867" y="0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0" y="-9525"/>
              <a:ext cx="3810000" cy="28035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83"/>
                </a:lnSpc>
              </a:pPr>
              <a:r>
                <a:rPr lang="en-US" sz="2175" b="true">
                  <a:solidFill>
                    <a:srgbClr val="000000"/>
                  </a:solidFill>
                  <a:latin typeface="Akzidenz-Grotesk Bold"/>
                  <a:ea typeface="Akzidenz-Grotesk Bold"/>
                  <a:cs typeface="Akzidenz-Grotesk Bold"/>
                  <a:sym typeface="Akzidenz-Grotesk Bold"/>
                </a:rPr>
                <a:t>AVRO CONTRACT</a:t>
              </a:r>
            </a:p>
          </p:txBody>
        </p:sp>
      </p:grpSp>
      <p:sp>
        <p:nvSpPr>
          <p:cNvPr name="AutoShape 17" id="17"/>
          <p:cNvSpPr/>
          <p:nvPr/>
        </p:nvSpPr>
        <p:spPr>
          <a:xfrm>
            <a:off x="7105650" y="5143500"/>
            <a:ext cx="552450" cy="0"/>
          </a:xfrm>
          <a:prstGeom prst="line">
            <a:avLst/>
          </a:prstGeom>
          <a:ln cap="rnd" w="47625">
            <a:solidFill>
              <a:srgbClr val="000000"/>
            </a:solidFill>
            <a:prstDash val="solid"/>
            <a:headEnd type="none" len="sm" w="sm"/>
            <a:tailEnd type="arrow" len="sm" w="med"/>
          </a:ln>
        </p:spPr>
      </p:sp>
      <p:grpSp>
        <p:nvGrpSpPr>
          <p:cNvPr name="Group 18" id="18"/>
          <p:cNvGrpSpPr/>
          <p:nvPr/>
        </p:nvGrpSpPr>
        <p:grpSpPr>
          <a:xfrm rot="0">
            <a:off x="7772400" y="4152900"/>
            <a:ext cx="2857500" cy="2095500"/>
            <a:chOff x="0" y="0"/>
            <a:chExt cx="3810000" cy="279400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3810000" cy="2794000"/>
            </a:xfrm>
            <a:custGeom>
              <a:avLst/>
              <a:gdLst/>
              <a:ahLst/>
              <a:cxnLst/>
              <a:rect r="r" b="b" t="t" l="l"/>
              <a:pathLst>
                <a:path h="2794000" w="3810000">
                  <a:moveTo>
                    <a:pt x="0" y="0"/>
                  </a:moveTo>
                  <a:lnTo>
                    <a:pt x="3810000" y="0"/>
                  </a:lnTo>
                  <a:lnTo>
                    <a:pt x="3810000" y="2794000"/>
                  </a:lnTo>
                  <a:lnTo>
                    <a:pt x="0" y="2794000"/>
                  </a:lnTo>
                  <a:close/>
                </a:path>
              </a:pathLst>
            </a:custGeom>
            <a:solidFill>
              <a:srgbClr val="000000"/>
            </a:solidFill>
            <a:ln cap="sq">
              <a:noFill/>
              <a:prstDash val="solid"/>
              <a:miter/>
            </a:ln>
          </p:spPr>
        </p:sp>
        <p:sp>
          <p:nvSpPr>
            <p:cNvPr name="TextBox 20" id="20"/>
            <p:cNvSpPr txBox="true"/>
            <p:nvPr/>
          </p:nvSpPr>
          <p:spPr>
            <a:xfrm>
              <a:off x="0" y="-38100"/>
              <a:ext cx="3810000" cy="2832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7715250" y="4095750"/>
            <a:ext cx="2857500" cy="2095500"/>
            <a:chOff x="0" y="0"/>
            <a:chExt cx="3810000" cy="279400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3810000" cy="2794000"/>
            </a:xfrm>
            <a:custGeom>
              <a:avLst/>
              <a:gdLst/>
              <a:ahLst/>
              <a:cxnLst/>
              <a:rect r="r" b="b" t="t" l="l"/>
              <a:pathLst>
                <a:path h="2794000" w="3810000">
                  <a:moveTo>
                    <a:pt x="33867" y="0"/>
                  </a:moveTo>
                  <a:lnTo>
                    <a:pt x="3776133" y="0"/>
                  </a:lnTo>
                  <a:cubicBezTo>
                    <a:pt x="3794837" y="0"/>
                    <a:pt x="3810000" y="15163"/>
                    <a:pt x="3810000" y="33867"/>
                  </a:cubicBezTo>
                  <a:lnTo>
                    <a:pt x="3810000" y="2760133"/>
                  </a:lnTo>
                  <a:cubicBezTo>
                    <a:pt x="3810000" y="2778837"/>
                    <a:pt x="3794837" y="2794000"/>
                    <a:pt x="3776133" y="2794000"/>
                  </a:cubicBezTo>
                  <a:lnTo>
                    <a:pt x="33867" y="2794000"/>
                  </a:lnTo>
                  <a:cubicBezTo>
                    <a:pt x="15163" y="2794000"/>
                    <a:pt x="0" y="2778837"/>
                    <a:pt x="0" y="2760133"/>
                  </a:cubicBezTo>
                  <a:lnTo>
                    <a:pt x="0" y="33867"/>
                  </a:lnTo>
                  <a:cubicBezTo>
                    <a:pt x="0" y="15163"/>
                    <a:pt x="15163" y="0"/>
                    <a:pt x="33867" y="0"/>
                  </a:cubicBezTo>
                  <a:close/>
                </a:path>
              </a:pathLst>
            </a:custGeom>
            <a:solidFill>
              <a:srgbClr val="00F5A0"/>
            </a:solidFill>
            <a:ln w="3810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23" id="23"/>
            <p:cNvSpPr txBox="true"/>
            <p:nvPr/>
          </p:nvSpPr>
          <p:spPr>
            <a:xfrm>
              <a:off x="0" y="-9525"/>
              <a:ext cx="3810000" cy="28035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83"/>
                </a:lnSpc>
              </a:pPr>
              <a:r>
                <a:rPr lang="en-US" sz="2175" b="true">
                  <a:solidFill>
                    <a:srgbClr val="000000"/>
                  </a:solidFill>
                  <a:latin typeface="Akzidenz-Grotesk Bold"/>
                  <a:ea typeface="Akzidenz-Grotesk Bold"/>
                  <a:cs typeface="Akzidenz-Grotesk Bold"/>
                  <a:sym typeface="Akzidenz-Grotesk Bold"/>
                </a:rPr>
                <a:t>AMAZON MSK</a:t>
              </a:r>
            </a:p>
          </p:txBody>
        </p:sp>
      </p:grpSp>
      <p:sp>
        <p:nvSpPr>
          <p:cNvPr name="AutoShape 24" id="24"/>
          <p:cNvSpPr/>
          <p:nvPr/>
        </p:nvSpPr>
        <p:spPr>
          <a:xfrm>
            <a:off x="10629900" y="5143500"/>
            <a:ext cx="552450" cy="0"/>
          </a:xfrm>
          <a:prstGeom prst="line">
            <a:avLst/>
          </a:prstGeom>
          <a:ln cap="rnd" w="47625">
            <a:solidFill>
              <a:srgbClr val="000000"/>
            </a:solidFill>
            <a:prstDash val="solid"/>
            <a:headEnd type="none" len="sm" w="sm"/>
            <a:tailEnd type="arrow" len="sm" w="med"/>
          </a:ln>
        </p:spPr>
      </p:sp>
      <p:grpSp>
        <p:nvGrpSpPr>
          <p:cNvPr name="Group 25" id="25"/>
          <p:cNvGrpSpPr/>
          <p:nvPr/>
        </p:nvGrpSpPr>
        <p:grpSpPr>
          <a:xfrm rot="0">
            <a:off x="11296650" y="4152900"/>
            <a:ext cx="2857500" cy="2095500"/>
            <a:chOff x="0" y="0"/>
            <a:chExt cx="3810000" cy="279400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3810000" cy="2794000"/>
            </a:xfrm>
            <a:custGeom>
              <a:avLst/>
              <a:gdLst/>
              <a:ahLst/>
              <a:cxnLst/>
              <a:rect r="r" b="b" t="t" l="l"/>
              <a:pathLst>
                <a:path h="2794000" w="3810000">
                  <a:moveTo>
                    <a:pt x="0" y="0"/>
                  </a:moveTo>
                  <a:lnTo>
                    <a:pt x="3810000" y="0"/>
                  </a:lnTo>
                  <a:lnTo>
                    <a:pt x="3810000" y="2794000"/>
                  </a:lnTo>
                  <a:lnTo>
                    <a:pt x="0" y="2794000"/>
                  </a:lnTo>
                  <a:close/>
                </a:path>
              </a:pathLst>
            </a:custGeom>
            <a:solidFill>
              <a:srgbClr val="000000"/>
            </a:solidFill>
            <a:ln cap="sq">
              <a:noFill/>
              <a:prstDash val="solid"/>
              <a:miter/>
            </a:ln>
          </p:spPr>
        </p:sp>
        <p:sp>
          <p:nvSpPr>
            <p:cNvPr name="TextBox 27" id="27"/>
            <p:cNvSpPr txBox="true"/>
            <p:nvPr/>
          </p:nvSpPr>
          <p:spPr>
            <a:xfrm>
              <a:off x="0" y="-38100"/>
              <a:ext cx="3810000" cy="2832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8" id="28"/>
          <p:cNvGrpSpPr/>
          <p:nvPr/>
        </p:nvGrpSpPr>
        <p:grpSpPr>
          <a:xfrm rot="0">
            <a:off x="11239500" y="4095750"/>
            <a:ext cx="2857500" cy="2095500"/>
            <a:chOff x="0" y="0"/>
            <a:chExt cx="3810000" cy="279400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3810000" cy="2794000"/>
            </a:xfrm>
            <a:custGeom>
              <a:avLst/>
              <a:gdLst/>
              <a:ahLst/>
              <a:cxnLst/>
              <a:rect r="r" b="b" t="t" l="l"/>
              <a:pathLst>
                <a:path h="2794000" w="3810000">
                  <a:moveTo>
                    <a:pt x="33867" y="0"/>
                  </a:moveTo>
                  <a:lnTo>
                    <a:pt x="3776133" y="0"/>
                  </a:lnTo>
                  <a:cubicBezTo>
                    <a:pt x="3794837" y="0"/>
                    <a:pt x="3810000" y="15163"/>
                    <a:pt x="3810000" y="33867"/>
                  </a:cubicBezTo>
                  <a:lnTo>
                    <a:pt x="3810000" y="2760133"/>
                  </a:lnTo>
                  <a:cubicBezTo>
                    <a:pt x="3810000" y="2778837"/>
                    <a:pt x="3794837" y="2794000"/>
                    <a:pt x="3776133" y="2794000"/>
                  </a:cubicBezTo>
                  <a:lnTo>
                    <a:pt x="33867" y="2794000"/>
                  </a:lnTo>
                  <a:cubicBezTo>
                    <a:pt x="15163" y="2794000"/>
                    <a:pt x="0" y="2778837"/>
                    <a:pt x="0" y="2760133"/>
                  </a:cubicBezTo>
                  <a:lnTo>
                    <a:pt x="0" y="33867"/>
                  </a:lnTo>
                  <a:cubicBezTo>
                    <a:pt x="0" y="15163"/>
                    <a:pt x="15163" y="0"/>
                    <a:pt x="33867" y="0"/>
                  </a:cubicBezTo>
                  <a:close/>
                </a:path>
              </a:pathLst>
            </a:custGeom>
            <a:solidFill>
              <a:srgbClr val="7C3AED"/>
            </a:solidFill>
            <a:ln w="3810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30" id="30"/>
            <p:cNvSpPr txBox="true"/>
            <p:nvPr/>
          </p:nvSpPr>
          <p:spPr>
            <a:xfrm>
              <a:off x="0" y="-9525"/>
              <a:ext cx="3810000" cy="28035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83"/>
                </a:lnSpc>
              </a:pPr>
              <a:r>
                <a:rPr lang="en-US" sz="2175" b="true">
                  <a:solidFill>
                    <a:srgbClr val="000000"/>
                  </a:solidFill>
                  <a:latin typeface="Akzidenz-Grotesk Bold"/>
                  <a:ea typeface="Akzidenz-Grotesk Bold"/>
                  <a:cs typeface="Akzidenz-Grotesk Bold"/>
                  <a:sym typeface="Akzidenz-Grotesk Bold"/>
                </a:rPr>
                <a:t>S3 MICRO-BATCH</a:t>
              </a:r>
            </a:p>
          </p:txBody>
        </p:sp>
      </p:grpSp>
      <p:sp>
        <p:nvSpPr>
          <p:cNvPr name="AutoShape 31" id="31"/>
          <p:cNvSpPr/>
          <p:nvPr/>
        </p:nvSpPr>
        <p:spPr>
          <a:xfrm>
            <a:off x="14154150" y="5143500"/>
            <a:ext cx="552450" cy="0"/>
          </a:xfrm>
          <a:prstGeom prst="line">
            <a:avLst/>
          </a:prstGeom>
          <a:ln cap="rnd" w="47625">
            <a:solidFill>
              <a:srgbClr val="000000"/>
            </a:solidFill>
            <a:prstDash val="solid"/>
            <a:headEnd type="none" len="sm" w="sm"/>
            <a:tailEnd type="arrow" len="sm" w="med"/>
          </a:ln>
        </p:spPr>
      </p:sp>
      <p:grpSp>
        <p:nvGrpSpPr>
          <p:cNvPr name="Group 32" id="32"/>
          <p:cNvGrpSpPr/>
          <p:nvPr/>
        </p:nvGrpSpPr>
        <p:grpSpPr>
          <a:xfrm rot="0">
            <a:off x="14820900" y="4152900"/>
            <a:ext cx="2857500" cy="2095500"/>
            <a:chOff x="0" y="0"/>
            <a:chExt cx="3810000" cy="279400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3810000" cy="2794000"/>
            </a:xfrm>
            <a:custGeom>
              <a:avLst/>
              <a:gdLst/>
              <a:ahLst/>
              <a:cxnLst/>
              <a:rect r="r" b="b" t="t" l="l"/>
              <a:pathLst>
                <a:path h="2794000" w="3810000">
                  <a:moveTo>
                    <a:pt x="0" y="0"/>
                  </a:moveTo>
                  <a:lnTo>
                    <a:pt x="3810000" y="0"/>
                  </a:lnTo>
                  <a:lnTo>
                    <a:pt x="3810000" y="2794000"/>
                  </a:lnTo>
                  <a:lnTo>
                    <a:pt x="0" y="2794000"/>
                  </a:lnTo>
                  <a:close/>
                </a:path>
              </a:pathLst>
            </a:custGeom>
            <a:solidFill>
              <a:srgbClr val="000000"/>
            </a:solidFill>
            <a:ln cap="sq">
              <a:noFill/>
              <a:prstDash val="solid"/>
              <a:miter/>
            </a:ln>
          </p:spPr>
        </p:sp>
        <p:sp>
          <p:nvSpPr>
            <p:cNvPr name="TextBox 34" id="34"/>
            <p:cNvSpPr txBox="true"/>
            <p:nvPr/>
          </p:nvSpPr>
          <p:spPr>
            <a:xfrm>
              <a:off x="0" y="-38100"/>
              <a:ext cx="3810000" cy="2832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14763750" y="4095750"/>
            <a:ext cx="2857500" cy="2095500"/>
            <a:chOff x="0" y="0"/>
            <a:chExt cx="3810000" cy="279400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3810000" cy="2794000"/>
            </a:xfrm>
            <a:custGeom>
              <a:avLst/>
              <a:gdLst/>
              <a:ahLst/>
              <a:cxnLst/>
              <a:rect r="r" b="b" t="t" l="l"/>
              <a:pathLst>
                <a:path h="2794000" w="3810000">
                  <a:moveTo>
                    <a:pt x="33867" y="0"/>
                  </a:moveTo>
                  <a:lnTo>
                    <a:pt x="3776133" y="0"/>
                  </a:lnTo>
                  <a:cubicBezTo>
                    <a:pt x="3794837" y="0"/>
                    <a:pt x="3810000" y="15163"/>
                    <a:pt x="3810000" y="33867"/>
                  </a:cubicBezTo>
                  <a:lnTo>
                    <a:pt x="3810000" y="2760133"/>
                  </a:lnTo>
                  <a:cubicBezTo>
                    <a:pt x="3810000" y="2778837"/>
                    <a:pt x="3794837" y="2794000"/>
                    <a:pt x="3776133" y="2794000"/>
                  </a:cubicBezTo>
                  <a:lnTo>
                    <a:pt x="33867" y="2794000"/>
                  </a:lnTo>
                  <a:cubicBezTo>
                    <a:pt x="15163" y="2794000"/>
                    <a:pt x="0" y="2778837"/>
                    <a:pt x="0" y="2760133"/>
                  </a:cubicBezTo>
                  <a:lnTo>
                    <a:pt x="0" y="33867"/>
                  </a:lnTo>
                  <a:cubicBezTo>
                    <a:pt x="0" y="15163"/>
                    <a:pt x="15163" y="0"/>
                    <a:pt x="33867" y="0"/>
                  </a:cubicBezTo>
                  <a:close/>
                </a:path>
              </a:pathLst>
            </a:custGeom>
            <a:solidFill>
              <a:srgbClr val="FF4757"/>
            </a:solidFill>
            <a:ln w="3810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37" id="37"/>
            <p:cNvSpPr txBox="true"/>
            <p:nvPr/>
          </p:nvSpPr>
          <p:spPr>
            <a:xfrm>
              <a:off x="0" y="-9525"/>
              <a:ext cx="3810000" cy="28035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83"/>
                </a:lnSpc>
              </a:pPr>
              <a:r>
                <a:rPr lang="en-US" sz="2175" b="true">
                  <a:solidFill>
                    <a:srgbClr val="000000"/>
                  </a:solidFill>
                  <a:latin typeface="Akzidenz-Grotesk Bold"/>
                  <a:ea typeface="Akzidenz-Grotesk Bold"/>
                  <a:cs typeface="Akzidenz-Grotesk Bold"/>
                  <a:sym typeface="Akzidenz-Grotesk Bold"/>
                </a:rPr>
                <a:t>BRONZE</a:t>
              </a:r>
            </a:p>
          </p:txBody>
        </p:sp>
      </p:grpSp>
      <p:sp>
        <p:nvSpPr>
          <p:cNvPr name="TextBox 38" id="38"/>
          <p:cNvSpPr txBox="true"/>
          <p:nvPr/>
        </p:nvSpPr>
        <p:spPr>
          <a:xfrm rot="0">
            <a:off x="2857500" y="7591425"/>
            <a:ext cx="12573000" cy="4815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528"/>
              </a:lnSpc>
            </a:pPr>
            <a:r>
              <a:rPr lang="en-US" sz="3600">
                <a:solidFill>
                  <a:srgbClr val="000000"/>
                </a:solidFill>
                <a:latin typeface="Archivo Black"/>
                <a:ea typeface="Archivo Black"/>
                <a:cs typeface="Archivo Black"/>
                <a:sym typeface="Archivo Black"/>
              </a:rPr>
              <a:t>NO RELATIONAL WRITE ON THE HOT PATH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>
  <p:cSld>
    <p:bg>
      <p:bgPr>
        <a:solidFill>
          <a:srgbClr val="FA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819150" y="647700"/>
            <a:ext cx="16649700" cy="6294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04"/>
              </a:lnSpc>
            </a:pPr>
            <a:r>
              <a:rPr lang="en-US" sz="4800">
                <a:solidFill>
                  <a:srgbClr val="000000"/>
                </a:solidFill>
                <a:latin typeface="Archivo Black"/>
                <a:ea typeface="Archivo Black"/>
                <a:cs typeface="Archivo Black"/>
                <a:sym typeface="Archivo Black"/>
              </a:rPr>
              <a:t>B — POSTGRESQL CDC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819150" y="1400937"/>
            <a:ext cx="13811250" cy="3309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3"/>
              </a:lnSpc>
            </a:pPr>
            <a:r>
              <a:rPr lang="en-US" sz="1875">
                <a:solidFill>
                  <a:srgbClr val="000000"/>
                </a:solidFill>
                <a:latin typeface="Akzidenz-Grotesk"/>
                <a:ea typeface="Akzidenz-Grotesk"/>
                <a:cs typeface="Akzidenz-Grotesk"/>
                <a:sym typeface="Akzidenz-Grotesk"/>
              </a:rPr>
              <a:t>Debezium 2.5 tails WAL logs: no polling, no double-write, no application coupling.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723900" y="4152900"/>
            <a:ext cx="2857500" cy="2095500"/>
            <a:chOff x="0" y="0"/>
            <a:chExt cx="3810000" cy="2794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3810000" cy="2794000"/>
            </a:xfrm>
            <a:custGeom>
              <a:avLst/>
              <a:gdLst/>
              <a:ahLst/>
              <a:cxnLst/>
              <a:rect r="r" b="b" t="t" l="l"/>
              <a:pathLst>
                <a:path h="2794000" w="3810000">
                  <a:moveTo>
                    <a:pt x="0" y="0"/>
                  </a:moveTo>
                  <a:lnTo>
                    <a:pt x="3810000" y="0"/>
                  </a:lnTo>
                  <a:lnTo>
                    <a:pt x="3810000" y="2794000"/>
                  </a:lnTo>
                  <a:lnTo>
                    <a:pt x="0" y="2794000"/>
                  </a:lnTo>
                  <a:close/>
                </a:path>
              </a:pathLst>
            </a:custGeom>
            <a:solidFill>
              <a:srgbClr val="000000"/>
            </a:solidFill>
            <a:ln cap="sq">
              <a:noFill/>
              <a:prstDash val="solid"/>
              <a:miter/>
            </a:ln>
          </p:spPr>
        </p:sp>
        <p:sp>
          <p:nvSpPr>
            <p:cNvPr name="TextBox 6" id="6"/>
            <p:cNvSpPr txBox="true"/>
            <p:nvPr/>
          </p:nvSpPr>
          <p:spPr>
            <a:xfrm>
              <a:off x="0" y="-38100"/>
              <a:ext cx="3810000" cy="2832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666750" y="4095750"/>
            <a:ext cx="2857500" cy="2095500"/>
            <a:chOff x="0" y="0"/>
            <a:chExt cx="3810000" cy="2794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3810000" cy="2794000"/>
            </a:xfrm>
            <a:custGeom>
              <a:avLst/>
              <a:gdLst/>
              <a:ahLst/>
              <a:cxnLst/>
              <a:rect r="r" b="b" t="t" l="l"/>
              <a:pathLst>
                <a:path h="2794000" w="3810000">
                  <a:moveTo>
                    <a:pt x="33867" y="0"/>
                  </a:moveTo>
                  <a:lnTo>
                    <a:pt x="3776133" y="0"/>
                  </a:lnTo>
                  <a:cubicBezTo>
                    <a:pt x="3794837" y="0"/>
                    <a:pt x="3810000" y="15163"/>
                    <a:pt x="3810000" y="33867"/>
                  </a:cubicBezTo>
                  <a:lnTo>
                    <a:pt x="3810000" y="2760133"/>
                  </a:lnTo>
                  <a:cubicBezTo>
                    <a:pt x="3810000" y="2778837"/>
                    <a:pt x="3794837" y="2794000"/>
                    <a:pt x="3776133" y="2794000"/>
                  </a:cubicBezTo>
                  <a:lnTo>
                    <a:pt x="33867" y="2794000"/>
                  </a:lnTo>
                  <a:cubicBezTo>
                    <a:pt x="15163" y="2794000"/>
                    <a:pt x="0" y="2778837"/>
                    <a:pt x="0" y="2760133"/>
                  </a:cubicBezTo>
                  <a:lnTo>
                    <a:pt x="0" y="33867"/>
                  </a:lnTo>
                  <a:cubicBezTo>
                    <a:pt x="0" y="15163"/>
                    <a:pt x="15163" y="0"/>
                    <a:pt x="33867" y="0"/>
                  </a:cubicBezTo>
                  <a:close/>
                </a:path>
              </a:pathLst>
            </a:custGeom>
            <a:solidFill>
              <a:srgbClr val="00F5A0"/>
            </a:solidFill>
            <a:ln w="3810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9" id="9"/>
            <p:cNvSpPr txBox="true"/>
            <p:nvPr/>
          </p:nvSpPr>
          <p:spPr>
            <a:xfrm>
              <a:off x="0" y="-9525"/>
              <a:ext cx="3810000" cy="28035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83"/>
                </a:lnSpc>
              </a:pPr>
              <a:r>
                <a:rPr lang="en-US" sz="2175" b="true">
                  <a:solidFill>
                    <a:srgbClr val="000000"/>
                  </a:solidFill>
                  <a:latin typeface="Akzidenz-Grotesk Bold"/>
                  <a:ea typeface="Akzidenz-Grotesk Bold"/>
                  <a:cs typeface="Akzidenz-Grotesk Bold"/>
                  <a:sym typeface="Akzidenz-Grotesk Bold"/>
                </a:rPr>
                <a:t>POSTGRESQL</a:t>
              </a:r>
            </a:p>
          </p:txBody>
        </p:sp>
      </p:grpSp>
      <p:sp>
        <p:nvSpPr>
          <p:cNvPr name="AutoShape 10" id="10"/>
          <p:cNvSpPr/>
          <p:nvPr/>
        </p:nvSpPr>
        <p:spPr>
          <a:xfrm>
            <a:off x="3581400" y="5143500"/>
            <a:ext cx="552450" cy="0"/>
          </a:xfrm>
          <a:prstGeom prst="line">
            <a:avLst/>
          </a:prstGeom>
          <a:ln cap="rnd" w="47625">
            <a:solidFill>
              <a:srgbClr val="000000"/>
            </a:solidFill>
            <a:prstDash val="solid"/>
            <a:headEnd type="none" len="sm" w="sm"/>
            <a:tailEnd type="arrow" len="sm" w="med"/>
          </a:ln>
        </p:spPr>
      </p:sp>
      <p:grpSp>
        <p:nvGrpSpPr>
          <p:cNvPr name="Group 11" id="11"/>
          <p:cNvGrpSpPr/>
          <p:nvPr/>
        </p:nvGrpSpPr>
        <p:grpSpPr>
          <a:xfrm rot="0">
            <a:off x="4248150" y="4152900"/>
            <a:ext cx="2857500" cy="2095500"/>
            <a:chOff x="0" y="0"/>
            <a:chExt cx="3810000" cy="27940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3810000" cy="2794000"/>
            </a:xfrm>
            <a:custGeom>
              <a:avLst/>
              <a:gdLst/>
              <a:ahLst/>
              <a:cxnLst/>
              <a:rect r="r" b="b" t="t" l="l"/>
              <a:pathLst>
                <a:path h="2794000" w="3810000">
                  <a:moveTo>
                    <a:pt x="0" y="0"/>
                  </a:moveTo>
                  <a:lnTo>
                    <a:pt x="3810000" y="0"/>
                  </a:lnTo>
                  <a:lnTo>
                    <a:pt x="3810000" y="2794000"/>
                  </a:lnTo>
                  <a:lnTo>
                    <a:pt x="0" y="2794000"/>
                  </a:lnTo>
                  <a:close/>
                </a:path>
              </a:pathLst>
            </a:custGeom>
            <a:solidFill>
              <a:srgbClr val="000000"/>
            </a:solidFill>
            <a:ln cap="sq">
              <a:noFill/>
              <a:prstDash val="solid"/>
              <a:miter/>
            </a:ln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3810000" cy="2832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4191000" y="4095750"/>
            <a:ext cx="2857500" cy="2095500"/>
            <a:chOff x="0" y="0"/>
            <a:chExt cx="3810000" cy="27940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3810000" cy="2794000"/>
            </a:xfrm>
            <a:custGeom>
              <a:avLst/>
              <a:gdLst/>
              <a:ahLst/>
              <a:cxnLst/>
              <a:rect r="r" b="b" t="t" l="l"/>
              <a:pathLst>
                <a:path h="2794000" w="3810000">
                  <a:moveTo>
                    <a:pt x="33867" y="0"/>
                  </a:moveTo>
                  <a:lnTo>
                    <a:pt x="3776133" y="0"/>
                  </a:lnTo>
                  <a:cubicBezTo>
                    <a:pt x="3794837" y="0"/>
                    <a:pt x="3810000" y="15163"/>
                    <a:pt x="3810000" y="33867"/>
                  </a:cubicBezTo>
                  <a:lnTo>
                    <a:pt x="3810000" y="2760133"/>
                  </a:lnTo>
                  <a:cubicBezTo>
                    <a:pt x="3810000" y="2778837"/>
                    <a:pt x="3794837" y="2794000"/>
                    <a:pt x="3776133" y="2794000"/>
                  </a:cubicBezTo>
                  <a:lnTo>
                    <a:pt x="33867" y="2794000"/>
                  </a:lnTo>
                  <a:cubicBezTo>
                    <a:pt x="15163" y="2794000"/>
                    <a:pt x="0" y="2778837"/>
                    <a:pt x="0" y="2760133"/>
                  </a:cubicBezTo>
                  <a:lnTo>
                    <a:pt x="0" y="33867"/>
                  </a:lnTo>
                  <a:cubicBezTo>
                    <a:pt x="0" y="15163"/>
                    <a:pt x="15163" y="0"/>
                    <a:pt x="33867" y="0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0" y="-9525"/>
              <a:ext cx="3810000" cy="28035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83"/>
                </a:lnSpc>
              </a:pPr>
              <a:r>
                <a:rPr lang="en-US" sz="2175" b="true">
                  <a:solidFill>
                    <a:srgbClr val="000000"/>
                  </a:solidFill>
                  <a:latin typeface="Akzidenz-Grotesk Bold"/>
                  <a:ea typeface="Akzidenz-Grotesk Bold"/>
                  <a:cs typeface="Akzidenz-Grotesk Bold"/>
                  <a:sym typeface="Akzidenz-Grotesk Bold"/>
                </a:rPr>
                <a:t>WAL LOG</a:t>
              </a:r>
            </a:p>
          </p:txBody>
        </p:sp>
      </p:grpSp>
      <p:sp>
        <p:nvSpPr>
          <p:cNvPr name="AutoShape 17" id="17"/>
          <p:cNvSpPr/>
          <p:nvPr/>
        </p:nvSpPr>
        <p:spPr>
          <a:xfrm>
            <a:off x="7105650" y="5143500"/>
            <a:ext cx="552450" cy="0"/>
          </a:xfrm>
          <a:prstGeom prst="line">
            <a:avLst/>
          </a:prstGeom>
          <a:ln cap="rnd" w="47625">
            <a:solidFill>
              <a:srgbClr val="000000"/>
            </a:solidFill>
            <a:prstDash val="solid"/>
            <a:headEnd type="none" len="sm" w="sm"/>
            <a:tailEnd type="arrow" len="sm" w="med"/>
          </a:ln>
        </p:spPr>
      </p:sp>
      <p:grpSp>
        <p:nvGrpSpPr>
          <p:cNvPr name="Group 18" id="18"/>
          <p:cNvGrpSpPr/>
          <p:nvPr/>
        </p:nvGrpSpPr>
        <p:grpSpPr>
          <a:xfrm rot="0">
            <a:off x="7772400" y="4152900"/>
            <a:ext cx="2857500" cy="2095500"/>
            <a:chOff x="0" y="0"/>
            <a:chExt cx="3810000" cy="279400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3810000" cy="2794000"/>
            </a:xfrm>
            <a:custGeom>
              <a:avLst/>
              <a:gdLst/>
              <a:ahLst/>
              <a:cxnLst/>
              <a:rect r="r" b="b" t="t" l="l"/>
              <a:pathLst>
                <a:path h="2794000" w="3810000">
                  <a:moveTo>
                    <a:pt x="0" y="0"/>
                  </a:moveTo>
                  <a:lnTo>
                    <a:pt x="3810000" y="0"/>
                  </a:lnTo>
                  <a:lnTo>
                    <a:pt x="3810000" y="2794000"/>
                  </a:lnTo>
                  <a:lnTo>
                    <a:pt x="0" y="2794000"/>
                  </a:lnTo>
                  <a:close/>
                </a:path>
              </a:pathLst>
            </a:custGeom>
            <a:solidFill>
              <a:srgbClr val="000000"/>
            </a:solidFill>
            <a:ln cap="sq">
              <a:noFill/>
              <a:prstDash val="solid"/>
              <a:miter/>
            </a:ln>
          </p:spPr>
        </p:sp>
        <p:sp>
          <p:nvSpPr>
            <p:cNvPr name="TextBox 20" id="20"/>
            <p:cNvSpPr txBox="true"/>
            <p:nvPr/>
          </p:nvSpPr>
          <p:spPr>
            <a:xfrm>
              <a:off x="0" y="-38100"/>
              <a:ext cx="3810000" cy="2832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7715250" y="4095750"/>
            <a:ext cx="2857500" cy="2095500"/>
            <a:chOff x="0" y="0"/>
            <a:chExt cx="3810000" cy="279400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3810000" cy="2794000"/>
            </a:xfrm>
            <a:custGeom>
              <a:avLst/>
              <a:gdLst/>
              <a:ahLst/>
              <a:cxnLst/>
              <a:rect r="r" b="b" t="t" l="l"/>
              <a:pathLst>
                <a:path h="2794000" w="3810000">
                  <a:moveTo>
                    <a:pt x="33867" y="0"/>
                  </a:moveTo>
                  <a:lnTo>
                    <a:pt x="3776133" y="0"/>
                  </a:lnTo>
                  <a:cubicBezTo>
                    <a:pt x="3794837" y="0"/>
                    <a:pt x="3810000" y="15163"/>
                    <a:pt x="3810000" y="33867"/>
                  </a:cubicBezTo>
                  <a:lnTo>
                    <a:pt x="3810000" y="2760133"/>
                  </a:lnTo>
                  <a:cubicBezTo>
                    <a:pt x="3810000" y="2778837"/>
                    <a:pt x="3794837" y="2794000"/>
                    <a:pt x="3776133" y="2794000"/>
                  </a:cubicBezTo>
                  <a:lnTo>
                    <a:pt x="33867" y="2794000"/>
                  </a:lnTo>
                  <a:cubicBezTo>
                    <a:pt x="15163" y="2794000"/>
                    <a:pt x="0" y="2778837"/>
                    <a:pt x="0" y="2760133"/>
                  </a:cubicBezTo>
                  <a:lnTo>
                    <a:pt x="0" y="33867"/>
                  </a:lnTo>
                  <a:cubicBezTo>
                    <a:pt x="0" y="15163"/>
                    <a:pt x="15163" y="0"/>
                    <a:pt x="33867" y="0"/>
                  </a:cubicBezTo>
                  <a:close/>
                </a:path>
              </a:pathLst>
            </a:custGeom>
            <a:solidFill>
              <a:srgbClr val="FFE600"/>
            </a:solidFill>
            <a:ln w="3810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23" id="23"/>
            <p:cNvSpPr txBox="true"/>
            <p:nvPr/>
          </p:nvSpPr>
          <p:spPr>
            <a:xfrm>
              <a:off x="0" y="-9525"/>
              <a:ext cx="3810000" cy="28035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83"/>
                </a:lnSpc>
              </a:pPr>
              <a:r>
                <a:rPr lang="en-US" sz="2175" b="true">
                  <a:solidFill>
                    <a:srgbClr val="000000"/>
                  </a:solidFill>
                  <a:latin typeface="Akzidenz-Grotesk Bold"/>
                  <a:ea typeface="Akzidenz-Grotesk Bold"/>
                  <a:cs typeface="Akzidenz-Grotesk Bold"/>
                  <a:sym typeface="Akzidenz-Grotesk Bold"/>
                </a:rPr>
                <a:t>DEBEZIUM 2.5</a:t>
              </a:r>
            </a:p>
          </p:txBody>
        </p:sp>
      </p:grpSp>
      <p:sp>
        <p:nvSpPr>
          <p:cNvPr name="AutoShape 24" id="24"/>
          <p:cNvSpPr/>
          <p:nvPr/>
        </p:nvSpPr>
        <p:spPr>
          <a:xfrm>
            <a:off x="10629900" y="5143500"/>
            <a:ext cx="552450" cy="0"/>
          </a:xfrm>
          <a:prstGeom prst="line">
            <a:avLst/>
          </a:prstGeom>
          <a:ln cap="rnd" w="47625">
            <a:solidFill>
              <a:srgbClr val="000000"/>
            </a:solidFill>
            <a:prstDash val="solid"/>
            <a:headEnd type="none" len="sm" w="sm"/>
            <a:tailEnd type="arrow" len="sm" w="med"/>
          </a:ln>
        </p:spPr>
      </p:sp>
      <p:grpSp>
        <p:nvGrpSpPr>
          <p:cNvPr name="Group 25" id="25"/>
          <p:cNvGrpSpPr/>
          <p:nvPr/>
        </p:nvGrpSpPr>
        <p:grpSpPr>
          <a:xfrm rot="0">
            <a:off x="11296650" y="4152900"/>
            <a:ext cx="2857500" cy="2095500"/>
            <a:chOff x="0" y="0"/>
            <a:chExt cx="3810000" cy="279400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3810000" cy="2794000"/>
            </a:xfrm>
            <a:custGeom>
              <a:avLst/>
              <a:gdLst/>
              <a:ahLst/>
              <a:cxnLst/>
              <a:rect r="r" b="b" t="t" l="l"/>
              <a:pathLst>
                <a:path h="2794000" w="3810000">
                  <a:moveTo>
                    <a:pt x="0" y="0"/>
                  </a:moveTo>
                  <a:lnTo>
                    <a:pt x="3810000" y="0"/>
                  </a:lnTo>
                  <a:lnTo>
                    <a:pt x="3810000" y="2794000"/>
                  </a:lnTo>
                  <a:lnTo>
                    <a:pt x="0" y="2794000"/>
                  </a:lnTo>
                  <a:close/>
                </a:path>
              </a:pathLst>
            </a:custGeom>
            <a:solidFill>
              <a:srgbClr val="000000"/>
            </a:solidFill>
            <a:ln cap="sq">
              <a:noFill/>
              <a:prstDash val="solid"/>
              <a:miter/>
            </a:ln>
          </p:spPr>
        </p:sp>
        <p:sp>
          <p:nvSpPr>
            <p:cNvPr name="TextBox 27" id="27"/>
            <p:cNvSpPr txBox="true"/>
            <p:nvPr/>
          </p:nvSpPr>
          <p:spPr>
            <a:xfrm>
              <a:off x="0" y="-38100"/>
              <a:ext cx="3810000" cy="2832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8" id="28"/>
          <p:cNvGrpSpPr/>
          <p:nvPr/>
        </p:nvGrpSpPr>
        <p:grpSpPr>
          <a:xfrm rot="0">
            <a:off x="11239500" y="4095750"/>
            <a:ext cx="2857500" cy="2095500"/>
            <a:chOff x="0" y="0"/>
            <a:chExt cx="3810000" cy="279400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3810000" cy="2794000"/>
            </a:xfrm>
            <a:custGeom>
              <a:avLst/>
              <a:gdLst/>
              <a:ahLst/>
              <a:cxnLst/>
              <a:rect r="r" b="b" t="t" l="l"/>
              <a:pathLst>
                <a:path h="2794000" w="3810000">
                  <a:moveTo>
                    <a:pt x="33867" y="0"/>
                  </a:moveTo>
                  <a:lnTo>
                    <a:pt x="3776133" y="0"/>
                  </a:lnTo>
                  <a:cubicBezTo>
                    <a:pt x="3794837" y="0"/>
                    <a:pt x="3810000" y="15163"/>
                    <a:pt x="3810000" y="33867"/>
                  </a:cubicBezTo>
                  <a:lnTo>
                    <a:pt x="3810000" y="2760133"/>
                  </a:lnTo>
                  <a:cubicBezTo>
                    <a:pt x="3810000" y="2778837"/>
                    <a:pt x="3794837" y="2794000"/>
                    <a:pt x="3776133" y="2794000"/>
                  </a:cubicBezTo>
                  <a:lnTo>
                    <a:pt x="33867" y="2794000"/>
                  </a:lnTo>
                  <a:cubicBezTo>
                    <a:pt x="15163" y="2794000"/>
                    <a:pt x="0" y="2778837"/>
                    <a:pt x="0" y="2760133"/>
                  </a:cubicBezTo>
                  <a:lnTo>
                    <a:pt x="0" y="33867"/>
                  </a:lnTo>
                  <a:cubicBezTo>
                    <a:pt x="0" y="15163"/>
                    <a:pt x="15163" y="0"/>
                    <a:pt x="33867" y="0"/>
                  </a:cubicBezTo>
                  <a:close/>
                </a:path>
              </a:pathLst>
            </a:custGeom>
            <a:solidFill>
              <a:srgbClr val="7C3AED"/>
            </a:solidFill>
            <a:ln w="3810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30" id="30"/>
            <p:cNvSpPr txBox="true"/>
            <p:nvPr/>
          </p:nvSpPr>
          <p:spPr>
            <a:xfrm>
              <a:off x="0" y="-9525"/>
              <a:ext cx="3810000" cy="28035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83"/>
                </a:lnSpc>
              </a:pPr>
              <a:r>
                <a:rPr lang="en-US" sz="2175" b="true">
                  <a:solidFill>
                    <a:srgbClr val="000000"/>
                  </a:solidFill>
                  <a:latin typeface="Akzidenz-Grotesk Bold"/>
                  <a:ea typeface="Akzidenz-Grotesk Bold"/>
                  <a:cs typeface="Akzidenz-Grotesk Bold"/>
                  <a:sym typeface="Akzidenz-Grotesk Bold"/>
                </a:rPr>
                <a:t>CDC TOPIC</a:t>
              </a:r>
            </a:p>
          </p:txBody>
        </p:sp>
      </p:grpSp>
      <p:sp>
        <p:nvSpPr>
          <p:cNvPr name="AutoShape 31" id="31"/>
          <p:cNvSpPr/>
          <p:nvPr/>
        </p:nvSpPr>
        <p:spPr>
          <a:xfrm>
            <a:off x="14154150" y="5143500"/>
            <a:ext cx="552450" cy="0"/>
          </a:xfrm>
          <a:prstGeom prst="line">
            <a:avLst/>
          </a:prstGeom>
          <a:ln cap="rnd" w="47625">
            <a:solidFill>
              <a:srgbClr val="000000"/>
            </a:solidFill>
            <a:prstDash val="solid"/>
            <a:headEnd type="none" len="sm" w="sm"/>
            <a:tailEnd type="arrow" len="sm" w="med"/>
          </a:ln>
        </p:spPr>
      </p:sp>
      <p:grpSp>
        <p:nvGrpSpPr>
          <p:cNvPr name="Group 32" id="32"/>
          <p:cNvGrpSpPr/>
          <p:nvPr/>
        </p:nvGrpSpPr>
        <p:grpSpPr>
          <a:xfrm rot="0">
            <a:off x="14820900" y="4152900"/>
            <a:ext cx="2857500" cy="2095500"/>
            <a:chOff x="0" y="0"/>
            <a:chExt cx="3810000" cy="279400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3810000" cy="2794000"/>
            </a:xfrm>
            <a:custGeom>
              <a:avLst/>
              <a:gdLst/>
              <a:ahLst/>
              <a:cxnLst/>
              <a:rect r="r" b="b" t="t" l="l"/>
              <a:pathLst>
                <a:path h="2794000" w="3810000">
                  <a:moveTo>
                    <a:pt x="0" y="0"/>
                  </a:moveTo>
                  <a:lnTo>
                    <a:pt x="3810000" y="0"/>
                  </a:lnTo>
                  <a:lnTo>
                    <a:pt x="3810000" y="2794000"/>
                  </a:lnTo>
                  <a:lnTo>
                    <a:pt x="0" y="2794000"/>
                  </a:lnTo>
                  <a:close/>
                </a:path>
              </a:pathLst>
            </a:custGeom>
            <a:solidFill>
              <a:srgbClr val="000000"/>
            </a:solidFill>
            <a:ln cap="sq">
              <a:noFill/>
              <a:prstDash val="solid"/>
              <a:miter/>
            </a:ln>
          </p:spPr>
        </p:sp>
        <p:sp>
          <p:nvSpPr>
            <p:cNvPr name="TextBox 34" id="34"/>
            <p:cNvSpPr txBox="true"/>
            <p:nvPr/>
          </p:nvSpPr>
          <p:spPr>
            <a:xfrm>
              <a:off x="0" y="-38100"/>
              <a:ext cx="3810000" cy="2832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14763750" y="4095750"/>
            <a:ext cx="2857500" cy="2095500"/>
            <a:chOff x="0" y="0"/>
            <a:chExt cx="3810000" cy="279400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3810000" cy="2794000"/>
            </a:xfrm>
            <a:custGeom>
              <a:avLst/>
              <a:gdLst/>
              <a:ahLst/>
              <a:cxnLst/>
              <a:rect r="r" b="b" t="t" l="l"/>
              <a:pathLst>
                <a:path h="2794000" w="3810000">
                  <a:moveTo>
                    <a:pt x="33867" y="0"/>
                  </a:moveTo>
                  <a:lnTo>
                    <a:pt x="3776133" y="0"/>
                  </a:lnTo>
                  <a:cubicBezTo>
                    <a:pt x="3794837" y="0"/>
                    <a:pt x="3810000" y="15163"/>
                    <a:pt x="3810000" y="33867"/>
                  </a:cubicBezTo>
                  <a:lnTo>
                    <a:pt x="3810000" y="2760133"/>
                  </a:lnTo>
                  <a:cubicBezTo>
                    <a:pt x="3810000" y="2778837"/>
                    <a:pt x="3794837" y="2794000"/>
                    <a:pt x="3776133" y="2794000"/>
                  </a:cubicBezTo>
                  <a:lnTo>
                    <a:pt x="33867" y="2794000"/>
                  </a:lnTo>
                  <a:cubicBezTo>
                    <a:pt x="15163" y="2794000"/>
                    <a:pt x="0" y="2778837"/>
                    <a:pt x="0" y="2760133"/>
                  </a:cubicBezTo>
                  <a:lnTo>
                    <a:pt x="0" y="33867"/>
                  </a:lnTo>
                  <a:cubicBezTo>
                    <a:pt x="0" y="15163"/>
                    <a:pt x="15163" y="0"/>
                    <a:pt x="33867" y="0"/>
                  </a:cubicBezTo>
                  <a:close/>
                </a:path>
              </a:pathLst>
            </a:custGeom>
            <a:solidFill>
              <a:srgbClr val="FF4757"/>
            </a:solidFill>
            <a:ln w="3810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37" id="37"/>
            <p:cNvSpPr txBox="true"/>
            <p:nvPr/>
          </p:nvSpPr>
          <p:spPr>
            <a:xfrm>
              <a:off x="0" y="-9525"/>
              <a:ext cx="3810000" cy="28035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83"/>
                </a:lnSpc>
              </a:pPr>
              <a:r>
                <a:rPr lang="en-US" sz="2175" b="true">
                  <a:solidFill>
                    <a:srgbClr val="000000"/>
                  </a:solidFill>
                  <a:latin typeface="Akzidenz-Grotesk Bold"/>
                  <a:ea typeface="Akzidenz-Grotesk Bold"/>
                  <a:cs typeface="Akzidenz-Grotesk Bold"/>
                  <a:sym typeface="Akzidenz-Grotesk Bold"/>
                </a:rPr>
                <a:t>SILVER CUSTOMER</a:t>
              </a:r>
            </a:p>
          </p:txBody>
        </p:sp>
      </p:grpSp>
      <p:sp>
        <p:nvSpPr>
          <p:cNvPr name="TextBox 38" id="38"/>
          <p:cNvSpPr txBox="true"/>
          <p:nvPr/>
        </p:nvSpPr>
        <p:spPr>
          <a:xfrm rot="0">
            <a:off x="2857500" y="7591425"/>
            <a:ext cx="12573000" cy="4815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528"/>
              </a:lnSpc>
            </a:pPr>
            <a:r>
              <a:rPr lang="en-US" sz="3600">
                <a:solidFill>
                  <a:srgbClr val="000000"/>
                </a:solidFill>
                <a:latin typeface="Archivo Black"/>
                <a:ea typeface="Archivo Black"/>
                <a:cs typeface="Archivo Black"/>
                <a:sym typeface="Archivo Black"/>
              </a:rPr>
              <a:t>NO RELATIONAL WRITE ON THE HOT PATH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>
  <p:cSld>
    <p:bg>
      <p:bgPr>
        <a:solidFill>
          <a:srgbClr val="FA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819150" y="647700"/>
            <a:ext cx="16649700" cy="6294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04"/>
              </a:lnSpc>
            </a:pPr>
            <a:r>
              <a:rPr lang="en-US" sz="4800">
                <a:solidFill>
                  <a:srgbClr val="000000"/>
                </a:solidFill>
                <a:latin typeface="Archivo Black"/>
                <a:ea typeface="Archivo Black"/>
                <a:cs typeface="Archivo Black"/>
                <a:sym typeface="Archivo Black"/>
              </a:rPr>
              <a:t>C — SCHEDULED REFERENCE INGESTION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819150" y="1400937"/>
            <a:ext cx="13811250" cy="3309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3"/>
              </a:lnSpc>
            </a:pPr>
            <a:r>
              <a:rPr lang="en-US" sz="1875">
                <a:solidFill>
                  <a:srgbClr val="000000"/>
                </a:solidFill>
                <a:latin typeface="Akzidenz-Grotesk"/>
                <a:ea typeface="Akzidenz-Grotesk"/>
                <a:cs typeface="Akzidenz-Grotesk"/>
                <a:sym typeface="Akzidenz-Grotesk"/>
              </a:rPr>
              <a:t>Airflow snapshots dimensions into compact, query-efficient Parquet.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723900" y="4152900"/>
            <a:ext cx="2857500" cy="2095500"/>
            <a:chOff x="0" y="0"/>
            <a:chExt cx="3810000" cy="2794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3810000" cy="2794000"/>
            </a:xfrm>
            <a:custGeom>
              <a:avLst/>
              <a:gdLst/>
              <a:ahLst/>
              <a:cxnLst/>
              <a:rect r="r" b="b" t="t" l="l"/>
              <a:pathLst>
                <a:path h="2794000" w="3810000">
                  <a:moveTo>
                    <a:pt x="0" y="0"/>
                  </a:moveTo>
                  <a:lnTo>
                    <a:pt x="3810000" y="0"/>
                  </a:lnTo>
                  <a:lnTo>
                    <a:pt x="3810000" y="2794000"/>
                  </a:lnTo>
                  <a:lnTo>
                    <a:pt x="0" y="2794000"/>
                  </a:lnTo>
                  <a:close/>
                </a:path>
              </a:pathLst>
            </a:custGeom>
            <a:solidFill>
              <a:srgbClr val="000000"/>
            </a:solidFill>
            <a:ln cap="sq">
              <a:noFill/>
              <a:prstDash val="solid"/>
              <a:miter/>
            </a:ln>
          </p:spPr>
        </p:sp>
        <p:sp>
          <p:nvSpPr>
            <p:cNvPr name="TextBox 6" id="6"/>
            <p:cNvSpPr txBox="true"/>
            <p:nvPr/>
          </p:nvSpPr>
          <p:spPr>
            <a:xfrm>
              <a:off x="0" y="-38100"/>
              <a:ext cx="3810000" cy="2832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666750" y="4095750"/>
            <a:ext cx="2857500" cy="2095500"/>
            <a:chOff x="0" y="0"/>
            <a:chExt cx="3810000" cy="2794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3810000" cy="2794000"/>
            </a:xfrm>
            <a:custGeom>
              <a:avLst/>
              <a:gdLst/>
              <a:ahLst/>
              <a:cxnLst/>
              <a:rect r="r" b="b" t="t" l="l"/>
              <a:pathLst>
                <a:path h="2794000" w="3810000">
                  <a:moveTo>
                    <a:pt x="33867" y="0"/>
                  </a:moveTo>
                  <a:lnTo>
                    <a:pt x="3776133" y="0"/>
                  </a:lnTo>
                  <a:cubicBezTo>
                    <a:pt x="3794837" y="0"/>
                    <a:pt x="3810000" y="15163"/>
                    <a:pt x="3810000" y="33867"/>
                  </a:cubicBezTo>
                  <a:lnTo>
                    <a:pt x="3810000" y="2760133"/>
                  </a:lnTo>
                  <a:cubicBezTo>
                    <a:pt x="3810000" y="2778837"/>
                    <a:pt x="3794837" y="2794000"/>
                    <a:pt x="3776133" y="2794000"/>
                  </a:cubicBezTo>
                  <a:lnTo>
                    <a:pt x="33867" y="2794000"/>
                  </a:lnTo>
                  <a:cubicBezTo>
                    <a:pt x="15163" y="2794000"/>
                    <a:pt x="0" y="2778837"/>
                    <a:pt x="0" y="2760133"/>
                  </a:cubicBezTo>
                  <a:lnTo>
                    <a:pt x="0" y="33867"/>
                  </a:lnTo>
                  <a:cubicBezTo>
                    <a:pt x="0" y="15163"/>
                    <a:pt x="15163" y="0"/>
                    <a:pt x="33867" y="0"/>
                  </a:cubicBezTo>
                  <a:close/>
                </a:path>
              </a:pathLst>
            </a:custGeom>
            <a:solidFill>
              <a:srgbClr val="7C3AED"/>
            </a:solidFill>
            <a:ln w="3810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9" id="9"/>
            <p:cNvSpPr txBox="true"/>
            <p:nvPr/>
          </p:nvSpPr>
          <p:spPr>
            <a:xfrm>
              <a:off x="0" y="-9525"/>
              <a:ext cx="3810000" cy="28035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83"/>
                </a:lnSpc>
              </a:pPr>
              <a:r>
                <a:rPr lang="en-US" sz="2175" b="true">
                  <a:solidFill>
                    <a:srgbClr val="000000"/>
                  </a:solidFill>
                  <a:latin typeface="Akzidenz-Grotesk Bold"/>
                  <a:ea typeface="Akzidenz-Grotesk Bold"/>
                  <a:cs typeface="Akzidenz-Grotesk Bold"/>
                  <a:sym typeface="Akzidenz-Grotesk Bold"/>
                </a:rPr>
                <a:t>AIRFLOW DAG</a:t>
              </a:r>
            </a:p>
          </p:txBody>
        </p:sp>
      </p:grpSp>
      <p:sp>
        <p:nvSpPr>
          <p:cNvPr name="AutoShape 10" id="10"/>
          <p:cNvSpPr/>
          <p:nvPr/>
        </p:nvSpPr>
        <p:spPr>
          <a:xfrm>
            <a:off x="3581400" y="5143500"/>
            <a:ext cx="552450" cy="0"/>
          </a:xfrm>
          <a:prstGeom prst="line">
            <a:avLst/>
          </a:prstGeom>
          <a:ln cap="rnd" w="47625">
            <a:solidFill>
              <a:srgbClr val="000000"/>
            </a:solidFill>
            <a:prstDash val="solid"/>
            <a:headEnd type="none" len="sm" w="sm"/>
            <a:tailEnd type="arrow" len="sm" w="med"/>
          </a:ln>
        </p:spPr>
      </p:sp>
      <p:grpSp>
        <p:nvGrpSpPr>
          <p:cNvPr name="Group 11" id="11"/>
          <p:cNvGrpSpPr/>
          <p:nvPr/>
        </p:nvGrpSpPr>
        <p:grpSpPr>
          <a:xfrm rot="0">
            <a:off x="4248150" y="4152900"/>
            <a:ext cx="2857500" cy="2095500"/>
            <a:chOff x="0" y="0"/>
            <a:chExt cx="3810000" cy="27940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3810000" cy="2794000"/>
            </a:xfrm>
            <a:custGeom>
              <a:avLst/>
              <a:gdLst/>
              <a:ahLst/>
              <a:cxnLst/>
              <a:rect r="r" b="b" t="t" l="l"/>
              <a:pathLst>
                <a:path h="2794000" w="3810000">
                  <a:moveTo>
                    <a:pt x="0" y="0"/>
                  </a:moveTo>
                  <a:lnTo>
                    <a:pt x="3810000" y="0"/>
                  </a:lnTo>
                  <a:lnTo>
                    <a:pt x="3810000" y="2794000"/>
                  </a:lnTo>
                  <a:lnTo>
                    <a:pt x="0" y="2794000"/>
                  </a:lnTo>
                  <a:close/>
                </a:path>
              </a:pathLst>
            </a:custGeom>
            <a:solidFill>
              <a:srgbClr val="000000"/>
            </a:solidFill>
            <a:ln cap="sq">
              <a:noFill/>
              <a:prstDash val="solid"/>
              <a:miter/>
            </a:ln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3810000" cy="2832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4191000" y="4095750"/>
            <a:ext cx="2857500" cy="2095500"/>
            <a:chOff x="0" y="0"/>
            <a:chExt cx="3810000" cy="27940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3810000" cy="2794000"/>
            </a:xfrm>
            <a:custGeom>
              <a:avLst/>
              <a:gdLst/>
              <a:ahLst/>
              <a:cxnLst/>
              <a:rect r="r" b="b" t="t" l="l"/>
              <a:pathLst>
                <a:path h="2794000" w="3810000">
                  <a:moveTo>
                    <a:pt x="33867" y="0"/>
                  </a:moveTo>
                  <a:lnTo>
                    <a:pt x="3776133" y="0"/>
                  </a:lnTo>
                  <a:cubicBezTo>
                    <a:pt x="3794837" y="0"/>
                    <a:pt x="3810000" y="15163"/>
                    <a:pt x="3810000" y="33867"/>
                  </a:cubicBezTo>
                  <a:lnTo>
                    <a:pt x="3810000" y="2760133"/>
                  </a:lnTo>
                  <a:cubicBezTo>
                    <a:pt x="3810000" y="2778837"/>
                    <a:pt x="3794837" y="2794000"/>
                    <a:pt x="3776133" y="2794000"/>
                  </a:cubicBezTo>
                  <a:lnTo>
                    <a:pt x="33867" y="2794000"/>
                  </a:lnTo>
                  <a:cubicBezTo>
                    <a:pt x="15163" y="2794000"/>
                    <a:pt x="0" y="2778837"/>
                    <a:pt x="0" y="2760133"/>
                  </a:cubicBezTo>
                  <a:lnTo>
                    <a:pt x="0" y="33867"/>
                  </a:lnTo>
                  <a:cubicBezTo>
                    <a:pt x="0" y="15163"/>
                    <a:pt x="15163" y="0"/>
                    <a:pt x="33867" y="0"/>
                  </a:cubicBezTo>
                  <a:close/>
                </a:path>
              </a:pathLst>
            </a:custGeom>
            <a:solidFill>
              <a:srgbClr val="FFE600"/>
            </a:solidFill>
            <a:ln w="3810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0" y="-9525"/>
              <a:ext cx="3810000" cy="28035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83"/>
                </a:lnSpc>
              </a:pPr>
              <a:r>
                <a:rPr lang="en-US" sz="2175" b="true">
                  <a:solidFill>
                    <a:srgbClr val="000000"/>
                  </a:solidFill>
                  <a:latin typeface="Akzidenz-Grotesk Bold"/>
                  <a:ea typeface="Akzidenz-Grotesk Bold"/>
                  <a:cs typeface="Akzidenz-Grotesk Bold"/>
                  <a:sym typeface="Akzidenz-Grotesk Bold"/>
                </a:rPr>
                <a:t>EXTRACT</a:t>
              </a:r>
            </a:p>
          </p:txBody>
        </p:sp>
      </p:grpSp>
      <p:sp>
        <p:nvSpPr>
          <p:cNvPr name="AutoShape 17" id="17"/>
          <p:cNvSpPr/>
          <p:nvPr/>
        </p:nvSpPr>
        <p:spPr>
          <a:xfrm>
            <a:off x="7105650" y="5143500"/>
            <a:ext cx="552450" cy="0"/>
          </a:xfrm>
          <a:prstGeom prst="line">
            <a:avLst/>
          </a:prstGeom>
          <a:ln cap="rnd" w="47625">
            <a:solidFill>
              <a:srgbClr val="000000"/>
            </a:solidFill>
            <a:prstDash val="solid"/>
            <a:headEnd type="none" len="sm" w="sm"/>
            <a:tailEnd type="arrow" len="sm" w="med"/>
          </a:ln>
        </p:spPr>
      </p:sp>
      <p:grpSp>
        <p:nvGrpSpPr>
          <p:cNvPr name="Group 18" id="18"/>
          <p:cNvGrpSpPr/>
          <p:nvPr/>
        </p:nvGrpSpPr>
        <p:grpSpPr>
          <a:xfrm rot="0">
            <a:off x="7772400" y="4152900"/>
            <a:ext cx="2857500" cy="2095500"/>
            <a:chOff x="0" y="0"/>
            <a:chExt cx="3810000" cy="279400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3810000" cy="2794000"/>
            </a:xfrm>
            <a:custGeom>
              <a:avLst/>
              <a:gdLst/>
              <a:ahLst/>
              <a:cxnLst/>
              <a:rect r="r" b="b" t="t" l="l"/>
              <a:pathLst>
                <a:path h="2794000" w="3810000">
                  <a:moveTo>
                    <a:pt x="0" y="0"/>
                  </a:moveTo>
                  <a:lnTo>
                    <a:pt x="3810000" y="0"/>
                  </a:lnTo>
                  <a:lnTo>
                    <a:pt x="3810000" y="2794000"/>
                  </a:lnTo>
                  <a:lnTo>
                    <a:pt x="0" y="2794000"/>
                  </a:lnTo>
                  <a:close/>
                </a:path>
              </a:pathLst>
            </a:custGeom>
            <a:solidFill>
              <a:srgbClr val="000000"/>
            </a:solidFill>
            <a:ln cap="sq">
              <a:noFill/>
              <a:prstDash val="solid"/>
              <a:miter/>
            </a:ln>
          </p:spPr>
        </p:sp>
        <p:sp>
          <p:nvSpPr>
            <p:cNvPr name="TextBox 20" id="20"/>
            <p:cNvSpPr txBox="true"/>
            <p:nvPr/>
          </p:nvSpPr>
          <p:spPr>
            <a:xfrm>
              <a:off x="0" y="-38100"/>
              <a:ext cx="3810000" cy="2832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7715250" y="4095750"/>
            <a:ext cx="2857500" cy="2095500"/>
            <a:chOff x="0" y="0"/>
            <a:chExt cx="3810000" cy="279400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3810000" cy="2794000"/>
            </a:xfrm>
            <a:custGeom>
              <a:avLst/>
              <a:gdLst/>
              <a:ahLst/>
              <a:cxnLst/>
              <a:rect r="r" b="b" t="t" l="l"/>
              <a:pathLst>
                <a:path h="2794000" w="3810000">
                  <a:moveTo>
                    <a:pt x="33867" y="0"/>
                  </a:moveTo>
                  <a:lnTo>
                    <a:pt x="3776133" y="0"/>
                  </a:lnTo>
                  <a:cubicBezTo>
                    <a:pt x="3794837" y="0"/>
                    <a:pt x="3810000" y="15163"/>
                    <a:pt x="3810000" y="33867"/>
                  </a:cubicBezTo>
                  <a:lnTo>
                    <a:pt x="3810000" y="2760133"/>
                  </a:lnTo>
                  <a:cubicBezTo>
                    <a:pt x="3810000" y="2778837"/>
                    <a:pt x="3794837" y="2794000"/>
                    <a:pt x="3776133" y="2794000"/>
                  </a:cubicBezTo>
                  <a:lnTo>
                    <a:pt x="33867" y="2794000"/>
                  </a:lnTo>
                  <a:cubicBezTo>
                    <a:pt x="15163" y="2794000"/>
                    <a:pt x="0" y="2778837"/>
                    <a:pt x="0" y="2760133"/>
                  </a:cubicBezTo>
                  <a:lnTo>
                    <a:pt x="0" y="33867"/>
                  </a:lnTo>
                  <a:cubicBezTo>
                    <a:pt x="0" y="15163"/>
                    <a:pt x="15163" y="0"/>
                    <a:pt x="33867" y="0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23" id="23"/>
            <p:cNvSpPr txBox="true"/>
            <p:nvPr/>
          </p:nvSpPr>
          <p:spPr>
            <a:xfrm>
              <a:off x="0" y="-9525"/>
              <a:ext cx="3810000" cy="28035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83"/>
                </a:lnSpc>
              </a:pPr>
              <a:r>
                <a:rPr lang="en-US" sz="2175" b="true">
                  <a:solidFill>
                    <a:srgbClr val="000000"/>
                  </a:solidFill>
                  <a:latin typeface="Akzidenz-Grotesk Bold"/>
                  <a:ea typeface="Akzidenz-Grotesk Bold"/>
                  <a:cs typeface="Akzidenz-Grotesk Bold"/>
                  <a:sym typeface="Akzidenz-Grotesk Bold"/>
                </a:rPr>
                <a:t>VALIDATE</a:t>
              </a:r>
            </a:p>
          </p:txBody>
        </p:sp>
      </p:grpSp>
      <p:sp>
        <p:nvSpPr>
          <p:cNvPr name="AutoShape 24" id="24"/>
          <p:cNvSpPr/>
          <p:nvPr/>
        </p:nvSpPr>
        <p:spPr>
          <a:xfrm>
            <a:off x="10629900" y="5143500"/>
            <a:ext cx="552450" cy="0"/>
          </a:xfrm>
          <a:prstGeom prst="line">
            <a:avLst/>
          </a:prstGeom>
          <a:ln cap="rnd" w="47625">
            <a:solidFill>
              <a:srgbClr val="000000"/>
            </a:solidFill>
            <a:prstDash val="solid"/>
            <a:headEnd type="none" len="sm" w="sm"/>
            <a:tailEnd type="arrow" len="sm" w="med"/>
          </a:ln>
        </p:spPr>
      </p:sp>
      <p:grpSp>
        <p:nvGrpSpPr>
          <p:cNvPr name="Group 25" id="25"/>
          <p:cNvGrpSpPr/>
          <p:nvPr/>
        </p:nvGrpSpPr>
        <p:grpSpPr>
          <a:xfrm rot="0">
            <a:off x="11296650" y="4152900"/>
            <a:ext cx="2857500" cy="2095500"/>
            <a:chOff x="0" y="0"/>
            <a:chExt cx="3810000" cy="279400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3810000" cy="2794000"/>
            </a:xfrm>
            <a:custGeom>
              <a:avLst/>
              <a:gdLst/>
              <a:ahLst/>
              <a:cxnLst/>
              <a:rect r="r" b="b" t="t" l="l"/>
              <a:pathLst>
                <a:path h="2794000" w="3810000">
                  <a:moveTo>
                    <a:pt x="0" y="0"/>
                  </a:moveTo>
                  <a:lnTo>
                    <a:pt x="3810000" y="0"/>
                  </a:lnTo>
                  <a:lnTo>
                    <a:pt x="3810000" y="2794000"/>
                  </a:lnTo>
                  <a:lnTo>
                    <a:pt x="0" y="2794000"/>
                  </a:lnTo>
                  <a:close/>
                </a:path>
              </a:pathLst>
            </a:custGeom>
            <a:solidFill>
              <a:srgbClr val="000000"/>
            </a:solidFill>
            <a:ln cap="sq">
              <a:noFill/>
              <a:prstDash val="solid"/>
              <a:miter/>
            </a:ln>
          </p:spPr>
        </p:sp>
        <p:sp>
          <p:nvSpPr>
            <p:cNvPr name="TextBox 27" id="27"/>
            <p:cNvSpPr txBox="true"/>
            <p:nvPr/>
          </p:nvSpPr>
          <p:spPr>
            <a:xfrm>
              <a:off x="0" y="-38100"/>
              <a:ext cx="3810000" cy="2832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8" id="28"/>
          <p:cNvGrpSpPr/>
          <p:nvPr/>
        </p:nvGrpSpPr>
        <p:grpSpPr>
          <a:xfrm rot="0">
            <a:off x="11239500" y="4095750"/>
            <a:ext cx="2857500" cy="2095500"/>
            <a:chOff x="0" y="0"/>
            <a:chExt cx="3810000" cy="279400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3810000" cy="2794000"/>
            </a:xfrm>
            <a:custGeom>
              <a:avLst/>
              <a:gdLst/>
              <a:ahLst/>
              <a:cxnLst/>
              <a:rect r="r" b="b" t="t" l="l"/>
              <a:pathLst>
                <a:path h="2794000" w="3810000">
                  <a:moveTo>
                    <a:pt x="33867" y="0"/>
                  </a:moveTo>
                  <a:lnTo>
                    <a:pt x="3776133" y="0"/>
                  </a:lnTo>
                  <a:cubicBezTo>
                    <a:pt x="3794837" y="0"/>
                    <a:pt x="3810000" y="15163"/>
                    <a:pt x="3810000" y="33867"/>
                  </a:cubicBezTo>
                  <a:lnTo>
                    <a:pt x="3810000" y="2760133"/>
                  </a:lnTo>
                  <a:cubicBezTo>
                    <a:pt x="3810000" y="2778837"/>
                    <a:pt x="3794837" y="2794000"/>
                    <a:pt x="3776133" y="2794000"/>
                  </a:cubicBezTo>
                  <a:lnTo>
                    <a:pt x="33867" y="2794000"/>
                  </a:lnTo>
                  <a:cubicBezTo>
                    <a:pt x="15163" y="2794000"/>
                    <a:pt x="0" y="2778837"/>
                    <a:pt x="0" y="2760133"/>
                  </a:cubicBezTo>
                  <a:lnTo>
                    <a:pt x="0" y="33867"/>
                  </a:lnTo>
                  <a:cubicBezTo>
                    <a:pt x="0" y="15163"/>
                    <a:pt x="15163" y="0"/>
                    <a:pt x="33867" y="0"/>
                  </a:cubicBezTo>
                  <a:close/>
                </a:path>
              </a:pathLst>
            </a:custGeom>
            <a:solidFill>
              <a:srgbClr val="00F5A0"/>
            </a:solidFill>
            <a:ln w="3810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30" id="30"/>
            <p:cNvSpPr txBox="true"/>
            <p:nvPr/>
          </p:nvSpPr>
          <p:spPr>
            <a:xfrm>
              <a:off x="0" y="-9525"/>
              <a:ext cx="3810000" cy="28035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83"/>
                </a:lnSpc>
              </a:pPr>
              <a:r>
                <a:rPr lang="en-US" sz="2175" b="true">
                  <a:solidFill>
                    <a:srgbClr val="000000"/>
                  </a:solidFill>
                  <a:latin typeface="Akzidenz-Grotesk Bold"/>
                  <a:ea typeface="Akzidenz-Grotesk Bold"/>
                  <a:cs typeface="Akzidenz-Grotesk Bold"/>
                  <a:sym typeface="Akzidenz-Grotesk Bold"/>
                </a:rPr>
                <a:t>PARQUET + SNAPPY</a:t>
              </a:r>
            </a:p>
          </p:txBody>
        </p:sp>
      </p:grpSp>
      <p:sp>
        <p:nvSpPr>
          <p:cNvPr name="AutoShape 31" id="31"/>
          <p:cNvSpPr/>
          <p:nvPr/>
        </p:nvSpPr>
        <p:spPr>
          <a:xfrm>
            <a:off x="14154150" y="5143500"/>
            <a:ext cx="552450" cy="0"/>
          </a:xfrm>
          <a:prstGeom prst="line">
            <a:avLst/>
          </a:prstGeom>
          <a:ln cap="rnd" w="47625">
            <a:solidFill>
              <a:srgbClr val="000000"/>
            </a:solidFill>
            <a:prstDash val="solid"/>
            <a:headEnd type="none" len="sm" w="sm"/>
            <a:tailEnd type="arrow" len="sm" w="med"/>
          </a:ln>
        </p:spPr>
      </p:sp>
      <p:grpSp>
        <p:nvGrpSpPr>
          <p:cNvPr name="Group 32" id="32"/>
          <p:cNvGrpSpPr/>
          <p:nvPr/>
        </p:nvGrpSpPr>
        <p:grpSpPr>
          <a:xfrm rot="0">
            <a:off x="14820900" y="4152900"/>
            <a:ext cx="2857500" cy="2095500"/>
            <a:chOff x="0" y="0"/>
            <a:chExt cx="3810000" cy="279400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3810000" cy="2794000"/>
            </a:xfrm>
            <a:custGeom>
              <a:avLst/>
              <a:gdLst/>
              <a:ahLst/>
              <a:cxnLst/>
              <a:rect r="r" b="b" t="t" l="l"/>
              <a:pathLst>
                <a:path h="2794000" w="3810000">
                  <a:moveTo>
                    <a:pt x="0" y="0"/>
                  </a:moveTo>
                  <a:lnTo>
                    <a:pt x="3810000" y="0"/>
                  </a:lnTo>
                  <a:lnTo>
                    <a:pt x="3810000" y="2794000"/>
                  </a:lnTo>
                  <a:lnTo>
                    <a:pt x="0" y="2794000"/>
                  </a:lnTo>
                  <a:close/>
                </a:path>
              </a:pathLst>
            </a:custGeom>
            <a:solidFill>
              <a:srgbClr val="000000"/>
            </a:solidFill>
            <a:ln cap="sq">
              <a:noFill/>
              <a:prstDash val="solid"/>
              <a:miter/>
            </a:ln>
          </p:spPr>
        </p:sp>
        <p:sp>
          <p:nvSpPr>
            <p:cNvPr name="TextBox 34" id="34"/>
            <p:cNvSpPr txBox="true"/>
            <p:nvPr/>
          </p:nvSpPr>
          <p:spPr>
            <a:xfrm>
              <a:off x="0" y="-38100"/>
              <a:ext cx="3810000" cy="2832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14763750" y="4095750"/>
            <a:ext cx="2857500" cy="2095500"/>
            <a:chOff x="0" y="0"/>
            <a:chExt cx="3810000" cy="279400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3810000" cy="2794000"/>
            </a:xfrm>
            <a:custGeom>
              <a:avLst/>
              <a:gdLst/>
              <a:ahLst/>
              <a:cxnLst/>
              <a:rect r="r" b="b" t="t" l="l"/>
              <a:pathLst>
                <a:path h="2794000" w="3810000">
                  <a:moveTo>
                    <a:pt x="33867" y="0"/>
                  </a:moveTo>
                  <a:lnTo>
                    <a:pt x="3776133" y="0"/>
                  </a:lnTo>
                  <a:cubicBezTo>
                    <a:pt x="3794837" y="0"/>
                    <a:pt x="3810000" y="15163"/>
                    <a:pt x="3810000" y="33867"/>
                  </a:cubicBezTo>
                  <a:lnTo>
                    <a:pt x="3810000" y="2760133"/>
                  </a:lnTo>
                  <a:cubicBezTo>
                    <a:pt x="3810000" y="2778837"/>
                    <a:pt x="3794837" y="2794000"/>
                    <a:pt x="3776133" y="2794000"/>
                  </a:cubicBezTo>
                  <a:lnTo>
                    <a:pt x="33867" y="2794000"/>
                  </a:lnTo>
                  <a:cubicBezTo>
                    <a:pt x="15163" y="2794000"/>
                    <a:pt x="0" y="2778837"/>
                    <a:pt x="0" y="2760133"/>
                  </a:cubicBezTo>
                  <a:lnTo>
                    <a:pt x="0" y="33867"/>
                  </a:lnTo>
                  <a:cubicBezTo>
                    <a:pt x="0" y="15163"/>
                    <a:pt x="15163" y="0"/>
                    <a:pt x="33867" y="0"/>
                  </a:cubicBezTo>
                  <a:close/>
                </a:path>
              </a:pathLst>
            </a:custGeom>
            <a:solidFill>
              <a:srgbClr val="FF4757"/>
            </a:solidFill>
            <a:ln w="3810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37" id="37"/>
            <p:cNvSpPr txBox="true"/>
            <p:nvPr/>
          </p:nvSpPr>
          <p:spPr>
            <a:xfrm>
              <a:off x="0" y="-9525"/>
              <a:ext cx="3810000" cy="28035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83"/>
                </a:lnSpc>
              </a:pPr>
              <a:r>
                <a:rPr lang="en-US" sz="2175" b="true">
                  <a:solidFill>
                    <a:srgbClr val="000000"/>
                  </a:solidFill>
                  <a:latin typeface="Akzidenz-Grotesk Bold"/>
                  <a:ea typeface="Akzidenz-Grotesk Bold"/>
                  <a:cs typeface="Akzidenz-Grotesk Bold"/>
                  <a:sym typeface="Akzidenz-Grotesk Bold"/>
                </a:rPr>
                <a:t>S3 LANDING</a:t>
              </a:r>
            </a:p>
          </p:txBody>
        </p:sp>
      </p:grpSp>
      <p:sp>
        <p:nvSpPr>
          <p:cNvPr name="TextBox 38" id="38"/>
          <p:cNvSpPr txBox="true"/>
          <p:nvPr/>
        </p:nvSpPr>
        <p:spPr>
          <a:xfrm rot="0">
            <a:off x="2857500" y="7591425"/>
            <a:ext cx="12573000" cy="4815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528"/>
              </a:lnSpc>
            </a:pPr>
            <a:r>
              <a:rPr lang="en-US" sz="3600">
                <a:solidFill>
                  <a:srgbClr val="000000"/>
                </a:solidFill>
                <a:latin typeface="Archivo Black"/>
                <a:ea typeface="Archivo Black"/>
                <a:cs typeface="Archivo Black"/>
                <a:sym typeface="Archivo Black"/>
              </a:rPr>
              <a:t>NO RELATIONAL WRITE ON THE HOT PATH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>
  <p:cSld>
    <p:bg>
      <p:bgPr>
        <a:solidFill>
          <a:srgbClr val="FA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819150" y="647700"/>
            <a:ext cx="16649700" cy="6294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04"/>
              </a:lnSpc>
            </a:pPr>
            <a:r>
              <a:rPr lang="en-US" sz="4800">
                <a:solidFill>
                  <a:srgbClr val="000000"/>
                </a:solidFill>
                <a:latin typeface="Archivo Black"/>
                <a:ea typeface="Archivo Black"/>
                <a:cs typeface="Archivo Black"/>
                <a:sym typeface="Archivo Black"/>
              </a:rPr>
              <a:t>D — SUB-10MS FRAUD INFERENCE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819150" y="1400937"/>
            <a:ext cx="13811250" cy="3309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3"/>
              </a:lnSpc>
            </a:pPr>
            <a:r>
              <a:rPr lang="en-US" sz="1875">
                <a:solidFill>
                  <a:srgbClr val="000000"/>
                </a:solidFill>
                <a:latin typeface="Akzidenz-Grotesk"/>
                <a:ea typeface="Akzidenz-Grotesk"/>
                <a:cs typeface="Akzidenz-Grotesk"/>
                <a:sym typeface="Akzidenz-Grotesk"/>
              </a:rPr>
              <a:t>In-flight scoring hydrates behavioral state before a payment reaches authorization.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723900" y="4152900"/>
            <a:ext cx="2857500" cy="2095500"/>
            <a:chOff x="0" y="0"/>
            <a:chExt cx="3810000" cy="2794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3810000" cy="2794000"/>
            </a:xfrm>
            <a:custGeom>
              <a:avLst/>
              <a:gdLst/>
              <a:ahLst/>
              <a:cxnLst/>
              <a:rect r="r" b="b" t="t" l="l"/>
              <a:pathLst>
                <a:path h="2794000" w="3810000">
                  <a:moveTo>
                    <a:pt x="0" y="0"/>
                  </a:moveTo>
                  <a:lnTo>
                    <a:pt x="3810000" y="0"/>
                  </a:lnTo>
                  <a:lnTo>
                    <a:pt x="3810000" y="2794000"/>
                  </a:lnTo>
                  <a:lnTo>
                    <a:pt x="0" y="2794000"/>
                  </a:lnTo>
                  <a:close/>
                </a:path>
              </a:pathLst>
            </a:custGeom>
            <a:solidFill>
              <a:srgbClr val="000000"/>
            </a:solidFill>
            <a:ln cap="sq">
              <a:noFill/>
              <a:prstDash val="solid"/>
              <a:miter/>
            </a:ln>
          </p:spPr>
        </p:sp>
        <p:sp>
          <p:nvSpPr>
            <p:cNvPr name="TextBox 6" id="6"/>
            <p:cNvSpPr txBox="true"/>
            <p:nvPr/>
          </p:nvSpPr>
          <p:spPr>
            <a:xfrm>
              <a:off x="0" y="-38100"/>
              <a:ext cx="3810000" cy="2832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666750" y="4095750"/>
            <a:ext cx="2857500" cy="2095500"/>
            <a:chOff x="0" y="0"/>
            <a:chExt cx="3810000" cy="2794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3810000" cy="2794000"/>
            </a:xfrm>
            <a:custGeom>
              <a:avLst/>
              <a:gdLst/>
              <a:ahLst/>
              <a:cxnLst/>
              <a:rect r="r" b="b" t="t" l="l"/>
              <a:pathLst>
                <a:path h="2794000" w="3810000">
                  <a:moveTo>
                    <a:pt x="33867" y="0"/>
                  </a:moveTo>
                  <a:lnTo>
                    <a:pt x="3776133" y="0"/>
                  </a:lnTo>
                  <a:cubicBezTo>
                    <a:pt x="3794837" y="0"/>
                    <a:pt x="3810000" y="15163"/>
                    <a:pt x="3810000" y="33867"/>
                  </a:cubicBezTo>
                  <a:lnTo>
                    <a:pt x="3810000" y="2760133"/>
                  </a:lnTo>
                  <a:cubicBezTo>
                    <a:pt x="3810000" y="2778837"/>
                    <a:pt x="3794837" y="2794000"/>
                    <a:pt x="3776133" y="2794000"/>
                  </a:cubicBezTo>
                  <a:lnTo>
                    <a:pt x="33867" y="2794000"/>
                  </a:lnTo>
                  <a:cubicBezTo>
                    <a:pt x="15163" y="2794000"/>
                    <a:pt x="0" y="2778837"/>
                    <a:pt x="0" y="2760133"/>
                  </a:cubicBezTo>
                  <a:lnTo>
                    <a:pt x="0" y="33867"/>
                  </a:lnTo>
                  <a:cubicBezTo>
                    <a:pt x="0" y="15163"/>
                    <a:pt x="15163" y="0"/>
                    <a:pt x="33867" y="0"/>
                  </a:cubicBezTo>
                  <a:close/>
                </a:path>
              </a:pathLst>
            </a:custGeom>
            <a:solidFill>
              <a:srgbClr val="FFE600"/>
            </a:solidFill>
            <a:ln w="3810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9" id="9"/>
            <p:cNvSpPr txBox="true"/>
            <p:nvPr/>
          </p:nvSpPr>
          <p:spPr>
            <a:xfrm>
              <a:off x="0" y="-9525"/>
              <a:ext cx="3810000" cy="28035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83"/>
                </a:lnSpc>
              </a:pPr>
              <a:r>
                <a:rPr lang="en-US" sz="2175" b="true">
                  <a:solidFill>
                    <a:srgbClr val="000000"/>
                  </a:solidFill>
                  <a:latin typeface="Akzidenz-Grotesk Bold"/>
                  <a:ea typeface="Akzidenz-Grotesk Bold"/>
                  <a:cs typeface="Akzidenz-Grotesk Bold"/>
                  <a:sym typeface="Akzidenz-Grotesk Bold"/>
                </a:rPr>
                <a:t>EVENT</a:t>
              </a:r>
            </a:p>
          </p:txBody>
        </p:sp>
      </p:grpSp>
      <p:sp>
        <p:nvSpPr>
          <p:cNvPr name="AutoShape 10" id="10"/>
          <p:cNvSpPr/>
          <p:nvPr/>
        </p:nvSpPr>
        <p:spPr>
          <a:xfrm>
            <a:off x="3581400" y="5143500"/>
            <a:ext cx="552450" cy="0"/>
          </a:xfrm>
          <a:prstGeom prst="line">
            <a:avLst/>
          </a:prstGeom>
          <a:ln cap="rnd" w="47625">
            <a:solidFill>
              <a:srgbClr val="000000"/>
            </a:solidFill>
            <a:prstDash val="solid"/>
            <a:headEnd type="none" len="sm" w="sm"/>
            <a:tailEnd type="arrow" len="sm" w="med"/>
          </a:ln>
        </p:spPr>
      </p:sp>
      <p:grpSp>
        <p:nvGrpSpPr>
          <p:cNvPr name="Group 11" id="11"/>
          <p:cNvGrpSpPr/>
          <p:nvPr/>
        </p:nvGrpSpPr>
        <p:grpSpPr>
          <a:xfrm rot="0">
            <a:off x="4248150" y="4152900"/>
            <a:ext cx="2857500" cy="2095500"/>
            <a:chOff x="0" y="0"/>
            <a:chExt cx="3810000" cy="27940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3810000" cy="2794000"/>
            </a:xfrm>
            <a:custGeom>
              <a:avLst/>
              <a:gdLst/>
              <a:ahLst/>
              <a:cxnLst/>
              <a:rect r="r" b="b" t="t" l="l"/>
              <a:pathLst>
                <a:path h="2794000" w="3810000">
                  <a:moveTo>
                    <a:pt x="0" y="0"/>
                  </a:moveTo>
                  <a:lnTo>
                    <a:pt x="3810000" y="0"/>
                  </a:lnTo>
                  <a:lnTo>
                    <a:pt x="3810000" y="2794000"/>
                  </a:lnTo>
                  <a:lnTo>
                    <a:pt x="0" y="2794000"/>
                  </a:lnTo>
                  <a:close/>
                </a:path>
              </a:pathLst>
            </a:custGeom>
            <a:solidFill>
              <a:srgbClr val="000000"/>
            </a:solidFill>
            <a:ln cap="sq">
              <a:noFill/>
              <a:prstDash val="solid"/>
              <a:miter/>
            </a:ln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3810000" cy="2832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4191000" y="4095750"/>
            <a:ext cx="2857500" cy="2095500"/>
            <a:chOff x="0" y="0"/>
            <a:chExt cx="3810000" cy="27940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3810000" cy="2794000"/>
            </a:xfrm>
            <a:custGeom>
              <a:avLst/>
              <a:gdLst/>
              <a:ahLst/>
              <a:cxnLst/>
              <a:rect r="r" b="b" t="t" l="l"/>
              <a:pathLst>
                <a:path h="2794000" w="3810000">
                  <a:moveTo>
                    <a:pt x="33867" y="0"/>
                  </a:moveTo>
                  <a:lnTo>
                    <a:pt x="3776133" y="0"/>
                  </a:lnTo>
                  <a:cubicBezTo>
                    <a:pt x="3794837" y="0"/>
                    <a:pt x="3810000" y="15163"/>
                    <a:pt x="3810000" y="33867"/>
                  </a:cubicBezTo>
                  <a:lnTo>
                    <a:pt x="3810000" y="2760133"/>
                  </a:lnTo>
                  <a:cubicBezTo>
                    <a:pt x="3810000" y="2778837"/>
                    <a:pt x="3794837" y="2794000"/>
                    <a:pt x="3776133" y="2794000"/>
                  </a:cubicBezTo>
                  <a:lnTo>
                    <a:pt x="33867" y="2794000"/>
                  </a:lnTo>
                  <a:cubicBezTo>
                    <a:pt x="15163" y="2794000"/>
                    <a:pt x="0" y="2778837"/>
                    <a:pt x="0" y="2760133"/>
                  </a:cubicBezTo>
                  <a:lnTo>
                    <a:pt x="0" y="33867"/>
                  </a:lnTo>
                  <a:cubicBezTo>
                    <a:pt x="0" y="15163"/>
                    <a:pt x="15163" y="0"/>
                    <a:pt x="33867" y="0"/>
                  </a:cubicBezTo>
                  <a:close/>
                </a:path>
              </a:pathLst>
            </a:custGeom>
            <a:solidFill>
              <a:srgbClr val="00F5A0"/>
            </a:solidFill>
            <a:ln w="3810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0" y="-9525"/>
              <a:ext cx="3810000" cy="28035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83"/>
                </a:lnSpc>
              </a:pPr>
              <a:r>
                <a:rPr lang="en-US" sz="2175" b="true">
                  <a:solidFill>
                    <a:srgbClr val="000000"/>
                  </a:solidFill>
                  <a:latin typeface="Akzidenz-Grotesk Bold"/>
                  <a:ea typeface="Akzidenz-Grotesk Bold"/>
                  <a:cs typeface="Akzidenz-Grotesk Bold"/>
                  <a:sym typeface="Akzidenz-Grotesk Bold"/>
                </a:rPr>
                <a:t>REDIS FEATURES</a:t>
              </a:r>
            </a:p>
          </p:txBody>
        </p:sp>
      </p:grpSp>
      <p:sp>
        <p:nvSpPr>
          <p:cNvPr name="AutoShape 17" id="17"/>
          <p:cNvSpPr/>
          <p:nvPr/>
        </p:nvSpPr>
        <p:spPr>
          <a:xfrm>
            <a:off x="7105650" y="5143500"/>
            <a:ext cx="552450" cy="0"/>
          </a:xfrm>
          <a:prstGeom prst="line">
            <a:avLst/>
          </a:prstGeom>
          <a:ln cap="rnd" w="47625">
            <a:solidFill>
              <a:srgbClr val="000000"/>
            </a:solidFill>
            <a:prstDash val="solid"/>
            <a:headEnd type="none" len="sm" w="sm"/>
            <a:tailEnd type="arrow" len="sm" w="med"/>
          </a:ln>
        </p:spPr>
      </p:sp>
      <p:grpSp>
        <p:nvGrpSpPr>
          <p:cNvPr name="Group 18" id="18"/>
          <p:cNvGrpSpPr/>
          <p:nvPr/>
        </p:nvGrpSpPr>
        <p:grpSpPr>
          <a:xfrm rot="0">
            <a:off x="7772400" y="4152900"/>
            <a:ext cx="2857500" cy="2095500"/>
            <a:chOff x="0" y="0"/>
            <a:chExt cx="3810000" cy="279400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3810000" cy="2794000"/>
            </a:xfrm>
            <a:custGeom>
              <a:avLst/>
              <a:gdLst/>
              <a:ahLst/>
              <a:cxnLst/>
              <a:rect r="r" b="b" t="t" l="l"/>
              <a:pathLst>
                <a:path h="2794000" w="3810000">
                  <a:moveTo>
                    <a:pt x="0" y="0"/>
                  </a:moveTo>
                  <a:lnTo>
                    <a:pt x="3810000" y="0"/>
                  </a:lnTo>
                  <a:lnTo>
                    <a:pt x="3810000" y="2794000"/>
                  </a:lnTo>
                  <a:lnTo>
                    <a:pt x="0" y="2794000"/>
                  </a:lnTo>
                  <a:close/>
                </a:path>
              </a:pathLst>
            </a:custGeom>
            <a:solidFill>
              <a:srgbClr val="000000"/>
            </a:solidFill>
            <a:ln cap="sq">
              <a:noFill/>
              <a:prstDash val="solid"/>
              <a:miter/>
            </a:ln>
          </p:spPr>
        </p:sp>
        <p:sp>
          <p:nvSpPr>
            <p:cNvPr name="TextBox 20" id="20"/>
            <p:cNvSpPr txBox="true"/>
            <p:nvPr/>
          </p:nvSpPr>
          <p:spPr>
            <a:xfrm>
              <a:off x="0" y="-38100"/>
              <a:ext cx="3810000" cy="2832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7715250" y="4095750"/>
            <a:ext cx="2857500" cy="2095500"/>
            <a:chOff x="0" y="0"/>
            <a:chExt cx="3810000" cy="279400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3810000" cy="2794000"/>
            </a:xfrm>
            <a:custGeom>
              <a:avLst/>
              <a:gdLst/>
              <a:ahLst/>
              <a:cxnLst/>
              <a:rect r="r" b="b" t="t" l="l"/>
              <a:pathLst>
                <a:path h="2794000" w="3810000">
                  <a:moveTo>
                    <a:pt x="33867" y="0"/>
                  </a:moveTo>
                  <a:lnTo>
                    <a:pt x="3776133" y="0"/>
                  </a:lnTo>
                  <a:cubicBezTo>
                    <a:pt x="3794837" y="0"/>
                    <a:pt x="3810000" y="15163"/>
                    <a:pt x="3810000" y="33867"/>
                  </a:cubicBezTo>
                  <a:lnTo>
                    <a:pt x="3810000" y="2760133"/>
                  </a:lnTo>
                  <a:cubicBezTo>
                    <a:pt x="3810000" y="2778837"/>
                    <a:pt x="3794837" y="2794000"/>
                    <a:pt x="3776133" y="2794000"/>
                  </a:cubicBezTo>
                  <a:lnTo>
                    <a:pt x="33867" y="2794000"/>
                  </a:lnTo>
                  <a:cubicBezTo>
                    <a:pt x="15163" y="2794000"/>
                    <a:pt x="0" y="2778837"/>
                    <a:pt x="0" y="2760133"/>
                  </a:cubicBezTo>
                  <a:lnTo>
                    <a:pt x="0" y="33867"/>
                  </a:lnTo>
                  <a:cubicBezTo>
                    <a:pt x="0" y="15163"/>
                    <a:pt x="15163" y="0"/>
                    <a:pt x="33867" y="0"/>
                  </a:cubicBezTo>
                  <a:close/>
                </a:path>
              </a:pathLst>
            </a:custGeom>
            <a:solidFill>
              <a:srgbClr val="7C3AED"/>
            </a:solidFill>
            <a:ln w="3810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23" id="23"/>
            <p:cNvSpPr txBox="true"/>
            <p:nvPr/>
          </p:nvSpPr>
          <p:spPr>
            <a:xfrm>
              <a:off x="0" y="-9525"/>
              <a:ext cx="3810000" cy="28035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83"/>
                </a:lnSpc>
              </a:pPr>
              <a:r>
                <a:rPr lang="en-US" sz="2175" b="true">
                  <a:solidFill>
                    <a:srgbClr val="000000"/>
                  </a:solidFill>
                  <a:latin typeface="Akzidenz-Grotesk Bold"/>
                  <a:ea typeface="Akzidenz-Grotesk Bold"/>
                  <a:cs typeface="Akzidenz-Grotesk Bold"/>
                  <a:sym typeface="Akzidenz-Grotesk Bold"/>
                </a:rPr>
                <a:t>LIGHTGBM</a:t>
              </a:r>
            </a:p>
          </p:txBody>
        </p:sp>
      </p:grpSp>
      <p:sp>
        <p:nvSpPr>
          <p:cNvPr name="AutoShape 24" id="24"/>
          <p:cNvSpPr/>
          <p:nvPr/>
        </p:nvSpPr>
        <p:spPr>
          <a:xfrm>
            <a:off x="10629900" y="5143500"/>
            <a:ext cx="552450" cy="0"/>
          </a:xfrm>
          <a:prstGeom prst="line">
            <a:avLst/>
          </a:prstGeom>
          <a:ln cap="rnd" w="47625">
            <a:solidFill>
              <a:srgbClr val="000000"/>
            </a:solidFill>
            <a:prstDash val="solid"/>
            <a:headEnd type="none" len="sm" w="sm"/>
            <a:tailEnd type="arrow" len="sm" w="med"/>
          </a:ln>
        </p:spPr>
      </p:sp>
      <p:grpSp>
        <p:nvGrpSpPr>
          <p:cNvPr name="Group 25" id="25"/>
          <p:cNvGrpSpPr/>
          <p:nvPr/>
        </p:nvGrpSpPr>
        <p:grpSpPr>
          <a:xfrm rot="0">
            <a:off x="11296650" y="4152900"/>
            <a:ext cx="2857500" cy="2095500"/>
            <a:chOff x="0" y="0"/>
            <a:chExt cx="3810000" cy="279400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3810000" cy="2794000"/>
            </a:xfrm>
            <a:custGeom>
              <a:avLst/>
              <a:gdLst/>
              <a:ahLst/>
              <a:cxnLst/>
              <a:rect r="r" b="b" t="t" l="l"/>
              <a:pathLst>
                <a:path h="2794000" w="3810000">
                  <a:moveTo>
                    <a:pt x="0" y="0"/>
                  </a:moveTo>
                  <a:lnTo>
                    <a:pt x="3810000" y="0"/>
                  </a:lnTo>
                  <a:lnTo>
                    <a:pt x="3810000" y="2794000"/>
                  </a:lnTo>
                  <a:lnTo>
                    <a:pt x="0" y="2794000"/>
                  </a:lnTo>
                  <a:close/>
                </a:path>
              </a:pathLst>
            </a:custGeom>
            <a:solidFill>
              <a:srgbClr val="000000"/>
            </a:solidFill>
            <a:ln cap="sq">
              <a:noFill/>
              <a:prstDash val="solid"/>
              <a:miter/>
            </a:ln>
          </p:spPr>
        </p:sp>
        <p:sp>
          <p:nvSpPr>
            <p:cNvPr name="TextBox 27" id="27"/>
            <p:cNvSpPr txBox="true"/>
            <p:nvPr/>
          </p:nvSpPr>
          <p:spPr>
            <a:xfrm>
              <a:off x="0" y="-38100"/>
              <a:ext cx="3810000" cy="2832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8" id="28"/>
          <p:cNvGrpSpPr/>
          <p:nvPr/>
        </p:nvGrpSpPr>
        <p:grpSpPr>
          <a:xfrm rot="0">
            <a:off x="11239500" y="4095750"/>
            <a:ext cx="2857500" cy="2095500"/>
            <a:chOff x="0" y="0"/>
            <a:chExt cx="3810000" cy="279400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3810000" cy="2794000"/>
            </a:xfrm>
            <a:custGeom>
              <a:avLst/>
              <a:gdLst/>
              <a:ahLst/>
              <a:cxnLst/>
              <a:rect r="r" b="b" t="t" l="l"/>
              <a:pathLst>
                <a:path h="2794000" w="3810000">
                  <a:moveTo>
                    <a:pt x="33867" y="0"/>
                  </a:moveTo>
                  <a:lnTo>
                    <a:pt x="3776133" y="0"/>
                  </a:lnTo>
                  <a:cubicBezTo>
                    <a:pt x="3794837" y="0"/>
                    <a:pt x="3810000" y="15163"/>
                    <a:pt x="3810000" y="33867"/>
                  </a:cubicBezTo>
                  <a:lnTo>
                    <a:pt x="3810000" y="2760133"/>
                  </a:lnTo>
                  <a:cubicBezTo>
                    <a:pt x="3810000" y="2778837"/>
                    <a:pt x="3794837" y="2794000"/>
                    <a:pt x="3776133" y="2794000"/>
                  </a:cubicBezTo>
                  <a:lnTo>
                    <a:pt x="33867" y="2794000"/>
                  </a:lnTo>
                  <a:cubicBezTo>
                    <a:pt x="15163" y="2794000"/>
                    <a:pt x="0" y="2778837"/>
                    <a:pt x="0" y="2760133"/>
                  </a:cubicBezTo>
                  <a:lnTo>
                    <a:pt x="0" y="33867"/>
                  </a:lnTo>
                  <a:cubicBezTo>
                    <a:pt x="0" y="15163"/>
                    <a:pt x="15163" y="0"/>
                    <a:pt x="33867" y="0"/>
                  </a:cubicBezTo>
                  <a:close/>
                </a:path>
              </a:pathLst>
            </a:custGeom>
            <a:solidFill>
              <a:srgbClr val="FF4757"/>
            </a:solidFill>
            <a:ln w="3810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30" id="30"/>
            <p:cNvSpPr txBox="true"/>
            <p:nvPr/>
          </p:nvSpPr>
          <p:spPr>
            <a:xfrm>
              <a:off x="0" y="-9525"/>
              <a:ext cx="3810000" cy="28035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83"/>
                </a:lnSpc>
              </a:pPr>
              <a:r>
                <a:rPr lang="en-US" sz="2175" b="true">
                  <a:solidFill>
                    <a:srgbClr val="000000"/>
                  </a:solidFill>
                  <a:latin typeface="Akzidenz-Grotesk Bold"/>
                  <a:ea typeface="Akzidenz-Grotesk Bold"/>
                  <a:cs typeface="Akzidenz-Grotesk Bold"/>
                  <a:sym typeface="Akzidenz-Grotesk Bold"/>
                </a:rPr>
                <a:t>SCORE GATE</a:t>
              </a:r>
            </a:p>
          </p:txBody>
        </p:sp>
      </p:grpSp>
      <p:sp>
        <p:nvSpPr>
          <p:cNvPr name="AutoShape 31" id="31"/>
          <p:cNvSpPr/>
          <p:nvPr/>
        </p:nvSpPr>
        <p:spPr>
          <a:xfrm>
            <a:off x="14154150" y="5143500"/>
            <a:ext cx="552450" cy="0"/>
          </a:xfrm>
          <a:prstGeom prst="line">
            <a:avLst/>
          </a:prstGeom>
          <a:ln cap="rnd" w="47625">
            <a:solidFill>
              <a:srgbClr val="000000"/>
            </a:solidFill>
            <a:prstDash val="solid"/>
            <a:headEnd type="none" len="sm" w="sm"/>
            <a:tailEnd type="arrow" len="sm" w="med"/>
          </a:ln>
        </p:spPr>
      </p:sp>
      <p:grpSp>
        <p:nvGrpSpPr>
          <p:cNvPr name="Group 32" id="32"/>
          <p:cNvGrpSpPr/>
          <p:nvPr/>
        </p:nvGrpSpPr>
        <p:grpSpPr>
          <a:xfrm rot="0">
            <a:off x="14820900" y="4152900"/>
            <a:ext cx="2857500" cy="2095500"/>
            <a:chOff x="0" y="0"/>
            <a:chExt cx="3810000" cy="279400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3810000" cy="2794000"/>
            </a:xfrm>
            <a:custGeom>
              <a:avLst/>
              <a:gdLst/>
              <a:ahLst/>
              <a:cxnLst/>
              <a:rect r="r" b="b" t="t" l="l"/>
              <a:pathLst>
                <a:path h="2794000" w="3810000">
                  <a:moveTo>
                    <a:pt x="0" y="0"/>
                  </a:moveTo>
                  <a:lnTo>
                    <a:pt x="3810000" y="0"/>
                  </a:lnTo>
                  <a:lnTo>
                    <a:pt x="3810000" y="2794000"/>
                  </a:lnTo>
                  <a:lnTo>
                    <a:pt x="0" y="2794000"/>
                  </a:lnTo>
                  <a:close/>
                </a:path>
              </a:pathLst>
            </a:custGeom>
            <a:solidFill>
              <a:srgbClr val="000000"/>
            </a:solidFill>
            <a:ln cap="sq">
              <a:noFill/>
              <a:prstDash val="solid"/>
              <a:miter/>
            </a:ln>
          </p:spPr>
        </p:sp>
        <p:sp>
          <p:nvSpPr>
            <p:cNvPr name="TextBox 34" id="34"/>
            <p:cNvSpPr txBox="true"/>
            <p:nvPr/>
          </p:nvSpPr>
          <p:spPr>
            <a:xfrm>
              <a:off x="0" y="-38100"/>
              <a:ext cx="3810000" cy="2832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14763750" y="4095750"/>
            <a:ext cx="2857500" cy="2095500"/>
            <a:chOff x="0" y="0"/>
            <a:chExt cx="3810000" cy="279400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3810000" cy="2794000"/>
            </a:xfrm>
            <a:custGeom>
              <a:avLst/>
              <a:gdLst/>
              <a:ahLst/>
              <a:cxnLst/>
              <a:rect r="r" b="b" t="t" l="l"/>
              <a:pathLst>
                <a:path h="2794000" w="3810000">
                  <a:moveTo>
                    <a:pt x="33867" y="0"/>
                  </a:moveTo>
                  <a:lnTo>
                    <a:pt x="3776133" y="0"/>
                  </a:lnTo>
                  <a:cubicBezTo>
                    <a:pt x="3794837" y="0"/>
                    <a:pt x="3810000" y="15163"/>
                    <a:pt x="3810000" y="33867"/>
                  </a:cubicBezTo>
                  <a:lnTo>
                    <a:pt x="3810000" y="2760133"/>
                  </a:lnTo>
                  <a:cubicBezTo>
                    <a:pt x="3810000" y="2778837"/>
                    <a:pt x="3794837" y="2794000"/>
                    <a:pt x="3776133" y="2794000"/>
                  </a:cubicBezTo>
                  <a:lnTo>
                    <a:pt x="33867" y="2794000"/>
                  </a:lnTo>
                  <a:cubicBezTo>
                    <a:pt x="15163" y="2794000"/>
                    <a:pt x="0" y="2778837"/>
                    <a:pt x="0" y="2760133"/>
                  </a:cubicBezTo>
                  <a:lnTo>
                    <a:pt x="0" y="33867"/>
                  </a:lnTo>
                  <a:cubicBezTo>
                    <a:pt x="0" y="15163"/>
                    <a:pt x="15163" y="0"/>
                    <a:pt x="33867" y="0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37" id="37"/>
            <p:cNvSpPr txBox="true"/>
            <p:nvPr/>
          </p:nvSpPr>
          <p:spPr>
            <a:xfrm>
              <a:off x="0" y="-9525"/>
              <a:ext cx="3810000" cy="28035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83"/>
                </a:lnSpc>
              </a:pPr>
              <a:r>
                <a:rPr lang="en-US" sz="2175" b="true">
                  <a:solidFill>
                    <a:srgbClr val="000000"/>
                  </a:solidFill>
                  <a:latin typeface="Akzidenz-Grotesk Bold"/>
                  <a:ea typeface="Akzidenz-Grotesk Bold"/>
                  <a:cs typeface="Akzidenz-Grotesk Bold"/>
                  <a:sym typeface="Akzidenz-Grotesk Bold"/>
                </a:rPr>
                <a:t>ALLOW / BLOCK</a:t>
              </a:r>
            </a:p>
          </p:txBody>
        </p:sp>
      </p:grpSp>
      <p:sp>
        <p:nvSpPr>
          <p:cNvPr name="TextBox 38" id="38"/>
          <p:cNvSpPr txBox="true"/>
          <p:nvPr/>
        </p:nvSpPr>
        <p:spPr>
          <a:xfrm rot="0">
            <a:off x="2857500" y="7591425"/>
            <a:ext cx="12573000" cy="4815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528"/>
              </a:lnSpc>
            </a:pPr>
            <a:r>
              <a:rPr lang="en-US" sz="3600">
                <a:solidFill>
                  <a:srgbClr val="000000"/>
                </a:solidFill>
                <a:latin typeface="Archivo Black"/>
                <a:ea typeface="Archivo Black"/>
                <a:cs typeface="Archivo Black"/>
                <a:sym typeface="Archivo Black"/>
              </a:rPr>
              <a:t>P95 TARGET  &lt; 10ms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>
  <p:cSld>
    <p:bg>
      <p:bgPr>
        <a:solidFill>
          <a:srgbClr val="FA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819150" y="647700"/>
            <a:ext cx="16649700" cy="6294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04"/>
              </a:lnSpc>
            </a:pPr>
            <a:r>
              <a:rPr lang="en-US" sz="4800">
                <a:solidFill>
                  <a:srgbClr val="000000"/>
                </a:solidFill>
                <a:latin typeface="Archivo Black"/>
                <a:ea typeface="Archivo Black"/>
                <a:cs typeface="Archivo Black"/>
                <a:sym typeface="Archivo Black"/>
              </a:rPr>
              <a:t>LINEAGE IS CODE, NOT A DIAGRAM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819150" y="1400937"/>
            <a:ext cx="13811250" cy="3309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3"/>
              </a:lnSpc>
            </a:pPr>
            <a:r>
              <a:rPr lang="en-US" sz="1875">
                <a:solidFill>
                  <a:srgbClr val="000000"/>
                </a:solidFill>
                <a:latin typeface="Akzidenz-Grotesk"/>
                <a:ea typeface="Akzidenz-Grotesk"/>
                <a:cs typeface="Akzidenz-Grotesk"/>
                <a:sym typeface="Akzidenz-Grotesk"/>
              </a:rPr>
              <a:t>Provenance is explicit from source offset through every Delta transformation.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914400" y="3295650"/>
            <a:ext cx="3333750" cy="1905000"/>
            <a:chOff x="0" y="0"/>
            <a:chExt cx="4445000" cy="2540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4445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4445000">
                  <a:moveTo>
                    <a:pt x="0" y="0"/>
                  </a:moveTo>
                  <a:lnTo>
                    <a:pt x="4445000" y="0"/>
                  </a:lnTo>
                  <a:lnTo>
                    <a:pt x="4445000" y="2540000"/>
                  </a:lnTo>
                  <a:lnTo>
                    <a:pt x="0" y="2540000"/>
                  </a:lnTo>
                  <a:close/>
                </a:path>
              </a:pathLst>
            </a:custGeom>
            <a:solidFill>
              <a:srgbClr val="000000"/>
            </a:solidFill>
            <a:ln cap="sq">
              <a:noFill/>
              <a:prstDash val="solid"/>
              <a:miter/>
            </a:ln>
          </p:spPr>
        </p:sp>
        <p:sp>
          <p:nvSpPr>
            <p:cNvPr name="TextBox 6" id="6"/>
            <p:cNvSpPr txBox="true"/>
            <p:nvPr/>
          </p:nvSpPr>
          <p:spPr>
            <a:xfrm>
              <a:off x="0" y="-38100"/>
              <a:ext cx="4445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857250" y="3238500"/>
            <a:ext cx="3333750" cy="1905000"/>
            <a:chOff x="0" y="0"/>
            <a:chExt cx="4445000" cy="2540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4445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4445000">
                  <a:moveTo>
                    <a:pt x="29029" y="0"/>
                  </a:moveTo>
                  <a:lnTo>
                    <a:pt x="4415972" y="0"/>
                  </a:lnTo>
                  <a:cubicBezTo>
                    <a:pt x="4432004" y="0"/>
                    <a:pt x="4445000" y="12997"/>
                    <a:pt x="4445000" y="29029"/>
                  </a:cubicBezTo>
                  <a:lnTo>
                    <a:pt x="4445000" y="2510971"/>
                  </a:lnTo>
                  <a:cubicBezTo>
                    <a:pt x="4445000" y="2527004"/>
                    <a:pt x="4432004" y="2540000"/>
                    <a:pt x="4415972" y="2540000"/>
                  </a:cubicBezTo>
                  <a:lnTo>
                    <a:pt x="29029" y="2540000"/>
                  </a:lnTo>
                  <a:cubicBezTo>
                    <a:pt x="12997" y="2540000"/>
                    <a:pt x="0" y="2527004"/>
                    <a:pt x="0" y="2510971"/>
                  </a:cubicBezTo>
                  <a:lnTo>
                    <a:pt x="0" y="29029"/>
                  </a:lnTo>
                  <a:cubicBezTo>
                    <a:pt x="0" y="12997"/>
                    <a:pt x="12997" y="0"/>
                    <a:pt x="29029" y="0"/>
                  </a:cubicBezTo>
                  <a:close/>
                </a:path>
              </a:pathLst>
            </a:custGeom>
            <a:solidFill>
              <a:srgbClr val="FFE600"/>
            </a:solidFill>
            <a:ln w="3810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9" id="9"/>
            <p:cNvSpPr txBox="true"/>
            <p:nvPr/>
          </p:nvSpPr>
          <p:spPr>
            <a:xfrm>
              <a:off x="0" y="-19050"/>
              <a:ext cx="4445000" cy="25590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05"/>
                </a:lnSpc>
              </a:pPr>
              <a:r>
                <a:rPr lang="en-US" sz="2100" b="true">
                  <a:solidFill>
                    <a:srgbClr val="000000"/>
                  </a:solidFill>
                  <a:latin typeface="Akzidenz-Grotesk Bold"/>
                  <a:ea typeface="Akzidenz-Grotesk Bold"/>
                  <a:cs typeface="Akzidenz-Grotesk Bold"/>
                  <a:sym typeface="Akzidenz-Grotesk Bold"/>
                </a:rPr>
                <a:t>MSK OFFSET</a:t>
              </a:r>
            </a:p>
            <a:p>
              <a:pPr algn="ctr">
                <a:lnSpc>
                  <a:spcPts val="2205"/>
                </a:lnSpc>
              </a:pPr>
              <a:r>
                <a:rPr lang="en-US" sz="2100" b="true">
                  <a:solidFill>
                    <a:srgbClr val="000000"/>
                  </a:solidFill>
                  <a:latin typeface="Akzidenz-Grotesk Bold"/>
                  <a:ea typeface="Akzidenz-Grotesk Bold"/>
                  <a:cs typeface="Akzidenz-Grotesk Bold"/>
                  <a:sym typeface="Akzidenz-Grotesk Bold"/>
                </a:rPr>
                <a:t>+ SCHEMA ID</a:t>
              </a:r>
            </a:p>
          </p:txBody>
        </p:sp>
      </p:grpSp>
      <p:sp>
        <p:nvSpPr>
          <p:cNvPr name="AutoShape 10" id="10"/>
          <p:cNvSpPr/>
          <p:nvPr/>
        </p:nvSpPr>
        <p:spPr>
          <a:xfrm>
            <a:off x="4248150" y="4191000"/>
            <a:ext cx="885825" cy="0"/>
          </a:xfrm>
          <a:prstGeom prst="line">
            <a:avLst/>
          </a:prstGeom>
          <a:ln cap="rnd" w="47625">
            <a:solidFill>
              <a:srgbClr val="000000"/>
            </a:solidFill>
            <a:prstDash val="solid"/>
            <a:headEnd type="none" len="sm" w="sm"/>
            <a:tailEnd type="arrow" len="sm" w="med"/>
          </a:ln>
        </p:spPr>
      </p:sp>
      <p:grpSp>
        <p:nvGrpSpPr>
          <p:cNvPr name="Group 11" id="11"/>
          <p:cNvGrpSpPr/>
          <p:nvPr/>
        </p:nvGrpSpPr>
        <p:grpSpPr>
          <a:xfrm rot="0">
            <a:off x="5248275" y="3295650"/>
            <a:ext cx="3333750" cy="1905000"/>
            <a:chOff x="0" y="0"/>
            <a:chExt cx="4445000" cy="25400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4445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4445000">
                  <a:moveTo>
                    <a:pt x="0" y="0"/>
                  </a:moveTo>
                  <a:lnTo>
                    <a:pt x="4445000" y="0"/>
                  </a:lnTo>
                  <a:lnTo>
                    <a:pt x="4445000" y="2540000"/>
                  </a:lnTo>
                  <a:lnTo>
                    <a:pt x="0" y="2540000"/>
                  </a:lnTo>
                  <a:close/>
                </a:path>
              </a:pathLst>
            </a:custGeom>
            <a:solidFill>
              <a:srgbClr val="000000"/>
            </a:solidFill>
            <a:ln cap="sq">
              <a:noFill/>
              <a:prstDash val="solid"/>
              <a:miter/>
            </a:ln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4445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5191125" y="3238500"/>
            <a:ext cx="3333750" cy="1905000"/>
            <a:chOff x="0" y="0"/>
            <a:chExt cx="4445000" cy="25400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4445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4445000">
                  <a:moveTo>
                    <a:pt x="29029" y="0"/>
                  </a:moveTo>
                  <a:lnTo>
                    <a:pt x="4415972" y="0"/>
                  </a:lnTo>
                  <a:cubicBezTo>
                    <a:pt x="4432004" y="0"/>
                    <a:pt x="4445000" y="12997"/>
                    <a:pt x="4445000" y="29029"/>
                  </a:cubicBezTo>
                  <a:lnTo>
                    <a:pt x="4445000" y="2510971"/>
                  </a:lnTo>
                  <a:cubicBezTo>
                    <a:pt x="4445000" y="2527004"/>
                    <a:pt x="4432004" y="2540000"/>
                    <a:pt x="4415972" y="2540000"/>
                  </a:cubicBezTo>
                  <a:lnTo>
                    <a:pt x="29029" y="2540000"/>
                  </a:lnTo>
                  <a:cubicBezTo>
                    <a:pt x="12997" y="2540000"/>
                    <a:pt x="0" y="2527004"/>
                    <a:pt x="0" y="2510971"/>
                  </a:cubicBezTo>
                  <a:lnTo>
                    <a:pt x="0" y="29029"/>
                  </a:lnTo>
                  <a:cubicBezTo>
                    <a:pt x="0" y="12997"/>
                    <a:pt x="12997" y="0"/>
                    <a:pt x="29029" y="0"/>
                  </a:cubicBezTo>
                  <a:close/>
                </a:path>
              </a:pathLst>
            </a:custGeom>
            <a:solidFill>
              <a:srgbClr val="7C3AED"/>
            </a:solidFill>
            <a:ln w="3810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0" y="-19050"/>
              <a:ext cx="4445000" cy="25590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05"/>
                </a:lnSpc>
              </a:pPr>
              <a:r>
                <a:rPr lang="en-US" sz="2100" b="true">
                  <a:solidFill>
                    <a:srgbClr val="000000"/>
                  </a:solidFill>
                  <a:latin typeface="Akzidenz-Grotesk Bold"/>
                  <a:ea typeface="Akzidenz-Grotesk Bold"/>
                  <a:cs typeface="Akzidenz-Grotesk Bold"/>
                  <a:sym typeface="Akzidenz-Grotesk Bold"/>
                </a:rPr>
                <a:t>BRONZE</a:t>
              </a:r>
            </a:p>
            <a:p>
              <a:pPr algn="ctr">
                <a:lnSpc>
                  <a:spcPts val="2205"/>
                </a:lnSpc>
              </a:pPr>
              <a:r>
                <a:rPr lang="en-US" sz="2100" b="true">
                  <a:solidFill>
                    <a:srgbClr val="000000"/>
                  </a:solidFill>
                  <a:latin typeface="Akzidenz-Grotesk Bold"/>
                  <a:ea typeface="Akzidenz-Grotesk Bold"/>
                  <a:cs typeface="Akzidenz-Grotesk Bold"/>
                  <a:sym typeface="Akzidenz-Grotesk Bold"/>
                </a:rPr>
                <a:t>AUTOLOADER</a:t>
              </a:r>
            </a:p>
          </p:txBody>
        </p:sp>
      </p:grpSp>
      <p:sp>
        <p:nvSpPr>
          <p:cNvPr name="AutoShape 17" id="17"/>
          <p:cNvSpPr/>
          <p:nvPr/>
        </p:nvSpPr>
        <p:spPr>
          <a:xfrm>
            <a:off x="8582025" y="4191000"/>
            <a:ext cx="885825" cy="0"/>
          </a:xfrm>
          <a:prstGeom prst="line">
            <a:avLst/>
          </a:prstGeom>
          <a:ln cap="rnd" w="47625">
            <a:solidFill>
              <a:srgbClr val="000000"/>
            </a:solidFill>
            <a:prstDash val="solid"/>
            <a:headEnd type="none" len="sm" w="sm"/>
            <a:tailEnd type="arrow" len="sm" w="med"/>
          </a:ln>
        </p:spPr>
      </p:sp>
      <p:grpSp>
        <p:nvGrpSpPr>
          <p:cNvPr name="Group 18" id="18"/>
          <p:cNvGrpSpPr/>
          <p:nvPr/>
        </p:nvGrpSpPr>
        <p:grpSpPr>
          <a:xfrm rot="0">
            <a:off x="9582150" y="3295650"/>
            <a:ext cx="3333750" cy="1905000"/>
            <a:chOff x="0" y="0"/>
            <a:chExt cx="4445000" cy="254000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4445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4445000">
                  <a:moveTo>
                    <a:pt x="0" y="0"/>
                  </a:moveTo>
                  <a:lnTo>
                    <a:pt x="4445000" y="0"/>
                  </a:lnTo>
                  <a:lnTo>
                    <a:pt x="4445000" y="2540000"/>
                  </a:lnTo>
                  <a:lnTo>
                    <a:pt x="0" y="2540000"/>
                  </a:lnTo>
                  <a:close/>
                </a:path>
              </a:pathLst>
            </a:custGeom>
            <a:solidFill>
              <a:srgbClr val="000000"/>
            </a:solidFill>
            <a:ln cap="sq">
              <a:noFill/>
              <a:prstDash val="solid"/>
              <a:miter/>
            </a:ln>
          </p:spPr>
        </p:sp>
        <p:sp>
          <p:nvSpPr>
            <p:cNvPr name="TextBox 20" id="20"/>
            <p:cNvSpPr txBox="true"/>
            <p:nvPr/>
          </p:nvSpPr>
          <p:spPr>
            <a:xfrm>
              <a:off x="0" y="-38100"/>
              <a:ext cx="4445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9525000" y="3238500"/>
            <a:ext cx="3333750" cy="1905000"/>
            <a:chOff x="0" y="0"/>
            <a:chExt cx="4445000" cy="254000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4445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4445000">
                  <a:moveTo>
                    <a:pt x="29029" y="0"/>
                  </a:moveTo>
                  <a:lnTo>
                    <a:pt x="4415972" y="0"/>
                  </a:lnTo>
                  <a:cubicBezTo>
                    <a:pt x="4432004" y="0"/>
                    <a:pt x="4445000" y="12997"/>
                    <a:pt x="4445000" y="29029"/>
                  </a:cubicBezTo>
                  <a:lnTo>
                    <a:pt x="4445000" y="2510971"/>
                  </a:lnTo>
                  <a:cubicBezTo>
                    <a:pt x="4445000" y="2527004"/>
                    <a:pt x="4432004" y="2540000"/>
                    <a:pt x="4415972" y="2540000"/>
                  </a:cubicBezTo>
                  <a:lnTo>
                    <a:pt x="29029" y="2540000"/>
                  </a:lnTo>
                  <a:cubicBezTo>
                    <a:pt x="12997" y="2540000"/>
                    <a:pt x="0" y="2527004"/>
                    <a:pt x="0" y="2510971"/>
                  </a:cubicBezTo>
                  <a:lnTo>
                    <a:pt x="0" y="29029"/>
                  </a:lnTo>
                  <a:cubicBezTo>
                    <a:pt x="0" y="12997"/>
                    <a:pt x="12997" y="0"/>
                    <a:pt x="29029" y="0"/>
                  </a:cubicBezTo>
                  <a:close/>
                </a:path>
              </a:pathLst>
            </a:custGeom>
            <a:solidFill>
              <a:srgbClr val="00F5A0"/>
            </a:solidFill>
            <a:ln w="3810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23" id="23"/>
            <p:cNvSpPr txBox="true"/>
            <p:nvPr/>
          </p:nvSpPr>
          <p:spPr>
            <a:xfrm>
              <a:off x="0" y="-19050"/>
              <a:ext cx="4445000" cy="25590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05"/>
                </a:lnSpc>
              </a:pPr>
              <a:r>
                <a:rPr lang="en-US" sz="2100" b="true">
                  <a:solidFill>
                    <a:srgbClr val="000000"/>
                  </a:solidFill>
                  <a:latin typeface="Akzidenz-Grotesk Bold"/>
                  <a:ea typeface="Akzidenz-Grotesk Bold"/>
                  <a:cs typeface="Akzidenz-Grotesk Bold"/>
                  <a:sym typeface="Akzidenz-Grotesk Bold"/>
                </a:rPr>
                <a:t>SILVER</a:t>
              </a:r>
            </a:p>
            <a:p>
              <a:pPr algn="ctr">
                <a:lnSpc>
                  <a:spcPts val="2205"/>
                </a:lnSpc>
              </a:pPr>
              <a:r>
                <a:rPr lang="en-US" sz="2100" b="true">
                  <a:solidFill>
                    <a:srgbClr val="000000"/>
                  </a:solidFill>
                  <a:latin typeface="Akzidenz-Grotesk Bold"/>
                  <a:ea typeface="Akzidenz-Grotesk Bold"/>
                  <a:cs typeface="Akzidenz-Grotesk Bold"/>
                  <a:sym typeface="Akzidenz-Grotesk Bold"/>
                </a:rPr>
                <a:t>CONTRACT v2.1</a:t>
              </a:r>
            </a:p>
          </p:txBody>
        </p:sp>
      </p:grpSp>
      <p:sp>
        <p:nvSpPr>
          <p:cNvPr name="AutoShape 24" id="24"/>
          <p:cNvSpPr/>
          <p:nvPr/>
        </p:nvSpPr>
        <p:spPr>
          <a:xfrm>
            <a:off x="12915900" y="4191000"/>
            <a:ext cx="885825" cy="0"/>
          </a:xfrm>
          <a:prstGeom prst="line">
            <a:avLst/>
          </a:prstGeom>
          <a:ln cap="rnd" w="47625">
            <a:solidFill>
              <a:srgbClr val="000000"/>
            </a:solidFill>
            <a:prstDash val="solid"/>
            <a:headEnd type="none" len="sm" w="sm"/>
            <a:tailEnd type="arrow" len="sm" w="med"/>
          </a:ln>
        </p:spPr>
      </p:sp>
      <p:grpSp>
        <p:nvGrpSpPr>
          <p:cNvPr name="Group 25" id="25"/>
          <p:cNvGrpSpPr/>
          <p:nvPr/>
        </p:nvGrpSpPr>
        <p:grpSpPr>
          <a:xfrm rot="0">
            <a:off x="13916025" y="3295650"/>
            <a:ext cx="3333750" cy="1905000"/>
            <a:chOff x="0" y="0"/>
            <a:chExt cx="4445000" cy="254000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4445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4445000">
                  <a:moveTo>
                    <a:pt x="0" y="0"/>
                  </a:moveTo>
                  <a:lnTo>
                    <a:pt x="4445000" y="0"/>
                  </a:lnTo>
                  <a:lnTo>
                    <a:pt x="4445000" y="2540000"/>
                  </a:lnTo>
                  <a:lnTo>
                    <a:pt x="0" y="2540000"/>
                  </a:lnTo>
                  <a:close/>
                </a:path>
              </a:pathLst>
            </a:custGeom>
            <a:solidFill>
              <a:srgbClr val="000000"/>
            </a:solidFill>
            <a:ln cap="sq">
              <a:noFill/>
              <a:prstDash val="solid"/>
              <a:miter/>
            </a:ln>
          </p:spPr>
        </p:sp>
        <p:sp>
          <p:nvSpPr>
            <p:cNvPr name="TextBox 27" id="27"/>
            <p:cNvSpPr txBox="true"/>
            <p:nvPr/>
          </p:nvSpPr>
          <p:spPr>
            <a:xfrm>
              <a:off x="0" y="-38100"/>
              <a:ext cx="4445000" cy="2578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8" id="28"/>
          <p:cNvGrpSpPr/>
          <p:nvPr/>
        </p:nvGrpSpPr>
        <p:grpSpPr>
          <a:xfrm rot="0">
            <a:off x="13858875" y="3238500"/>
            <a:ext cx="3333750" cy="1905000"/>
            <a:chOff x="0" y="0"/>
            <a:chExt cx="4445000" cy="254000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4445000" cy="2540000"/>
            </a:xfrm>
            <a:custGeom>
              <a:avLst/>
              <a:gdLst/>
              <a:ahLst/>
              <a:cxnLst/>
              <a:rect r="r" b="b" t="t" l="l"/>
              <a:pathLst>
                <a:path h="2540000" w="4445000">
                  <a:moveTo>
                    <a:pt x="29029" y="0"/>
                  </a:moveTo>
                  <a:lnTo>
                    <a:pt x="4415972" y="0"/>
                  </a:lnTo>
                  <a:cubicBezTo>
                    <a:pt x="4432004" y="0"/>
                    <a:pt x="4445000" y="12997"/>
                    <a:pt x="4445000" y="29029"/>
                  </a:cubicBezTo>
                  <a:lnTo>
                    <a:pt x="4445000" y="2510971"/>
                  </a:lnTo>
                  <a:cubicBezTo>
                    <a:pt x="4445000" y="2527004"/>
                    <a:pt x="4432004" y="2540000"/>
                    <a:pt x="4415972" y="2540000"/>
                  </a:cubicBezTo>
                  <a:lnTo>
                    <a:pt x="29029" y="2540000"/>
                  </a:lnTo>
                  <a:cubicBezTo>
                    <a:pt x="12997" y="2540000"/>
                    <a:pt x="0" y="2527004"/>
                    <a:pt x="0" y="2510971"/>
                  </a:cubicBezTo>
                  <a:lnTo>
                    <a:pt x="0" y="29029"/>
                  </a:lnTo>
                  <a:cubicBezTo>
                    <a:pt x="0" y="12997"/>
                    <a:pt x="12997" y="0"/>
                    <a:pt x="29029" y="0"/>
                  </a:cubicBezTo>
                  <a:close/>
                </a:path>
              </a:pathLst>
            </a:custGeom>
            <a:solidFill>
              <a:srgbClr val="FF4757"/>
            </a:solidFill>
            <a:ln w="3810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30" id="30"/>
            <p:cNvSpPr txBox="true"/>
            <p:nvPr/>
          </p:nvSpPr>
          <p:spPr>
            <a:xfrm>
              <a:off x="0" y="-19050"/>
              <a:ext cx="4445000" cy="25590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05"/>
                </a:lnSpc>
              </a:pPr>
              <a:r>
                <a:rPr lang="en-US" sz="2100" b="true">
                  <a:solidFill>
                    <a:srgbClr val="000000"/>
                  </a:solidFill>
                  <a:latin typeface="Akzidenz-Grotesk Bold"/>
                  <a:ea typeface="Akzidenz-Grotesk Bold"/>
                  <a:cs typeface="Akzidenz-Grotesk Bold"/>
                  <a:sym typeface="Akzidenz-Grotesk Bold"/>
                </a:rPr>
                <a:t>GOLD</a:t>
              </a:r>
            </a:p>
            <a:p>
              <a:pPr algn="ctr">
                <a:lnSpc>
                  <a:spcPts val="2205"/>
                </a:lnSpc>
              </a:pPr>
              <a:r>
                <a:rPr lang="en-US" sz="2100" b="true">
                  <a:solidFill>
                    <a:srgbClr val="000000"/>
                  </a:solidFill>
                  <a:latin typeface="Akzidenz-Grotesk Bold"/>
                  <a:ea typeface="Akzidenz-Grotesk Bold"/>
                  <a:cs typeface="Akzidenz-Grotesk Bold"/>
                  <a:sym typeface="Akzidenz-Grotesk Bold"/>
                </a:rPr>
                <a:t>FRAUD MARTS</a:t>
              </a:r>
            </a:p>
          </p:txBody>
        </p:sp>
      </p:grpSp>
      <p:sp>
        <p:nvSpPr>
          <p:cNvPr name="AutoShape 31" id="31"/>
          <p:cNvSpPr/>
          <p:nvPr/>
        </p:nvSpPr>
        <p:spPr>
          <a:xfrm>
            <a:off x="6858000" y="5238750"/>
            <a:ext cx="0" cy="1714500"/>
          </a:xfrm>
          <a:prstGeom prst="line">
            <a:avLst/>
          </a:prstGeom>
          <a:ln cap="rnd" w="47625">
            <a:solidFill>
              <a:srgbClr val="000000"/>
            </a:solidFill>
            <a:prstDash val="solid"/>
            <a:headEnd type="none" len="sm" w="sm"/>
            <a:tailEnd type="arrow" len="sm" w="med"/>
          </a:ln>
        </p:spPr>
      </p:sp>
      <p:grpSp>
        <p:nvGrpSpPr>
          <p:cNvPr name="Group 32" id="32"/>
          <p:cNvGrpSpPr/>
          <p:nvPr/>
        </p:nvGrpSpPr>
        <p:grpSpPr>
          <a:xfrm rot="0">
            <a:off x="4724400" y="7010400"/>
            <a:ext cx="4381500" cy="1428750"/>
            <a:chOff x="0" y="0"/>
            <a:chExt cx="5842000" cy="190500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5842000" cy="1905000"/>
            </a:xfrm>
            <a:custGeom>
              <a:avLst/>
              <a:gdLst/>
              <a:ahLst/>
              <a:cxnLst/>
              <a:rect r="r" b="b" t="t" l="l"/>
              <a:pathLst>
                <a:path h="1905000" w="5842000">
                  <a:moveTo>
                    <a:pt x="0" y="0"/>
                  </a:moveTo>
                  <a:lnTo>
                    <a:pt x="5842000" y="0"/>
                  </a:lnTo>
                  <a:lnTo>
                    <a:pt x="5842000" y="1905000"/>
                  </a:lnTo>
                  <a:lnTo>
                    <a:pt x="0" y="1905000"/>
                  </a:lnTo>
                  <a:close/>
                </a:path>
              </a:pathLst>
            </a:custGeom>
            <a:solidFill>
              <a:srgbClr val="000000"/>
            </a:solidFill>
            <a:ln cap="sq">
              <a:noFill/>
              <a:prstDash val="solid"/>
              <a:miter/>
            </a:ln>
          </p:spPr>
        </p:sp>
        <p:sp>
          <p:nvSpPr>
            <p:cNvPr name="TextBox 34" id="34"/>
            <p:cNvSpPr txBox="true"/>
            <p:nvPr/>
          </p:nvSpPr>
          <p:spPr>
            <a:xfrm>
              <a:off x="0" y="-38100"/>
              <a:ext cx="5842000" cy="194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4667250" y="6953250"/>
            <a:ext cx="4381500" cy="1428750"/>
            <a:chOff x="0" y="0"/>
            <a:chExt cx="5842000" cy="190500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5842000" cy="1905000"/>
            </a:xfrm>
            <a:custGeom>
              <a:avLst/>
              <a:gdLst/>
              <a:ahLst/>
              <a:cxnLst/>
              <a:rect r="r" b="b" t="t" l="l"/>
              <a:pathLst>
                <a:path h="1905000" w="5842000">
                  <a:moveTo>
                    <a:pt x="22087" y="0"/>
                  </a:moveTo>
                  <a:lnTo>
                    <a:pt x="5819913" y="0"/>
                  </a:lnTo>
                  <a:cubicBezTo>
                    <a:pt x="5825771" y="0"/>
                    <a:pt x="5831389" y="2327"/>
                    <a:pt x="5835531" y="6469"/>
                  </a:cubicBezTo>
                  <a:cubicBezTo>
                    <a:pt x="5839673" y="10611"/>
                    <a:pt x="5842000" y="16229"/>
                    <a:pt x="5842000" y="22087"/>
                  </a:cubicBezTo>
                  <a:lnTo>
                    <a:pt x="5842000" y="1882913"/>
                  </a:lnTo>
                  <a:cubicBezTo>
                    <a:pt x="5842000" y="1888771"/>
                    <a:pt x="5839673" y="1894389"/>
                    <a:pt x="5835531" y="1898531"/>
                  </a:cubicBezTo>
                  <a:cubicBezTo>
                    <a:pt x="5831389" y="1902673"/>
                    <a:pt x="5825771" y="1905000"/>
                    <a:pt x="5819913" y="1905000"/>
                  </a:cubicBezTo>
                  <a:lnTo>
                    <a:pt x="22087" y="1905000"/>
                  </a:lnTo>
                  <a:cubicBezTo>
                    <a:pt x="16229" y="1905000"/>
                    <a:pt x="10611" y="1902673"/>
                    <a:pt x="6469" y="1898531"/>
                  </a:cubicBezTo>
                  <a:cubicBezTo>
                    <a:pt x="2327" y="1894389"/>
                    <a:pt x="0" y="1888771"/>
                    <a:pt x="0" y="1882913"/>
                  </a:cubicBezTo>
                  <a:lnTo>
                    <a:pt x="0" y="22087"/>
                  </a:lnTo>
                  <a:cubicBezTo>
                    <a:pt x="0" y="16229"/>
                    <a:pt x="2327" y="10611"/>
                    <a:pt x="6469" y="6469"/>
                  </a:cubicBezTo>
                  <a:cubicBezTo>
                    <a:pt x="10611" y="2327"/>
                    <a:pt x="16229" y="0"/>
                    <a:pt x="22087" y="0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37" id="37"/>
            <p:cNvSpPr txBox="true"/>
            <p:nvPr/>
          </p:nvSpPr>
          <p:spPr>
            <a:xfrm>
              <a:off x="0" y="-19050"/>
              <a:ext cx="5842000" cy="19240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05"/>
                </a:lnSpc>
              </a:pPr>
              <a:r>
                <a:rPr lang="en-US" sz="2100" b="true">
                  <a:solidFill>
                    <a:srgbClr val="000000"/>
                  </a:solidFill>
                  <a:latin typeface="Akzidenz-Grotesk Bold"/>
                  <a:ea typeface="Akzidenz-Grotesk Bold"/>
                  <a:cs typeface="Akzidenz-Grotesk Bold"/>
                  <a:sym typeface="Akzidenz-Grotesk Bold"/>
                </a:rPr>
                <a:t>QUARANTINE DLQ</a:t>
              </a:r>
            </a:p>
            <a:p>
              <a:pPr algn="ctr">
                <a:lnSpc>
                  <a:spcPts val="2205"/>
                </a:lnSpc>
              </a:pPr>
              <a:r>
                <a:rPr lang="en-US" sz="2100" b="true">
                  <a:solidFill>
                    <a:srgbClr val="000000"/>
                  </a:solidFill>
                  <a:latin typeface="Akzidenz-Grotesk Bold"/>
                  <a:ea typeface="Akzidenz-Grotesk Bold"/>
                  <a:cs typeface="Akzidenz-Grotesk Bold"/>
                  <a:sym typeface="Akzidenz-Grotesk Bold"/>
                </a:rPr>
                <a:t>REASON + PAYLOAD + TRACE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>
  <p:cSld>
    <p:bg>
      <p:bgPr>
        <a:solidFill>
          <a:srgbClr val="FA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819150" y="647700"/>
            <a:ext cx="16649700" cy="6294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04"/>
              </a:lnSpc>
            </a:pPr>
            <a:r>
              <a:rPr lang="en-US" sz="4800">
                <a:solidFill>
                  <a:srgbClr val="000000"/>
                </a:solidFill>
                <a:latin typeface="Archivo Black"/>
                <a:ea typeface="Archivo Black"/>
                <a:cs typeface="Archivo Black"/>
                <a:sym typeface="Archivo Black"/>
              </a:rPr>
              <a:t>MEDALLION STORAGE, BUILT FOR REPLAY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1200150" y="2914650"/>
            <a:ext cx="16002000" cy="1428750"/>
            <a:chOff x="0" y="0"/>
            <a:chExt cx="21336000" cy="1905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21336000" cy="1905000"/>
            </a:xfrm>
            <a:custGeom>
              <a:avLst/>
              <a:gdLst/>
              <a:ahLst/>
              <a:cxnLst/>
              <a:rect r="r" b="b" t="t" l="l"/>
              <a:pathLst>
                <a:path h="1905000" w="21336000">
                  <a:moveTo>
                    <a:pt x="0" y="0"/>
                  </a:moveTo>
                  <a:lnTo>
                    <a:pt x="21336000" y="0"/>
                  </a:lnTo>
                  <a:lnTo>
                    <a:pt x="21336000" y="1905000"/>
                  </a:lnTo>
                  <a:lnTo>
                    <a:pt x="0" y="1905000"/>
                  </a:lnTo>
                  <a:close/>
                </a:path>
              </a:pathLst>
            </a:custGeom>
            <a:solidFill>
              <a:srgbClr val="000000"/>
            </a:solidFill>
            <a:ln cap="sq">
              <a:noFill/>
              <a:prstDash val="solid"/>
              <a:miter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21336000" cy="194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143000" y="2857500"/>
            <a:ext cx="16002000" cy="1428750"/>
            <a:chOff x="0" y="0"/>
            <a:chExt cx="21336000" cy="19050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21336000" cy="1905000"/>
            </a:xfrm>
            <a:custGeom>
              <a:avLst/>
              <a:gdLst/>
              <a:ahLst/>
              <a:cxnLst/>
              <a:rect r="r" b="b" t="t" l="l"/>
              <a:pathLst>
                <a:path h="1905000" w="21336000">
                  <a:moveTo>
                    <a:pt x="6048" y="0"/>
                  </a:moveTo>
                  <a:lnTo>
                    <a:pt x="21329952" y="0"/>
                  </a:lnTo>
                  <a:cubicBezTo>
                    <a:pt x="21333293" y="0"/>
                    <a:pt x="21336000" y="2708"/>
                    <a:pt x="21336000" y="6048"/>
                  </a:cubicBezTo>
                  <a:lnTo>
                    <a:pt x="21336000" y="1898952"/>
                  </a:lnTo>
                  <a:cubicBezTo>
                    <a:pt x="21336000" y="1902292"/>
                    <a:pt x="21333293" y="1905000"/>
                    <a:pt x="21329952" y="1905000"/>
                  </a:cubicBezTo>
                  <a:lnTo>
                    <a:pt x="6048" y="1905000"/>
                  </a:lnTo>
                  <a:cubicBezTo>
                    <a:pt x="2708" y="1905000"/>
                    <a:pt x="0" y="1902292"/>
                    <a:pt x="0" y="1898952"/>
                  </a:cubicBezTo>
                  <a:lnTo>
                    <a:pt x="0" y="6048"/>
                  </a:lnTo>
                  <a:cubicBezTo>
                    <a:pt x="0" y="2708"/>
                    <a:pt x="2708" y="0"/>
                    <a:pt x="6048" y="0"/>
                  </a:cubicBezTo>
                  <a:close/>
                </a:path>
              </a:pathLst>
            </a:custGeom>
            <a:solidFill>
              <a:srgbClr val="7C3AED"/>
            </a:solidFill>
            <a:ln w="3810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8" id="8"/>
            <p:cNvSpPr txBox="true"/>
            <p:nvPr/>
          </p:nvSpPr>
          <p:spPr>
            <a:xfrm>
              <a:off x="0" y="-19050"/>
              <a:ext cx="21336000" cy="19240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441"/>
                </a:lnSpc>
              </a:pPr>
              <a:r>
                <a:rPr lang="en-US" sz="2325" b="true">
                  <a:solidFill>
                    <a:srgbClr val="000000"/>
                  </a:solidFill>
                  <a:latin typeface="Akzidenz-Grotesk Bold"/>
                  <a:ea typeface="Akzidenz-Grotesk Bold"/>
                  <a:cs typeface="Akzidenz-Grotesk Bold"/>
                  <a:sym typeface="Akzidenz-Grotesk Bold"/>
                </a:rPr>
                <a:t>BRONZE  /  IMMUTABLE RAW  /  EVENT TIME + INGEST TIME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2438400" y="5010150"/>
            <a:ext cx="13525500" cy="1428750"/>
            <a:chOff x="0" y="0"/>
            <a:chExt cx="18034000" cy="19050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18034000" cy="1905000"/>
            </a:xfrm>
            <a:custGeom>
              <a:avLst/>
              <a:gdLst/>
              <a:ahLst/>
              <a:cxnLst/>
              <a:rect r="r" b="b" t="t" l="l"/>
              <a:pathLst>
                <a:path h="1905000" w="18034000">
                  <a:moveTo>
                    <a:pt x="0" y="0"/>
                  </a:moveTo>
                  <a:lnTo>
                    <a:pt x="18034000" y="0"/>
                  </a:lnTo>
                  <a:lnTo>
                    <a:pt x="18034000" y="1905000"/>
                  </a:lnTo>
                  <a:lnTo>
                    <a:pt x="0" y="1905000"/>
                  </a:lnTo>
                  <a:close/>
                </a:path>
              </a:pathLst>
            </a:custGeom>
            <a:solidFill>
              <a:srgbClr val="000000"/>
            </a:solidFill>
            <a:ln cap="sq">
              <a:noFill/>
              <a:prstDash val="solid"/>
              <a:miter/>
            </a:ln>
          </p:spPr>
        </p:sp>
        <p:sp>
          <p:nvSpPr>
            <p:cNvPr name="TextBox 11" id="11"/>
            <p:cNvSpPr txBox="true"/>
            <p:nvPr/>
          </p:nvSpPr>
          <p:spPr>
            <a:xfrm>
              <a:off x="0" y="-38100"/>
              <a:ext cx="18034000" cy="194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2381250" y="4953000"/>
            <a:ext cx="13525500" cy="1428750"/>
            <a:chOff x="0" y="0"/>
            <a:chExt cx="18034000" cy="19050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8034000" cy="1905000"/>
            </a:xfrm>
            <a:custGeom>
              <a:avLst/>
              <a:gdLst/>
              <a:ahLst/>
              <a:cxnLst/>
              <a:rect r="r" b="b" t="t" l="l"/>
              <a:pathLst>
                <a:path h="1905000" w="18034000">
                  <a:moveTo>
                    <a:pt x="7155" y="0"/>
                  </a:moveTo>
                  <a:lnTo>
                    <a:pt x="18026845" y="0"/>
                  </a:lnTo>
                  <a:cubicBezTo>
                    <a:pt x="18028743" y="0"/>
                    <a:pt x="18030563" y="754"/>
                    <a:pt x="18031904" y="2096"/>
                  </a:cubicBezTo>
                  <a:cubicBezTo>
                    <a:pt x="18033247" y="3437"/>
                    <a:pt x="18034000" y="5257"/>
                    <a:pt x="18034000" y="7155"/>
                  </a:cubicBezTo>
                  <a:lnTo>
                    <a:pt x="18034000" y="1897845"/>
                  </a:lnTo>
                  <a:cubicBezTo>
                    <a:pt x="18034000" y="1899743"/>
                    <a:pt x="18033247" y="1901563"/>
                    <a:pt x="18031904" y="1902904"/>
                  </a:cubicBezTo>
                  <a:cubicBezTo>
                    <a:pt x="18030563" y="1904246"/>
                    <a:pt x="18028743" y="1905000"/>
                    <a:pt x="18026845" y="1905000"/>
                  </a:cubicBezTo>
                  <a:lnTo>
                    <a:pt x="7155" y="1905000"/>
                  </a:lnTo>
                  <a:cubicBezTo>
                    <a:pt x="5257" y="1905000"/>
                    <a:pt x="3437" y="1904246"/>
                    <a:pt x="2096" y="1902904"/>
                  </a:cubicBezTo>
                  <a:cubicBezTo>
                    <a:pt x="754" y="1901563"/>
                    <a:pt x="0" y="1899743"/>
                    <a:pt x="0" y="1897845"/>
                  </a:cubicBezTo>
                  <a:lnTo>
                    <a:pt x="0" y="7155"/>
                  </a:lnTo>
                  <a:cubicBezTo>
                    <a:pt x="0" y="5257"/>
                    <a:pt x="754" y="3437"/>
                    <a:pt x="2096" y="2096"/>
                  </a:cubicBezTo>
                  <a:cubicBezTo>
                    <a:pt x="3437" y="754"/>
                    <a:pt x="5257" y="0"/>
                    <a:pt x="7155" y="0"/>
                  </a:cubicBezTo>
                  <a:close/>
                </a:path>
              </a:pathLst>
            </a:custGeom>
            <a:solidFill>
              <a:srgbClr val="00F5A0"/>
            </a:solidFill>
            <a:ln w="3810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14" id="14"/>
            <p:cNvSpPr txBox="true"/>
            <p:nvPr/>
          </p:nvSpPr>
          <p:spPr>
            <a:xfrm>
              <a:off x="0" y="-19050"/>
              <a:ext cx="18034000" cy="19240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441"/>
                </a:lnSpc>
              </a:pPr>
              <a:r>
                <a:rPr lang="en-US" sz="2325" b="true">
                  <a:solidFill>
                    <a:srgbClr val="000000"/>
                  </a:solidFill>
                  <a:latin typeface="Akzidenz-Grotesk Bold"/>
                  <a:ea typeface="Akzidenz-Grotesk Bold"/>
                  <a:cs typeface="Akzidenz-Grotesk Bold"/>
                  <a:sym typeface="Akzidenz-Grotesk Bold"/>
                </a:rPr>
                <a:t>SILVER  /  CONTRACT v2.1  /  DEDUPED + TYPED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3676650" y="7105650"/>
            <a:ext cx="11049000" cy="1428750"/>
            <a:chOff x="0" y="0"/>
            <a:chExt cx="14732000" cy="19050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4732000" cy="1905000"/>
            </a:xfrm>
            <a:custGeom>
              <a:avLst/>
              <a:gdLst/>
              <a:ahLst/>
              <a:cxnLst/>
              <a:rect r="r" b="b" t="t" l="l"/>
              <a:pathLst>
                <a:path h="1905000" w="14732000">
                  <a:moveTo>
                    <a:pt x="0" y="0"/>
                  </a:moveTo>
                  <a:lnTo>
                    <a:pt x="14732000" y="0"/>
                  </a:lnTo>
                  <a:lnTo>
                    <a:pt x="14732000" y="1905000"/>
                  </a:lnTo>
                  <a:lnTo>
                    <a:pt x="0" y="1905000"/>
                  </a:lnTo>
                  <a:close/>
                </a:path>
              </a:pathLst>
            </a:custGeom>
            <a:solidFill>
              <a:srgbClr val="000000"/>
            </a:solidFill>
            <a:ln cap="sq">
              <a:noFill/>
              <a:prstDash val="solid"/>
              <a:miter/>
            </a:ln>
          </p:spPr>
        </p:sp>
        <p:sp>
          <p:nvSpPr>
            <p:cNvPr name="TextBox 17" id="17"/>
            <p:cNvSpPr txBox="true"/>
            <p:nvPr/>
          </p:nvSpPr>
          <p:spPr>
            <a:xfrm>
              <a:off x="0" y="-38100"/>
              <a:ext cx="14732000" cy="194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3619500" y="7048500"/>
            <a:ext cx="11049000" cy="1428750"/>
            <a:chOff x="0" y="0"/>
            <a:chExt cx="14732000" cy="190500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4732000" cy="1905000"/>
            </a:xfrm>
            <a:custGeom>
              <a:avLst/>
              <a:gdLst/>
              <a:ahLst/>
              <a:cxnLst/>
              <a:rect r="r" b="b" t="t" l="l"/>
              <a:pathLst>
                <a:path h="1905000" w="14732000">
                  <a:moveTo>
                    <a:pt x="8759" y="0"/>
                  </a:moveTo>
                  <a:lnTo>
                    <a:pt x="14723241" y="0"/>
                  </a:lnTo>
                  <a:cubicBezTo>
                    <a:pt x="14725565" y="0"/>
                    <a:pt x="14727793" y="923"/>
                    <a:pt x="14729434" y="2565"/>
                  </a:cubicBezTo>
                  <a:cubicBezTo>
                    <a:pt x="14731078" y="4208"/>
                    <a:pt x="14732000" y="6436"/>
                    <a:pt x="14732000" y="8759"/>
                  </a:cubicBezTo>
                  <a:lnTo>
                    <a:pt x="14732000" y="1896241"/>
                  </a:lnTo>
                  <a:cubicBezTo>
                    <a:pt x="14732000" y="1898564"/>
                    <a:pt x="14731078" y="1900792"/>
                    <a:pt x="14729434" y="1902435"/>
                  </a:cubicBezTo>
                  <a:cubicBezTo>
                    <a:pt x="14727793" y="1904077"/>
                    <a:pt x="14725565" y="1905000"/>
                    <a:pt x="14723241" y="1905000"/>
                  </a:cubicBezTo>
                  <a:lnTo>
                    <a:pt x="8759" y="1905000"/>
                  </a:lnTo>
                  <a:cubicBezTo>
                    <a:pt x="6436" y="1905000"/>
                    <a:pt x="4208" y="1904077"/>
                    <a:pt x="2565" y="1902435"/>
                  </a:cubicBezTo>
                  <a:cubicBezTo>
                    <a:pt x="923" y="1900792"/>
                    <a:pt x="0" y="1898564"/>
                    <a:pt x="0" y="1896241"/>
                  </a:cubicBezTo>
                  <a:lnTo>
                    <a:pt x="0" y="8759"/>
                  </a:lnTo>
                  <a:cubicBezTo>
                    <a:pt x="0" y="6436"/>
                    <a:pt x="923" y="4208"/>
                    <a:pt x="2565" y="2565"/>
                  </a:cubicBezTo>
                  <a:cubicBezTo>
                    <a:pt x="4208" y="923"/>
                    <a:pt x="6436" y="0"/>
                    <a:pt x="8759" y="0"/>
                  </a:cubicBezTo>
                  <a:close/>
                </a:path>
              </a:pathLst>
            </a:custGeom>
            <a:solidFill>
              <a:srgbClr val="FFE600"/>
            </a:solidFill>
            <a:ln w="3810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20" id="20"/>
            <p:cNvSpPr txBox="true"/>
            <p:nvPr/>
          </p:nvSpPr>
          <p:spPr>
            <a:xfrm>
              <a:off x="0" y="-19050"/>
              <a:ext cx="14732000" cy="19240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441"/>
                </a:lnSpc>
              </a:pPr>
              <a:r>
                <a:rPr lang="en-US" sz="2325" b="true">
                  <a:solidFill>
                    <a:srgbClr val="000000"/>
                  </a:solidFill>
                  <a:latin typeface="Akzidenz-Grotesk Bold"/>
                  <a:ea typeface="Akzidenz-Grotesk Bold"/>
                  <a:cs typeface="Akzidenz-Grotesk Bold"/>
                  <a:sym typeface="Akzidenz-Grotesk Bold"/>
                </a:rPr>
                <a:t>GOLD  /  FRAUD + FINANCE MARTS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>
  <p:cSld>
    <p:bg>
      <p:bgPr>
        <a:solidFill>
          <a:srgbClr val="FA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819150" y="647700"/>
            <a:ext cx="16649700" cy="6294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04"/>
              </a:lnSpc>
            </a:pPr>
            <a:r>
              <a:rPr lang="en-US" sz="4800">
                <a:solidFill>
                  <a:srgbClr val="000000"/>
                </a:solidFill>
                <a:latin typeface="Archivo Black"/>
                <a:ea typeface="Archivo Black"/>
                <a:cs typeface="Archivo Black"/>
                <a:sym typeface="Archivo Black"/>
              </a:rPr>
              <a:t>RAW SIGNAL → BEHAVIORAL INTELLIGENCE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819150" y="1400937"/>
            <a:ext cx="13811250" cy="3309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3"/>
              </a:lnSpc>
            </a:pPr>
            <a:r>
              <a:rPr lang="en-US" sz="1875">
                <a:solidFill>
                  <a:srgbClr val="000000"/>
                </a:solidFill>
                <a:latin typeface="Akzidenz-Grotesk"/>
                <a:ea typeface="Akzidenz-Grotesk"/>
                <a:cs typeface="Akzidenz-Grotesk"/>
                <a:sym typeface="Akzidenz-Grotesk"/>
              </a:rPr>
              <a:t>Streaming transforms convert telemetry into high-predictive-value features in milliseconds.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676275" y="3771900"/>
            <a:ext cx="2905125" cy="2190750"/>
            <a:chOff x="0" y="0"/>
            <a:chExt cx="3873500" cy="2921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3873500" cy="2921000"/>
            </a:xfrm>
            <a:custGeom>
              <a:avLst/>
              <a:gdLst/>
              <a:ahLst/>
              <a:cxnLst/>
              <a:rect r="r" b="b" t="t" l="l"/>
              <a:pathLst>
                <a:path h="2921000" w="3873500">
                  <a:moveTo>
                    <a:pt x="0" y="0"/>
                  </a:moveTo>
                  <a:lnTo>
                    <a:pt x="3873500" y="0"/>
                  </a:lnTo>
                  <a:lnTo>
                    <a:pt x="3873500" y="2921000"/>
                  </a:lnTo>
                  <a:lnTo>
                    <a:pt x="0" y="2921000"/>
                  </a:lnTo>
                  <a:close/>
                </a:path>
              </a:pathLst>
            </a:custGeom>
            <a:solidFill>
              <a:srgbClr val="000000"/>
            </a:solidFill>
            <a:ln cap="sq">
              <a:noFill/>
              <a:prstDash val="solid"/>
              <a:miter/>
            </a:ln>
          </p:spPr>
        </p:sp>
        <p:sp>
          <p:nvSpPr>
            <p:cNvPr name="TextBox 6" id="6"/>
            <p:cNvSpPr txBox="true"/>
            <p:nvPr/>
          </p:nvSpPr>
          <p:spPr>
            <a:xfrm>
              <a:off x="0" y="-38100"/>
              <a:ext cx="3873500" cy="295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619125" y="3714750"/>
            <a:ext cx="2905125" cy="2190750"/>
            <a:chOff x="0" y="0"/>
            <a:chExt cx="3873500" cy="2921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3873500" cy="2921000"/>
            </a:xfrm>
            <a:custGeom>
              <a:avLst/>
              <a:gdLst/>
              <a:ahLst/>
              <a:cxnLst/>
              <a:rect r="r" b="b" t="t" l="l"/>
              <a:pathLst>
                <a:path h="2921000" w="3873500">
                  <a:moveTo>
                    <a:pt x="33311" y="0"/>
                  </a:moveTo>
                  <a:lnTo>
                    <a:pt x="3840188" y="0"/>
                  </a:lnTo>
                  <a:cubicBezTo>
                    <a:pt x="3858586" y="0"/>
                    <a:pt x="3873500" y="14914"/>
                    <a:pt x="3873500" y="33311"/>
                  </a:cubicBezTo>
                  <a:lnTo>
                    <a:pt x="3873500" y="2887688"/>
                  </a:lnTo>
                  <a:cubicBezTo>
                    <a:pt x="3873500" y="2906086"/>
                    <a:pt x="3858586" y="2921000"/>
                    <a:pt x="3840188" y="2921000"/>
                  </a:cubicBezTo>
                  <a:lnTo>
                    <a:pt x="33311" y="2921000"/>
                  </a:lnTo>
                  <a:cubicBezTo>
                    <a:pt x="14914" y="2921000"/>
                    <a:pt x="0" y="2906086"/>
                    <a:pt x="0" y="2887688"/>
                  </a:cubicBezTo>
                  <a:lnTo>
                    <a:pt x="0" y="33311"/>
                  </a:lnTo>
                  <a:cubicBezTo>
                    <a:pt x="0" y="14914"/>
                    <a:pt x="14914" y="0"/>
                    <a:pt x="33311" y="0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9" id="9"/>
            <p:cNvSpPr txBox="true"/>
            <p:nvPr/>
          </p:nvSpPr>
          <p:spPr>
            <a:xfrm>
              <a:off x="0" y="-9525"/>
              <a:ext cx="3873500" cy="29305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126"/>
                </a:lnSpc>
              </a:pPr>
              <a:r>
                <a:rPr lang="en-US" sz="2025" b="true">
                  <a:solidFill>
                    <a:srgbClr val="000000"/>
                  </a:solidFill>
                  <a:latin typeface="Akzidenz-Grotesk Bold"/>
                  <a:ea typeface="Akzidenz-Grotesk Bold"/>
                  <a:cs typeface="Akzidenz-Grotesk Bold"/>
                  <a:sym typeface="Akzidenz-Grotesk Bold"/>
                </a:rPr>
                <a:t>AMOUNT + MCC</a:t>
              </a:r>
            </a:p>
            <a:p>
              <a:pPr algn="ctr">
                <a:lnSpc>
                  <a:spcPts val="2126"/>
                </a:lnSpc>
              </a:pPr>
              <a:r>
                <a:rPr lang="en-US" sz="2025" b="true">
                  <a:solidFill>
                    <a:srgbClr val="000000"/>
                  </a:solidFill>
                  <a:latin typeface="Akzidenz-Grotesk Bold"/>
                  <a:ea typeface="Akzidenz-Grotesk Bold"/>
                  <a:cs typeface="Akzidenz-Grotesk Bold"/>
                  <a:sym typeface="Akzidenz-Grotesk Bold"/>
                </a:rPr>
                <a:t>DEVICE + GEO</a:t>
              </a:r>
            </a:p>
          </p:txBody>
        </p:sp>
      </p:grpSp>
      <p:sp>
        <p:nvSpPr>
          <p:cNvPr name="AutoShape 10" id="10"/>
          <p:cNvSpPr/>
          <p:nvPr/>
        </p:nvSpPr>
        <p:spPr>
          <a:xfrm>
            <a:off x="3581400" y="4810125"/>
            <a:ext cx="523875" cy="0"/>
          </a:xfrm>
          <a:prstGeom prst="line">
            <a:avLst/>
          </a:prstGeom>
          <a:ln cap="rnd" w="47625">
            <a:solidFill>
              <a:srgbClr val="000000"/>
            </a:solidFill>
            <a:prstDash val="solid"/>
            <a:headEnd type="none" len="sm" w="sm"/>
            <a:tailEnd type="arrow" len="sm" w="med"/>
          </a:ln>
        </p:spPr>
      </p:sp>
      <p:grpSp>
        <p:nvGrpSpPr>
          <p:cNvPr name="Group 11" id="11"/>
          <p:cNvGrpSpPr/>
          <p:nvPr/>
        </p:nvGrpSpPr>
        <p:grpSpPr>
          <a:xfrm rot="0">
            <a:off x="4219575" y="3771900"/>
            <a:ext cx="2905125" cy="2190750"/>
            <a:chOff x="0" y="0"/>
            <a:chExt cx="3873500" cy="29210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3873500" cy="2921000"/>
            </a:xfrm>
            <a:custGeom>
              <a:avLst/>
              <a:gdLst/>
              <a:ahLst/>
              <a:cxnLst/>
              <a:rect r="r" b="b" t="t" l="l"/>
              <a:pathLst>
                <a:path h="2921000" w="3873500">
                  <a:moveTo>
                    <a:pt x="0" y="0"/>
                  </a:moveTo>
                  <a:lnTo>
                    <a:pt x="3873500" y="0"/>
                  </a:lnTo>
                  <a:lnTo>
                    <a:pt x="3873500" y="2921000"/>
                  </a:lnTo>
                  <a:lnTo>
                    <a:pt x="0" y="2921000"/>
                  </a:lnTo>
                  <a:close/>
                </a:path>
              </a:pathLst>
            </a:custGeom>
            <a:solidFill>
              <a:srgbClr val="000000"/>
            </a:solidFill>
            <a:ln cap="sq">
              <a:noFill/>
              <a:prstDash val="solid"/>
              <a:miter/>
            </a:ln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3873500" cy="295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4162425" y="3714750"/>
            <a:ext cx="2905125" cy="2190750"/>
            <a:chOff x="0" y="0"/>
            <a:chExt cx="3873500" cy="29210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3873500" cy="2921000"/>
            </a:xfrm>
            <a:custGeom>
              <a:avLst/>
              <a:gdLst/>
              <a:ahLst/>
              <a:cxnLst/>
              <a:rect r="r" b="b" t="t" l="l"/>
              <a:pathLst>
                <a:path h="2921000" w="3873500">
                  <a:moveTo>
                    <a:pt x="33311" y="0"/>
                  </a:moveTo>
                  <a:lnTo>
                    <a:pt x="3840188" y="0"/>
                  </a:lnTo>
                  <a:cubicBezTo>
                    <a:pt x="3858586" y="0"/>
                    <a:pt x="3873500" y="14914"/>
                    <a:pt x="3873500" y="33311"/>
                  </a:cubicBezTo>
                  <a:lnTo>
                    <a:pt x="3873500" y="2887688"/>
                  </a:lnTo>
                  <a:cubicBezTo>
                    <a:pt x="3873500" y="2906086"/>
                    <a:pt x="3858586" y="2921000"/>
                    <a:pt x="3840188" y="2921000"/>
                  </a:cubicBezTo>
                  <a:lnTo>
                    <a:pt x="33311" y="2921000"/>
                  </a:lnTo>
                  <a:cubicBezTo>
                    <a:pt x="14914" y="2921000"/>
                    <a:pt x="0" y="2906086"/>
                    <a:pt x="0" y="2887688"/>
                  </a:cubicBezTo>
                  <a:lnTo>
                    <a:pt x="0" y="33311"/>
                  </a:lnTo>
                  <a:cubicBezTo>
                    <a:pt x="0" y="14914"/>
                    <a:pt x="14914" y="0"/>
                    <a:pt x="33311" y="0"/>
                  </a:cubicBezTo>
                  <a:close/>
                </a:path>
              </a:pathLst>
            </a:custGeom>
            <a:solidFill>
              <a:srgbClr val="FFE600"/>
            </a:solidFill>
            <a:ln w="3810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0" y="-9525"/>
              <a:ext cx="3873500" cy="29305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126"/>
                </a:lnSpc>
              </a:pPr>
              <a:r>
                <a:rPr lang="en-US" sz="2025" b="true">
                  <a:solidFill>
                    <a:srgbClr val="000000"/>
                  </a:solidFill>
                  <a:latin typeface="Akzidenz-Grotesk Bold"/>
                  <a:ea typeface="Akzidenz-Grotesk Bold"/>
                  <a:cs typeface="Akzidenz-Grotesk Bold"/>
                  <a:sym typeface="Akzidenz-Grotesk Bold"/>
                </a:rPr>
                <a:t>VELOCITY</a:t>
              </a:r>
            </a:p>
            <a:p>
              <a:pPr algn="ctr">
                <a:lnSpc>
                  <a:spcPts val="2126"/>
                </a:lnSpc>
              </a:pPr>
              <a:r>
                <a:rPr lang="en-US" sz="2025" b="true">
                  <a:solidFill>
                    <a:srgbClr val="000000"/>
                  </a:solidFill>
                  <a:latin typeface="Akzidenz-Grotesk Bold"/>
                  <a:ea typeface="Akzidenz-Grotesk Bold"/>
                  <a:cs typeface="Akzidenz-Grotesk Bold"/>
                  <a:sym typeface="Akzidenz-Grotesk Bold"/>
                </a:rPr>
                <a:t>1m / 5m / 1h</a:t>
              </a:r>
            </a:p>
          </p:txBody>
        </p:sp>
      </p:grpSp>
      <p:sp>
        <p:nvSpPr>
          <p:cNvPr name="AutoShape 17" id="17"/>
          <p:cNvSpPr/>
          <p:nvPr/>
        </p:nvSpPr>
        <p:spPr>
          <a:xfrm>
            <a:off x="7124700" y="4810125"/>
            <a:ext cx="523875" cy="0"/>
          </a:xfrm>
          <a:prstGeom prst="line">
            <a:avLst/>
          </a:prstGeom>
          <a:ln cap="rnd" w="47625">
            <a:solidFill>
              <a:srgbClr val="000000"/>
            </a:solidFill>
            <a:prstDash val="solid"/>
            <a:headEnd type="none" len="sm" w="sm"/>
            <a:tailEnd type="arrow" len="sm" w="med"/>
          </a:ln>
        </p:spPr>
      </p:sp>
      <p:grpSp>
        <p:nvGrpSpPr>
          <p:cNvPr name="Group 18" id="18"/>
          <p:cNvGrpSpPr/>
          <p:nvPr/>
        </p:nvGrpSpPr>
        <p:grpSpPr>
          <a:xfrm rot="0">
            <a:off x="7762875" y="3771900"/>
            <a:ext cx="2905125" cy="2190750"/>
            <a:chOff x="0" y="0"/>
            <a:chExt cx="3873500" cy="292100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3873500" cy="2921000"/>
            </a:xfrm>
            <a:custGeom>
              <a:avLst/>
              <a:gdLst/>
              <a:ahLst/>
              <a:cxnLst/>
              <a:rect r="r" b="b" t="t" l="l"/>
              <a:pathLst>
                <a:path h="2921000" w="3873500">
                  <a:moveTo>
                    <a:pt x="0" y="0"/>
                  </a:moveTo>
                  <a:lnTo>
                    <a:pt x="3873500" y="0"/>
                  </a:lnTo>
                  <a:lnTo>
                    <a:pt x="3873500" y="2921000"/>
                  </a:lnTo>
                  <a:lnTo>
                    <a:pt x="0" y="2921000"/>
                  </a:lnTo>
                  <a:close/>
                </a:path>
              </a:pathLst>
            </a:custGeom>
            <a:solidFill>
              <a:srgbClr val="000000"/>
            </a:solidFill>
            <a:ln cap="sq">
              <a:noFill/>
              <a:prstDash val="solid"/>
              <a:miter/>
            </a:ln>
          </p:spPr>
        </p:sp>
        <p:sp>
          <p:nvSpPr>
            <p:cNvPr name="TextBox 20" id="20"/>
            <p:cNvSpPr txBox="true"/>
            <p:nvPr/>
          </p:nvSpPr>
          <p:spPr>
            <a:xfrm>
              <a:off x="0" y="-38100"/>
              <a:ext cx="3873500" cy="295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7705725" y="3714750"/>
            <a:ext cx="2905125" cy="2190750"/>
            <a:chOff x="0" y="0"/>
            <a:chExt cx="3873500" cy="292100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3873500" cy="2921000"/>
            </a:xfrm>
            <a:custGeom>
              <a:avLst/>
              <a:gdLst/>
              <a:ahLst/>
              <a:cxnLst/>
              <a:rect r="r" b="b" t="t" l="l"/>
              <a:pathLst>
                <a:path h="2921000" w="3873500">
                  <a:moveTo>
                    <a:pt x="33311" y="0"/>
                  </a:moveTo>
                  <a:lnTo>
                    <a:pt x="3840188" y="0"/>
                  </a:lnTo>
                  <a:cubicBezTo>
                    <a:pt x="3858586" y="0"/>
                    <a:pt x="3873500" y="14914"/>
                    <a:pt x="3873500" y="33311"/>
                  </a:cubicBezTo>
                  <a:lnTo>
                    <a:pt x="3873500" y="2887688"/>
                  </a:lnTo>
                  <a:cubicBezTo>
                    <a:pt x="3873500" y="2906086"/>
                    <a:pt x="3858586" y="2921000"/>
                    <a:pt x="3840188" y="2921000"/>
                  </a:cubicBezTo>
                  <a:lnTo>
                    <a:pt x="33311" y="2921000"/>
                  </a:lnTo>
                  <a:cubicBezTo>
                    <a:pt x="14914" y="2921000"/>
                    <a:pt x="0" y="2906086"/>
                    <a:pt x="0" y="2887688"/>
                  </a:cubicBezTo>
                  <a:lnTo>
                    <a:pt x="0" y="33311"/>
                  </a:lnTo>
                  <a:cubicBezTo>
                    <a:pt x="0" y="14914"/>
                    <a:pt x="14914" y="0"/>
                    <a:pt x="33311" y="0"/>
                  </a:cubicBezTo>
                  <a:close/>
                </a:path>
              </a:pathLst>
            </a:custGeom>
            <a:solidFill>
              <a:srgbClr val="00F5A0"/>
            </a:solidFill>
            <a:ln w="3810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23" id="23"/>
            <p:cNvSpPr txBox="true"/>
            <p:nvPr/>
          </p:nvSpPr>
          <p:spPr>
            <a:xfrm>
              <a:off x="0" y="-9525"/>
              <a:ext cx="3873500" cy="29305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126"/>
                </a:lnSpc>
              </a:pPr>
              <a:r>
                <a:rPr lang="en-US" sz="2025" b="true">
                  <a:solidFill>
                    <a:srgbClr val="000000"/>
                  </a:solidFill>
                  <a:latin typeface="Akzidenz-Grotesk Bold"/>
                  <a:ea typeface="Akzidenz-Grotesk Bold"/>
                  <a:cs typeface="Akzidenz-Grotesk Bold"/>
                  <a:sym typeface="Akzidenz-Grotesk Bold"/>
                </a:rPr>
                <a:t>DISTANCE</a:t>
              </a:r>
            </a:p>
            <a:p>
              <a:pPr algn="ctr">
                <a:lnSpc>
                  <a:spcPts val="2126"/>
                </a:lnSpc>
              </a:pPr>
              <a:r>
                <a:rPr lang="en-US" sz="2025" b="true">
                  <a:solidFill>
                    <a:srgbClr val="000000"/>
                  </a:solidFill>
                  <a:latin typeface="Akzidenz-Grotesk Bold"/>
                  <a:ea typeface="Akzidenz-Grotesk Bold"/>
                  <a:cs typeface="Akzidenz-Grotesk Bold"/>
                  <a:sym typeface="Akzidenz-Grotesk Bold"/>
                </a:rPr>
                <a:t>IMPOSSIBLE TRAVEL</a:t>
              </a:r>
            </a:p>
          </p:txBody>
        </p:sp>
      </p:grpSp>
      <p:sp>
        <p:nvSpPr>
          <p:cNvPr name="AutoShape 24" id="24"/>
          <p:cNvSpPr/>
          <p:nvPr/>
        </p:nvSpPr>
        <p:spPr>
          <a:xfrm>
            <a:off x="10668000" y="4810125"/>
            <a:ext cx="523875" cy="0"/>
          </a:xfrm>
          <a:prstGeom prst="line">
            <a:avLst/>
          </a:prstGeom>
          <a:ln cap="rnd" w="47625">
            <a:solidFill>
              <a:srgbClr val="000000"/>
            </a:solidFill>
            <a:prstDash val="solid"/>
            <a:headEnd type="none" len="sm" w="sm"/>
            <a:tailEnd type="arrow" len="sm" w="med"/>
          </a:ln>
        </p:spPr>
      </p:sp>
      <p:grpSp>
        <p:nvGrpSpPr>
          <p:cNvPr name="Group 25" id="25"/>
          <p:cNvGrpSpPr/>
          <p:nvPr/>
        </p:nvGrpSpPr>
        <p:grpSpPr>
          <a:xfrm rot="0">
            <a:off x="11306175" y="3771900"/>
            <a:ext cx="2905125" cy="2190750"/>
            <a:chOff x="0" y="0"/>
            <a:chExt cx="3873500" cy="292100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3873500" cy="2921000"/>
            </a:xfrm>
            <a:custGeom>
              <a:avLst/>
              <a:gdLst/>
              <a:ahLst/>
              <a:cxnLst/>
              <a:rect r="r" b="b" t="t" l="l"/>
              <a:pathLst>
                <a:path h="2921000" w="3873500">
                  <a:moveTo>
                    <a:pt x="0" y="0"/>
                  </a:moveTo>
                  <a:lnTo>
                    <a:pt x="3873500" y="0"/>
                  </a:lnTo>
                  <a:lnTo>
                    <a:pt x="3873500" y="2921000"/>
                  </a:lnTo>
                  <a:lnTo>
                    <a:pt x="0" y="2921000"/>
                  </a:lnTo>
                  <a:close/>
                </a:path>
              </a:pathLst>
            </a:custGeom>
            <a:solidFill>
              <a:srgbClr val="000000"/>
            </a:solidFill>
            <a:ln cap="sq">
              <a:noFill/>
              <a:prstDash val="solid"/>
              <a:miter/>
            </a:ln>
          </p:spPr>
        </p:sp>
        <p:sp>
          <p:nvSpPr>
            <p:cNvPr name="TextBox 27" id="27"/>
            <p:cNvSpPr txBox="true"/>
            <p:nvPr/>
          </p:nvSpPr>
          <p:spPr>
            <a:xfrm>
              <a:off x="0" y="-38100"/>
              <a:ext cx="3873500" cy="295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8" id="28"/>
          <p:cNvGrpSpPr/>
          <p:nvPr/>
        </p:nvGrpSpPr>
        <p:grpSpPr>
          <a:xfrm rot="0">
            <a:off x="11249025" y="3714750"/>
            <a:ext cx="2905125" cy="2190750"/>
            <a:chOff x="0" y="0"/>
            <a:chExt cx="3873500" cy="292100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3873500" cy="2921000"/>
            </a:xfrm>
            <a:custGeom>
              <a:avLst/>
              <a:gdLst/>
              <a:ahLst/>
              <a:cxnLst/>
              <a:rect r="r" b="b" t="t" l="l"/>
              <a:pathLst>
                <a:path h="2921000" w="3873500">
                  <a:moveTo>
                    <a:pt x="33311" y="0"/>
                  </a:moveTo>
                  <a:lnTo>
                    <a:pt x="3840188" y="0"/>
                  </a:lnTo>
                  <a:cubicBezTo>
                    <a:pt x="3858586" y="0"/>
                    <a:pt x="3873500" y="14914"/>
                    <a:pt x="3873500" y="33311"/>
                  </a:cubicBezTo>
                  <a:lnTo>
                    <a:pt x="3873500" y="2887688"/>
                  </a:lnTo>
                  <a:cubicBezTo>
                    <a:pt x="3873500" y="2906086"/>
                    <a:pt x="3858586" y="2921000"/>
                    <a:pt x="3840188" y="2921000"/>
                  </a:cubicBezTo>
                  <a:lnTo>
                    <a:pt x="33311" y="2921000"/>
                  </a:lnTo>
                  <a:cubicBezTo>
                    <a:pt x="14914" y="2921000"/>
                    <a:pt x="0" y="2906086"/>
                    <a:pt x="0" y="2887688"/>
                  </a:cubicBezTo>
                  <a:lnTo>
                    <a:pt x="0" y="33311"/>
                  </a:lnTo>
                  <a:cubicBezTo>
                    <a:pt x="0" y="14914"/>
                    <a:pt x="14914" y="0"/>
                    <a:pt x="33311" y="0"/>
                  </a:cubicBezTo>
                  <a:close/>
                </a:path>
              </a:pathLst>
            </a:custGeom>
            <a:solidFill>
              <a:srgbClr val="FF4757"/>
            </a:solidFill>
            <a:ln w="3810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30" id="30"/>
            <p:cNvSpPr txBox="true"/>
            <p:nvPr/>
          </p:nvSpPr>
          <p:spPr>
            <a:xfrm>
              <a:off x="0" y="-9525"/>
              <a:ext cx="3873500" cy="29305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126"/>
                </a:lnSpc>
              </a:pPr>
              <a:r>
                <a:rPr lang="en-US" sz="2025" b="true">
                  <a:solidFill>
                    <a:srgbClr val="000000"/>
                  </a:solidFill>
                  <a:latin typeface="Akzidenz-Grotesk Bold"/>
                  <a:ea typeface="Akzidenz-Grotesk Bold"/>
                  <a:cs typeface="Akzidenz-Grotesk Bold"/>
                  <a:sym typeface="Akzidenz-Grotesk Bold"/>
                </a:rPr>
                <a:t>BEHAVIOR</a:t>
              </a:r>
            </a:p>
            <a:p>
              <a:pPr algn="ctr">
                <a:lnSpc>
                  <a:spcPts val="2126"/>
                </a:lnSpc>
              </a:pPr>
              <a:r>
                <a:rPr lang="en-US" sz="2025" b="true">
                  <a:solidFill>
                    <a:srgbClr val="000000"/>
                  </a:solidFill>
                  <a:latin typeface="Akzidenz-Grotesk Bold"/>
                  <a:ea typeface="Akzidenz-Grotesk Bold"/>
                  <a:cs typeface="Akzidenz-Grotesk Bold"/>
                  <a:sym typeface="Akzidenz-Grotesk Bold"/>
                </a:rPr>
                <a:t>MERCHANT NOVELTY</a:t>
              </a:r>
            </a:p>
          </p:txBody>
        </p:sp>
      </p:grpSp>
      <p:sp>
        <p:nvSpPr>
          <p:cNvPr name="AutoShape 31" id="31"/>
          <p:cNvSpPr/>
          <p:nvPr/>
        </p:nvSpPr>
        <p:spPr>
          <a:xfrm>
            <a:off x="14211300" y="4810125"/>
            <a:ext cx="523875" cy="0"/>
          </a:xfrm>
          <a:prstGeom prst="line">
            <a:avLst/>
          </a:prstGeom>
          <a:ln cap="rnd" w="47625">
            <a:solidFill>
              <a:srgbClr val="000000"/>
            </a:solidFill>
            <a:prstDash val="solid"/>
            <a:headEnd type="none" len="sm" w="sm"/>
            <a:tailEnd type="arrow" len="sm" w="med"/>
          </a:ln>
        </p:spPr>
      </p:sp>
      <p:grpSp>
        <p:nvGrpSpPr>
          <p:cNvPr name="Group 32" id="32"/>
          <p:cNvGrpSpPr/>
          <p:nvPr/>
        </p:nvGrpSpPr>
        <p:grpSpPr>
          <a:xfrm rot="0">
            <a:off x="14849475" y="3771900"/>
            <a:ext cx="2905125" cy="2190750"/>
            <a:chOff x="0" y="0"/>
            <a:chExt cx="3873500" cy="292100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3873500" cy="2921000"/>
            </a:xfrm>
            <a:custGeom>
              <a:avLst/>
              <a:gdLst/>
              <a:ahLst/>
              <a:cxnLst/>
              <a:rect r="r" b="b" t="t" l="l"/>
              <a:pathLst>
                <a:path h="2921000" w="3873500">
                  <a:moveTo>
                    <a:pt x="0" y="0"/>
                  </a:moveTo>
                  <a:lnTo>
                    <a:pt x="3873500" y="0"/>
                  </a:lnTo>
                  <a:lnTo>
                    <a:pt x="3873500" y="2921000"/>
                  </a:lnTo>
                  <a:lnTo>
                    <a:pt x="0" y="2921000"/>
                  </a:lnTo>
                  <a:close/>
                </a:path>
              </a:pathLst>
            </a:custGeom>
            <a:solidFill>
              <a:srgbClr val="000000"/>
            </a:solidFill>
            <a:ln cap="sq">
              <a:noFill/>
              <a:prstDash val="solid"/>
              <a:miter/>
            </a:ln>
          </p:spPr>
        </p:sp>
        <p:sp>
          <p:nvSpPr>
            <p:cNvPr name="TextBox 34" id="34"/>
            <p:cNvSpPr txBox="true"/>
            <p:nvPr/>
          </p:nvSpPr>
          <p:spPr>
            <a:xfrm>
              <a:off x="0" y="-38100"/>
              <a:ext cx="3873500" cy="2959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14792325" y="3714750"/>
            <a:ext cx="2905125" cy="2190750"/>
            <a:chOff x="0" y="0"/>
            <a:chExt cx="3873500" cy="292100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3873500" cy="2921000"/>
            </a:xfrm>
            <a:custGeom>
              <a:avLst/>
              <a:gdLst/>
              <a:ahLst/>
              <a:cxnLst/>
              <a:rect r="r" b="b" t="t" l="l"/>
              <a:pathLst>
                <a:path h="2921000" w="3873500">
                  <a:moveTo>
                    <a:pt x="33311" y="0"/>
                  </a:moveTo>
                  <a:lnTo>
                    <a:pt x="3840188" y="0"/>
                  </a:lnTo>
                  <a:cubicBezTo>
                    <a:pt x="3858586" y="0"/>
                    <a:pt x="3873500" y="14914"/>
                    <a:pt x="3873500" y="33311"/>
                  </a:cubicBezTo>
                  <a:lnTo>
                    <a:pt x="3873500" y="2887688"/>
                  </a:lnTo>
                  <a:cubicBezTo>
                    <a:pt x="3873500" y="2906086"/>
                    <a:pt x="3858586" y="2921000"/>
                    <a:pt x="3840188" y="2921000"/>
                  </a:cubicBezTo>
                  <a:lnTo>
                    <a:pt x="33311" y="2921000"/>
                  </a:lnTo>
                  <a:cubicBezTo>
                    <a:pt x="14914" y="2921000"/>
                    <a:pt x="0" y="2906086"/>
                    <a:pt x="0" y="2887688"/>
                  </a:cubicBezTo>
                  <a:lnTo>
                    <a:pt x="0" y="33311"/>
                  </a:lnTo>
                  <a:cubicBezTo>
                    <a:pt x="0" y="14914"/>
                    <a:pt x="14914" y="0"/>
                    <a:pt x="33311" y="0"/>
                  </a:cubicBezTo>
                  <a:close/>
                </a:path>
              </a:pathLst>
            </a:custGeom>
            <a:solidFill>
              <a:srgbClr val="7C3AED"/>
            </a:solidFill>
            <a:ln w="3810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37" id="37"/>
            <p:cNvSpPr txBox="true"/>
            <p:nvPr/>
          </p:nvSpPr>
          <p:spPr>
            <a:xfrm>
              <a:off x="0" y="-9525"/>
              <a:ext cx="3873500" cy="29305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126"/>
                </a:lnSpc>
              </a:pPr>
              <a:r>
                <a:rPr lang="en-US" sz="2025" b="true">
                  <a:solidFill>
                    <a:srgbClr val="000000"/>
                  </a:solidFill>
                  <a:latin typeface="Akzidenz-Grotesk Bold"/>
                  <a:ea typeface="Akzidenz-Grotesk Bold"/>
                  <a:cs typeface="Akzidenz-Grotesk Bold"/>
                  <a:sym typeface="Akzidenz-Grotesk Bold"/>
                </a:rPr>
                <a:t>MODEL VECTOR</a:t>
              </a:r>
            </a:p>
            <a:p>
              <a:pPr algn="ctr">
                <a:lnSpc>
                  <a:spcPts val="2126"/>
                </a:lnSpc>
              </a:pPr>
              <a:r>
                <a:rPr lang="en-US" sz="2025" b="true">
                  <a:solidFill>
                    <a:srgbClr val="000000"/>
                  </a:solidFill>
                  <a:latin typeface="Akzidenz-Grotesk Bold"/>
                  <a:ea typeface="Akzidenz-Grotesk Bold"/>
                  <a:cs typeface="Akzidenz-Grotesk Bold"/>
                  <a:sym typeface="Akzidenz-Grotesk Bold"/>
                </a:rPr>
                <a:t>VERSIONED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>
  <p:cSld>
    <p:bg>
      <p:bgPr>
        <a:solidFill>
          <a:srgbClr val="FA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819150" y="638175"/>
            <a:ext cx="16649700" cy="56921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263"/>
              </a:lnSpc>
            </a:pPr>
            <a:r>
              <a:rPr lang="en-US" sz="4350">
                <a:solidFill>
                  <a:srgbClr val="000000"/>
                </a:solidFill>
                <a:latin typeface="Archivo Black"/>
                <a:ea typeface="Archivo Black"/>
                <a:cs typeface="Archivo Black"/>
                <a:sym typeface="Archivo Black"/>
              </a:rPr>
              <a:t>AIRFLOW CONDUCTS; STREAMING KEEPS PLAYING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819150" y="1331556"/>
            <a:ext cx="13811250" cy="3309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3"/>
              </a:lnSpc>
            </a:pPr>
            <a:r>
              <a:rPr lang="en-US" sz="1875">
                <a:solidFill>
                  <a:srgbClr val="000000"/>
                </a:solidFill>
                <a:latin typeface="Akzidenz-Grotesk"/>
                <a:ea typeface="Akzidenz-Grotesk"/>
                <a:cs typeface="Akzidenz-Grotesk"/>
                <a:sym typeface="Akzidenz-Grotesk"/>
              </a:rPr>
              <a:t>Orchestration coordinates checks and jobs without becoming the payment data plane.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7058025" y="2914650"/>
            <a:ext cx="4286250" cy="1619250"/>
            <a:chOff x="0" y="0"/>
            <a:chExt cx="5715000" cy="2159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5715000" cy="2159000"/>
            </a:xfrm>
            <a:custGeom>
              <a:avLst/>
              <a:gdLst/>
              <a:ahLst/>
              <a:cxnLst/>
              <a:rect r="r" b="b" t="t" l="l"/>
              <a:pathLst>
                <a:path h="2159000" w="5715000">
                  <a:moveTo>
                    <a:pt x="0" y="0"/>
                  </a:moveTo>
                  <a:lnTo>
                    <a:pt x="5715000" y="0"/>
                  </a:lnTo>
                  <a:lnTo>
                    <a:pt x="5715000" y="2159000"/>
                  </a:lnTo>
                  <a:lnTo>
                    <a:pt x="0" y="2159000"/>
                  </a:lnTo>
                  <a:close/>
                </a:path>
              </a:pathLst>
            </a:custGeom>
            <a:solidFill>
              <a:srgbClr val="000000"/>
            </a:solidFill>
            <a:ln cap="sq">
              <a:noFill/>
              <a:prstDash val="solid"/>
              <a:miter/>
            </a:ln>
          </p:spPr>
        </p:sp>
        <p:sp>
          <p:nvSpPr>
            <p:cNvPr name="TextBox 6" id="6"/>
            <p:cNvSpPr txBox="true"/>
            <p:nvPr/>
          </p:nvSpPr>
          <p:spPr>
            <a:xfrm>
              <a:off x="0" y="-38100"/>
              <a:ext cx="5715000" cy="2197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7000875" y="2857500"/>
            <a:ext cx="4286250" cy="1619250"/>
            <a:chOff x="0" y="0"/>
            <a:chExt cx="5715000" cy="2159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5715000" cy="2159000"/>
            </a:xfrm>
            <a:custGeom>
              <a:avLst/>
              <a:gdLst/>
              <a:ahLst/>
              <a:cxnLst/>
              <a:rect r="r" b="b" t="t" l="l"/>
              <a:pathLst>
                <a:path h="2159000" w="5715000">
                  <a:moveTo>
                    <a:pt x="22578" y="0"/>
                  </a:moveTo>
                  <a:lnTo>
                    <a:pt x="5692422" y="0"/>
                  </a:lnTo>
                  <a:cubicBezTo>
                    <a:pt x="5704892" y="0"/>
                    <a:pt x="5715000" y="10108"/>
                    <a:pt x="5715000" y="22578"/>
                  </a:cubicBezTo>
                  <a:lnTo>
                    <a:pt x="5715000" y="2136422"/>
                  </a:lnTo>
                  <a:cubicBezTo>
                    <a:pt x="5715000" y="2148892"/>
                    <a:pt x="5704892" y="2159000"/>
                    <a:pt x="5692422" y="2159000"/>
                  </a:cubicBezTo>
                  <a:lnTo>
                    <a:pt x="22578" y="2159000"/>
                  </a:lnTo>
                  <a:cubicBezTo>
                    <a:pt x="10108" y="2159000"/>
                    <a:pt x="0" y="2148892"/>
                    <a:pt x="0" y="2136422"/>
                  </a:cubicBezTo>
                  <a:lnTo>
                    <a:pt x="0" y="22578"/>
                  </a:lnTo>
                  <a:cubicBezTo>
                    <a:pt x="0" y="10108"/>
                    <a:pt x="10108" y="0"/>
                    <a:pt x="22578" y="0"/>
                  </a:cubicBezTo>
                  <a:close/>
                </a:path>
              </a:pathLst>
            </a:custGeom>
            <a:solidFill>
              <a:srgbClr val="7C3AED"/>
            </a:solidFill>
            <a:ln w="3810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9" id="9"/>
            <p:cNvSpPr txBox="true"/>
            <p:nvPr/>
          </p:nvSpPr>
          <p:spPr>
            <a:xfrm>
              <a:off x="0" y="-9525"/>
              <a:ext cx="5715000" cy="21685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77"/>
                </a:lnSpc>
              </a:pPr>
              <a:r>
                <a:rPr lang="en-US" sz="2550" b="true">
                  <a:solidFill>
                    <a:srgbClr val="000000"/>
                  </a:solidFill>
                  <a:latin typeface="Akzidenz-Grotesk Bold"/>
                  <a:ea typeface="Akzidenz-Grotesk Bold"/>
                  <a:cs typeface="Akzidenz-Grotesk Bold"/>
                  <a:sym typeface="Akzidenz-Grotesk Bold"/>
                </a:rPr>
                <a:t>APACHE AIRFLOW</a:t>
              </a:r>
            </a:p>
            <a:p>
              <a:pPr algn="ctr">
                <a:lnSpc>
                  <a:spcPts val="2677"/>
                </a:lnSpc>
              </a:pPr>
              <a:r>
                <a:rPr lang="en-US" sz="2550" b="true">
                  <a:solidFill>
                    <a:srgbClr val="000000"/>
                  </a:solidFill>
                  <a:latin typeface="Akzidenz-Grotesk Bold"/>
                  <a:ea typeface="Akzidenz-Grotesk Bold"/>
                  <a:cs typeface="Akzidenz-Grotesk Bold"/>
                  <a:sym typeface="Akzidenz-Grotesk Bold"/>
                </a:rPr>
                <a:t>CONTROL PLANE</a:t>
              </a:r>
            </a:p>
          </p:txBody>
        </p:sp>
      </p:grpSp>
      <p:sp>
        <p:nvSpPr>
          <p:cNvPr name="AutoShape 10" id="10"/>
          <p:cNvSpPr/>
          <p:nvPr/>
        </p:nvSpPr>
        <p:spPr>
          <a:xfrm flipH="true">
            <a:off x="3429000" y="4572000"/>
            <a:ext cx="5715000" cy="1905000"/>
          </a:xfrm>
          <a:prstGeom prst="line">
            <a:avLst/>
          </a:prstGeom>
          <a:ln cap="rnd" w="47625">
            <a:solidFill>
              <a:srgbClr val="000000"/>
            </a:solidFill>
            <a:prstDash val="solid"/>
            <a:headEnd type="none" len="sm" w="sm"/>
            <a:tailEnd type="arrow" len="sm" w="med"/>
          </a:ln>
        </p:spPr>
      </p:sp>
      <p:grpSp>
        <p:nvGrpSpPr>
          <p:cNvPr name="Group 11" id="11"/>
          <p:cNvGrpSpPr/>
          <p:nvPr/>
        </p:nvGrpSpPr>
        <p:grpSpPr>
          <a:xfrm rot="0">
            <a:off x="1485900" y="6534150"/>
            <a:ext cx="4000500" cy="1619250"/>
            <a:chOff x="0" y="0"/>
            <a:chExt cx="5334000" cy="21590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5334000" cy="2159000"/>
            </a:xfrm>
            <a:custGeom>
              <a:avLst/>
              <a:gdLst/>
              <a:ahLst/>
              <a:cxnLst/>
              <a:rect r="r" b="b" t="t" l="l"/>
              <a:pathLst>
                <a:path h="2159000" w="5334000">
                  <a:moveTo>
                    <a:pt x="0" y="0"/>
                  </a:moveTo>
                  <a:lnTo>
                    <a:pt x="5334000" y="0"/>
                  </a:lnTo>
                  <a:lnTo>
                    <a:pt x="5334000" y="2159000"/>
                  </a:lnTo>
                  <a:lnTo>
                    <a:pt x="0" y="2159000"/>
                  </a:lnTo>
                  <a:close/>
                </a:path>
              </a:pathLst>
            </a:custGeom>
            <a:solidFill>
              <a:srgbClr val="000000"/>
            </a:solidFill>
            <a:ln cap="sq">
              <a:noFill/>
              <a:prstDash val="solid"/>
              <a:miter/>
            </a:ln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5334000" cy="2197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1428750" y="6477000"/>
            <a:ext cx="4000500" cy="1619250"/>
            <a:chOff x="0" y="0"/>
            <a:chExt cx="5334000" cy="21590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5334000" cy="2159000"/>
            </a:xfrm>
            <a:custGeom>
              <a:avLst/>
              <a:gdLst/>
              <a:ahLst/>
              <a:cxnLst/>
              <a:rect r="r" b="b" t="t" l="l"/>
              <a:pathLst>
                <a:path h="2159000" w="5334000">
                  <a:moveTo>
                    <a:pt x="24190" y="0"/>
                  </a:moveTo>
                  <a:lnTo>
                    <a:pt x="5309810" y="0"/>
                  </a:lnTo>
                  <a:cubicBezTo>
                    <a:pt x="5316225" y="0"/>
                    <a:pt x="5322378" y="2549"/>
                    <a:pt x="5326915" y="7085"/>
                  </a:cubicBezTo>
                  <a:cubicBezTo>
                    <a:pt x="5331451" y="11622"/>
                    <a:pt x="5334000" y="17775"/>
                    <a:pt x="5334000" y="24190"/>
                  </a:cubicBezTo>
                  <a:lnTo>
                    <a:pt x="5334000" y="2134810"/>
                  </a:lnTo>
                  <a:cubicBezTo>
                    <a:pt x="5334000" y="2141225"/>
                    <a:pt x="5331451" y="2147378"/>
                    <a:pt x="5326915" y="2151915"/>
                  </a:cubicBezTo>
                  <a:cubicBezTo>
                    <a:pt x="5322378" y="2156451"/>
                    <a:pt x="5316225" y="2159000"/>
                    <a:pt x="5309810" y="2159000"/>
                  </a:cubicBezTo>
                  <a:lnTo>
                    <a:pt x="24190" y="2159000"/>
                  </a:lnTo>
                  <a:cubicBezTo>
                    <a:pt x="17775" y="2159000"/>
                    <a:pt x="11622" y="2156451"/>
                    <a:pt x="7085" y="2151915"/>
                  </a:cubicBezTo>
                  <a:cubicBezTo>
                    <a:pt x="2549" y="2147378"/>
                    <a:pt x="0" y="2141225"/>
                    <a:pt x="0" y="2134810"/>
                  </a:cubicBezTo>
                  <a:lnTo>
                    <a:pt x="0" y="24190"/>
                  </a:lnTo>
                  <a:cubicBezTo>
                    <a:pt x="0" y="17775"/>
                    <a:pt x="2549" y="11622"/>
                    <a:pt x="7085" y="7085"/>
                  </a:cubicBezTo>
                  <a:cubicBezTo>
                    <a:pt x="11622" y="2549"/>
                    <a:pt x="17775" y="0"/>
                    <a:pt x="24190" y="0"/>
                  </a:cubicBezTo>
                  <a:close/>
                </a:path>
              </a:pathLst>
            </a:custGeom>
            <a:solidFill>
              <a:srgbClr val="FFE600"/>
            </a:solidFill>
            <a:ln w="3810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0" y="-19050"/>
              <a:ext cx="5334000" cy="21780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05"/>
                </a:lnSpc>
              </a:pPr>
              <a:r>
                <a:rPr lang="en-US" sz="2100" b="true">
                  <a:solidFill>
                    <a:srgbClr val="000000"/>
                  </a:solidFill>
                  <a:latin typeface="Akzidenz-Grotesk Bold"/>
                  <a:ea typeface="Akzidenz-Grotesk Bold"/>
                  <a:cs typeface="Akzidenz-Grotesk Bold"/>
                  <a:sym typeface="Akzidenz-Grotesk Bold"/>
                </a:rPr>
                <a:t>STREAM HEALTH</a:t>
              </a:r>
            </a:p>
            <a:p>
              <a:pPr algn="ctr">
                <a:lnSpc>
                  <a:spcPts val="2205"/>
                </a:lnSpc>
              </a:pPr>
              <a:r>
                <a:rPr lang="en-US" sz="2100" b="true">
                  <a:solidFill>
                    <a:srgbClr val="000000"/>
                  </a:solidFill>
                  <a:latin typeface="Akzidenz-Grotesk Bold"/>
                  <a:ea typeface="Akzidenz-Grotesk Bold"/>
                  <a:cs typeface="Akzidenz-Grotesk Bold"/>
                  <a:sym typeface="Akzidenz-Grotesk Bold"/>
                </a:rPr>
                <a:t>EVERY 5 MIN</a:t>
              </a:r>
            </a:p>
          </p:txBody>
        </p:sp>
      </p:grpSp>
      <p:sp>
        <p:nvSpPr>
          <p:cNvPr name="AutoShape 17" id="17"/>
          <p:cNvSpPr/>
          <p:nvPr/>
        </p:nvSpPr>
        <p:spPr>
          <a:xfrm>
            <a:off x="9144000" y="4572000"/>
            <a:ext cx="95250" cy="1905000"/>
          </a:xfrm>
          <a:prstGeom prst="line">
            <a:avLst/>
          </a:prstGeom>
          <a:ln cap="rnd" w="47625">
            <a:solidFill>
              <a:srgbClr val="000000"/>
            </a:solidFill>
            <a:prstDash val="solid"/>
            <a:headEnd type="none" len="sm" w="sm"/>
            <a:tailEnd type="arrow" len="sm" w="med"/>
          </a:ln>
        </p:spPr>
      </p:sp>
      <p:grpSp>
        <p:nvGrpSpPr>
          <p:cNvPr name="Group 18" id="18"/>
          <p:cNvGrpSpPr/>
          <p:nvPr/>
        </p:nvGrpSpPr>
        <p:grpSpPr>
          <a:xfrm rot="0">
            <a:off x="7296150" y="6534150"/>
            <a:ext cx="4000500" cy="1619250"/>
            <a:chOff x="0" y="0"/>
            <a:chExt cx="5334000" cy="215900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5334000" cy="2159000"/>
            </a:xfrm>
            <a:custGeom>
              <a:avLst/>
              <a:gdLst/>
              <a:ahLst/>
              <a:cxnLst/>
              <a:rect r="r" b="b" t="t" l="l"/>
              <a:pathLst>
                <a:path h="2159000" w="5334000">
                  <a:moveTo>
                    <a:pt x="0" y="0"/>
                  </a:moveTo>
                  <a:lnTo>
                    <a:pt x="5334000" y="0"/>
                  </a:lnTo>
                  <a:lnTo>
                    <a:pt x="5334000" y="2159000"/>
                  </a:lnTo>
                  <a:lnTo>
                    <a:pt x="0" y="2159000"/>
                  </a:lnTo>
                  <a:close/>
                </a:path>
              </a:pathLst>
            </a:custGeom>
            <a:solidFill>
              <a:srgbClr val="000000"/>
            </a:solidFill>
            <a:ln cap="sq">
              <a:noFill/>
              <a:prstDash val="solid"/>
              <a:miter/>
            </a:ln>
          </p:spPr>
        </p:sp>
        <p:sp>
          <p:nvSpPr>
            <p:cNvPr name="TextBox 20" id="20"/>
            <p:cNvSpPr txBox="true"/>
            <p:nvPr/>
          </p:nvSpPr>
          <p:spPr>
            <a:xfrm>
              <a:off x="0" y="-38100"/>
              <a:ext cx="5334000" cy="2197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7239000" y="6477000"/>
            <a:ext cx="4000500" cy="1619250"/>
            <a:chOff x="0" y="0"/>
            <a:chExt cx="5334000" cy="215900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5334000" cy="2159000"/>
            </a:xfrm>
            <a:custGeom>
              <a:avLst/>
              <a:gdLst/>
              <a:ahLst/>
              <a:cxnLst/>
              <a:rect r="r" b="b" t="t" l="l"/>
              <a:pathLst>
                <a:path h="2159000" w="5334000">
                  <a:moveTo>
                    <a:pt x="24190" y="0"/>
                  </a:moveTo>
                  <a:lnTo>
                    <a:pt x="5309810" y="0"/>
                  </a:lnTo>
                  <a:cubicBezTo>
                    <a:pt x="5316225" y="0"/>
                    <a:pt x="5322378" y="2549"/>
                    <a:pt x="5326915" y="7085"/>
                  </a:cubicBezTo>
                  <a:cubicBezTo>
                    <a:pt x="5331451" y="11622"/>
                    <a:pt x="5334000" y="17775"/>
                    <a:pt x="5334000" y="24190"/>
                  </a:cubicBezTo>
                  <a:lnTo>
                    <a:pt x="5334000" y="2134810"/>
                  </a:lnTo>
                  <a:cubicBezTo>
                    <a:pt x="5334000" y="2141225"/>
                    <a:pt x="5331451" y="2147378"/>
                    <a:pt x="5326915" y="2151915"/>
                  </a:cubicBezTo>
                  <a:cubicBezTo>
                    <a:pt x="5322378" y="2156451"/>
                    <a:pt x="5316225" y="2159000"/>
                    <a:pt x="5309810" y="2159000"/>
                  </a:cubicBezTo>
                  <a:lnTo>
                    <a:pt x="24190" y="2159000"/>
                  </a:lnTo>
                  <a:cubicBezTo>
                    <a:pt x="17775" y="2159000"/>
                    <a:pt x="11622" y="2156451"/>
                    <a:pt x="7085" y="2151915"/>
                  </a:cubicBezTo>
                  <a:cubicBezTo>
                    <a:pt x="2549" y="2147378"/>
                    <a:pt x="0" y="2141225"/>
                    <a:pt x="0" y="2134810"/>
                  </a:cubicBezTo>
                  <a:lnTo>
                    <a:pt x="0" y="24190"/>
                  </a:lnTo>
                  <a:cubicBezTo>
                    <a:pt x="0" y="17775"/>
                    <a:pt x="2549" y="11622"/>
                    <a:pt x="7085" y="7085"/>
                  </a:cubicBezTo>
                  <a:cubicBezTo>
                    <a:pt x="11622" y="2549"/>
                    <a:pt x="17775" y="0"/>
                    <a:pt x="24190" y="0"/>
                  </a:cubicBezTo>
                  <a:close/>
                </a:path>
              </a:pathLst>
            </a:custGeom>
            <a:solidFill>
              <a:srgbClr val="00F5A0"/>
            </a:solidFill>
            <a:ln w="3810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23" id="23"/>
            <p:cNvSpPr txBox="true"/>
            <p:nvPr/>
          </p:nvSpPr>
          <p:spPr>
            <a:xfrm>
              <a:off x="0" y="-19050"/>
              <a:ext cx="5334000" cy="21780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05"/>
                </a:lnSpc>
              </a:pPr>
              <a:r>
                <a:rPr lang="en-US" sz="2100" b="true">
                  <a:solidFill>
                    <a:srgbClr val="000000"/>
                  </a:solidFill>
                  <a:latin typeface="Akzidenz-Grotesk Bold"/>
                  <a:ea typeface="Akzidenz-Grotesk Bold"/>
                  <a:cs typeface="Akzidenz-Grotesk Bold"/>
                  <a:sym typeface="Akzidenz-Grotesk Bold"/>
                </a:rPr>
                <a:t>REFERENCE SNAPSHOT</a:t>
              </a:r>
            </a:p>
            <a:p>
              <a:pPr algn="ctr">
                <a:lnSpc>
                  <a:spcPts val="2205"/>
                </a:lnSpc>
              </a:pPr>
              <a:r>
                <a:rPr lang="en-US" sz="2100" b="true">
                  <a:solidFill>
                    <a:srgbClr val="000000"/>
                  </a:solidFill>
                  <a:latin typeface="Akzidenz-Grotesk Bold"/>
                  <a:ea typeface="Akzidenz-Grotesk Bold"/>
                  <a:cs typeface="Akzidenz-Grotesk Bold"/>
                  <a:sym typeface="Akzidenz-Grotesk Bold"/>
                </a:rPr>
                <a:t>DAILY</a:t>
              </a:r>
            </a:p>
          </p:txBody>
        </p:sp>
      </p:grpSp>
      <p:sp>
        <p:nvSpPr>
          <p:cNvPr name="AutoShape 24" id="24"/>
          <p:cNvSpPr/>
          <p:nvPr/>
        </p:nvSpPr>
        <p:spPr>
          <a:xfrm>
            <a:off x="9144000" y="4572000"/>
            <a:ext cx="5905500" cy="1905000"/>
          </a:xfrm>
          <a:prstGeom prst="line">
            <a:avLst/>
          </a:prstGeom>
          <a:ln cap="rnd" w="47625">
            <a:solidFill>
              <a:srgbClr val="000000"/>
            </a:solidFill>
            <a:prstDash val="solid"/>
            <a:headEnd type="none" len="sm" w="sm"/>
            <a:tailEnd type="arrow" len="sm" w="med"/>
          </a:ln>
        </p:spPr>
      </p:sp>
      <p:grpSp>
        <p:nvGrpSpPr>
          <p:cNvPr name="Group 25" id="25"/>
          <p:cNvGrpSpPr/>
          <p:nvPr/>
        </p:nvGrpSpPr>
        <p:grpSpPr>
          <a:xfrm rot="0">
            <a:off x="13106400" y="6534150"/>
            <a:ext cx="4000500" cy="1619250"/>
            <a:chOff x="0" y="0"/>
            <a:chExt cx="5334000" cy="215900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5334000" cy="2159000"/>
            </a:xfrm>
            <a:custGeom>
              <a:avLst/>
              <a:gdLst/>
              <a:ahLst/>
              <a:cxnLst/>
              <a:rect r="r" b="b" t="t" l="l"/>
              <a:pathLst>
                <a:path h="2159000" w="5334000">
                  <a:moveTo>
                    <a:pt x="0" y="0"/>
                  </a:moveTo>
                  <a:lnTo>
                    <a:pt x="5334000" y="0"/>
                  </a:lnTo>
                  <a:lnTo>
                    <a:pt x="5334000" y="2159000"/>
                  </a:lnTo>
                  <a:lnTo>
                    <a:pt x="0" y="2159000"/>
                  </a:lnTo>
                  <a:close/>
                </a:path>
              </a:pathLst>
            </a:custGeom>
            <a:solidFill>
              <a:srgbClr val="000000"/>
            </a:solidFill>
            <a:ln cap="sq">
              <a:noFill/>
              <a:prstDash val="solid"/>
              <a:miter/>
            </a:ln>
          </p:spPr>
        </p:sp>
        <p:sp>
          <p:nvSpPr>
            <p:cNvPr name="TextBox 27" id="27"/>
            <p:cNvSpPr txBox="true"/>
            <p:nvPr/>
          </p:nvSpPr>
          <p:spPr>
            <a:xfrm>
              <a:off x="0" y="-38100"/>
              <a:ext cx="5334000" cy="2197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8" id="28"/>
          <p:cNvGrpSpPr/>
          <p:nvPr/>
        </p:nvGrpSpPr>
        <p:grpSpPr>
          <a:xfrm rot="0">
            <a:off x="13049250" y="6477000"/>
            <a:ext cx="4000500" cy="1619250"/>
            <a:chOff x="0" y="0"/>
            <a:chExt cx="5334000" cy="215900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5334000" cy="2159000"/>
            </a:xfrm>
            <a:custGeom>
              <a:avLst/>
              <a:gdLst/>
              <a:ahLst/>
              <a:cxnLst/>
              <a:rect r="r" b="b" t="t" l="l"/>
              <a:pathLst>
                <a:path h="2159000" w="5334000">
                  <a:moveTo>
                    <a:pt x="24190" y="0"/>
                  </a:moveTo>
                  <a:lnTo>
                    <a:pt x="5309810" y="0"/>
                  </a:lnTo>
                  <a:cubicBezTo>
                    <a:pt x="5316225" y="0"/>
                    <a:pt x="5322378" y="2549"/>
                    <a:pt x="5326915" y="7085"/>
                  </a:cubicBezTo>
                  <a:cubicBezTo>
                    <a:pt x="5331451" y="11622"/>
                    <a:pt x="5334000" y="17775"/>
                    <a:pt x="5334000" y="24190"/>
                  </a:cubicBezTo>
                  <a:lnTo>
                    <a:pt x="5334000" y="2134810"/>
                  </a:lnTo>
                  <a:cubicBezTo>
                    <a:pt x="5334000" y="2141225"/>
                    <a:pt x="5331451" y="2147378"/>
                    <a:pt x="5326915" y="2151915"/>
                  </a:cubicBezTo>
                  <a:cubicBezTo>
                    <a:pt x="5322378" y="2156451"/>
                    <a:pt x="5316225" y="2159000"/>
                    <a:pt x="5309810" y="2159000"/>
                  </a:cubicBezTo>
                  <a:lnTo>
                    <a:pt x="24190" y="2159000"/>
                  </a:lnTo>
                  <a:cubicBezTo>
                    <a:pt x="17775" y="2159000"/>
                    <a:pt x="11622" y="2156451"/>
                    <a:pt x="7085" y="2151915"/>
                  </a:cubicBezTo>
                  <a:cubicBezTo>
                    <a:pt x="2549" y="2147378"/>
                    <a:pt x="0" y="2141225"/>
                    <a:pt x="0" y="2134810"/>
                  </a:cubicBezTo>
                  <a:lnTo>
                    <a:pt x="0" y="24190"/>
                  </a:lnTo>
                  <a:cubicBezTo>
                    <a:pt x="0" y="17775"/>
                    <a:pt x="2549" y="11622"/>
                    <a:pt x="7085" y="7085"/>
                  </a:cubicBezTo>
                  <a:cubicBezTo>
                    <a:pt x="11622" y="2549"/>
                    <a:pt x="17775" y="0"/>
                    <a:pt x="24190" y="0"/>
                  </a:cubicBezTo>
                  <a:close/>
                </a:path>
              </a:pathLst>
            </a:custGeom>
            <a:solidFill>
              <a:srgbClr val="FF4757"/>
            </a:solidFill>
            <a:ln w="3810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30" id="30"/>
            <p:cNvSpPr txBox="true"/>
            <p:nvPr/>
          </p:nvSpPr>
          <p:spPr>
            <a:xfrm>
              <a:off x="0" y="-19050"/>
              <a:ext cx="5334000" cy="21780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05"/>
                </a:lnSpc>
              </a:pPr>
              <a:r>
                <a:rPr lang="en-US" sz="2100" b="true">
                  <a:solidFill>
                    <a:srgbClr val="000000"/>
                  </a:solidFill>
                  <a:latin typeface="Akzidenz-Grotesk Bold"/>
                  <a:ea typeface="Akzidenz-Grotesk Bold"/>
                  <a:cs typeface="Akzidenz-Grotesk Bold"/>
                  <a:sym typeface="Akzidenz-Grotesk Bold"/>
                </a:rPr>
                <a:t>DATABRICKS JOBS</a:t>
              </a:r>
            </a:p>
            <a:p>
              <a:pPr algn="ctr">
                <a:lnSpc>
                  <a:spcPts val="2205"/>
                </a:lnSpc>
              </a:pPr>
              <a:r>
                <a:rPr lang="en-US" sz="2100" b="true">
                  <a:solidFill>
                    <a:srgbClr val="000000"/>
                  </a:solidFill>
                  <a:latin typeface="Akzidenz-Grotesk Bold"/>
                  <a:ea typeface="Akzidenz-Grotesk Bold"/>
                  <a:cs typeface="Akzidenz-Grotesk Bold"/>
                  <a:sym typeface="Akzidenz-Grotesk Bold"/>
                </a:rPr>
                <a:t>DEPENDENCY-AWARE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>
  <p:cSld>
    <p:bg>
      <p:bgPr>
        <a:solidFill>
          <a:srgbClr val="FA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819150" y="647700"/>
            <a:ext cx="16649700" cy="6294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04"/>
              </a:lnSpc>
            </a:pPr>
            <a:r>
              <a:rPr lang="en-US" sz="4800">
                <a:solidFill>
                  <a:srgbClr val="000000"/>
                </a:solidFill>
                <a:latin typeface="Archivo Black"/>
                <a:ea typeface="Archivo Black"/>
                <a:cs typeface="Archivo Black"/>
                <a:sym typeface="Archivo Black"/>
              </a:rPr>
              <a:t>FAIL CLOSED? FAIL OPEN? FAIL TRACEABLY.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819150" y="1400937"/>
            <a:ext cx="13811250" cy="3309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3"/>
              </a:lnSpc>
            </a:pPr>
            <a:r>
              <a:rPr lang="en-US" sz="1875">
                <a:solidFill>
                  <a:srgbClr val="000000"/>
                </a:solidFill>
                <a:latin typeface="Akzidenz-Grotesk"/>
                <a:ea typeface="Akzidenz-Grotesk"/>
                <a:cs typeface="Akzidenz-Grotesk"/>
                <a:sym typeface="Akzidenz-Grotesk"/>
              </a:rPr>
              <a:t>Each failure mode has an explicit containment path and recovery contract.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1200150" y="2914650"/>
            <a:ext cx="4191000" cy="1524000"/>
            <a:chOff x="0" y="0"/>
            <a:chExt cx="5588000" cy="2032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55880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5588000">
                  <a:moveTo>
                    <a:pt x="0" y="0"/>
                  </a:moveTo>
                  <a:lnTo>
                    <a:pt x="5588000" y="0"/>
                  </a:lnTo>
                  <a:lnTo>
                    <a:pt x="55880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000000"/>
            </a:solidFill>
            <a:ln cap="sq">
              <a:noFill/>
              <a:prstDash val="solid"/>
              <a:miter/>
            </a:ln>
          </p:spPr>
        </p:sp>
        <p:sp>
          <p:nvSpPr>
            <p:cNvPr name="TextBox 6" id="6"/>
            <p:cNvSpPr txBox="true"/>
            <p:nvPr/>
          </p:nvSpPr>
          <p:spPr>
            <a:xfrm>
              <a:off x="0" y="-38100"/>
              <a:ext cx="55880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143000" y="2857500"/>
            <a:ext cx="4191000" cy="1524000"/>
            <a:chOff x="0" y="0"/>
            <a:chExt cx="5588000" cy="2032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55880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5588000">
                  <a:moveTo>
                    <a:pt x="23091" y="0"/>
                  </a:moveTo>
                  <a:lnTo>
                    <a:pt x="5564909" y="0"/>
                  </a:lnTo>
                  <a:cubicBezTo>
                    <a:pt x="5577662" y="0"/>
                    <a:pt x="5588000" y="10338"/>
                    <a:pt x="5588000" y="23091"/>
                  </a:cubicBezTo>
                  <a:lnTo>
                    <a:pt x="5588000" y="2008909"/>
                  </a:lnTo>
                  <a:cubicBezTo>
                    <a:pt x="5588000" y="2021662"/>
                    <a:pt x="5577662" y="2032000"/>
                    <a:pt x="5564909" y="2032000"/>
                  </a:cubicBezTo>
                  <a:lnTo>
                    <a:pt x="23091" y="2032000"/>
                  </a:lnTo>
                  <a:cubicBezTo>
                    <a:pt x="10338" y="2032000"/>
                    <a:pt x="0" y="2021662"/>
                    <a:pt x="0" y="2008909"/>
                  </a:cubicBezTo>
                  <a:lnTo>
                    <a:pt x="0" y="23091"/>
                  </a:lnTo>
                  <a:cubicBezTo>
                    <a:pt x="0" y="10338"/>
                    <a:pt x="10338" y="0"/>
                    <a:pt x="23091" y="0"/>
                  </a:cubicBezTo>
                  <a:close/>
                </a:path>
              </a:pathLst>
            </a:custGeom>
            <a:solidFill>
              <a:srgbClr val="FF4757"/>
            </a:solidFill>
            <a:ln w="3810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9" id="9"/>
            <p:cNvSpPr txBox="true"/>
            <p:nvPr/>
          </p:nvSpPr>
          <p:spPr>
            <a:xfrm>
              <a:off x="0" y="-19050"/>
              <a:ext cx="5588000" cy="20510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05"/>
                </a:lnSpc>
              </a:pPr>
              <a:r>
                <a:rPr lang="en-US" sz="2100" b="true">
                  <a:solidFill>
                    <a:srgbClr val="000000"/>
                  </a:solidFill>
                  <a:latin typeface="Akzidenz-Grotesk Bold"/>
                  <a:ea typeface="Akzidenz-Grotesk Bold"/>
                  <a:cs typeface="Akzidenz-Grotesk Bold"/>
                  <a:sym typeface="Akzidenz-Grotesk Bold"/>
                </a:rPr>
                <a:t>MALFORMED</a:t>
              </a:r>
            </a:p>
            <a:p>
              <a:pPr algn="ctr">
                <a:lnSpc>
                  <a:spcPts val="2205"/>
                </a:lnSpc>
              </a:pPr>
              <a:r>
                <a:rPr lang="en-US" sz="2100" b="true">
                  <a:solidFill>
                    <a:srgbClr val="000000"/>
                  </a:solidFill>
                  <a:latin typeface="Akzidenz-Grotesk Bold"/>
                  <a:ea typeface="Akzidenz-Grotesk Bold"/>
                  <a:cs typeface="Akzidenz-Grotesk Bold"/>
                  <a:sym typeface="Akzidenz-Grotesk Bold"/>
                </a:rPr>
                <a:t>PAYLOAD</a:t>
              </a:r>
            </a:p>
          </p:txBody>
        </p:sp>
      </p:grpSp>
      <p:sp>
        <p:nvSpPr>
          <p:cNvPr name="AutoShape 10" id="10"/>
          <p:cNvSpPr/>
          <p:nvPr/>
        </p:nvSpPr>
        <p:spPr>
          <a:xfrm>
            <a:off x="3238500" y="4476750"/>
            <a:ext cx="0" cy="1619250"/>
          </a:xfrm>
          <a:prstGeom prst="line">
            <a:avLst/>
          </a:prstGeom>
          <a:ln cap="rnd" w="47625">
            <a:solidFill>
              <a:srgbClr val="000000"/>
            </a:solidFill>
            <a:prstDash val="solid"/>
            <a:headEnd type="none" len="sm" w="sm"/>
            <a:tailEnd type="arrow" len="sm" w="med"/>
          </a:ln>
        </p:spPr>
      </p:sp>
      <p:grpSp>
        <p:nvGrpSpPr>
          <p:cNvPr name="Group 11" id="11"/>
          <p:cNvGrpSpPr/>
          <p:nvPr/>
        </p:nvGrpSpPr>
        <p:grpSpPr>
          <a:xfrm rot="0">
            <a:off x="1200150" y="6153150"/>
            <a:ext cx="4191000" cy="1714500"/>
            <a:chOff x="0" y="0"/>
            <a:chExt cx="5588000" cy="22860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55880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5588000">
                  <a:moveTo>
                    <a:pt x="0" y="0"/>
                  </a:moveTo>
                  <a:lnTo>
                    <a:pt x="5588000" y="0"/>
                  </a:lnTo>
                  <a:lnTo>
                    <a:pt x="5588000" y="2286000"/>
                  </a:lnTo>
                  <a:lnTo>
                    <a:pt x="0" y="2286000"/>
                  </a:lnTo>
                  <a:close/>
                </a:path>
              </a:pathLst>
            </a:custGeom>
            <a:solidFill>
              <a:srgbClr val="000000"/>
            </a:solidFill>
            <a:ln cap="sq">
              <a:noFill/>
              <a:prstDash val="solid"/>
              <a:miter/>
            </a:ln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5588000" cy="2324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1143000" y="6096000"/>
            <a:ext cx="4191000" cy="1714500"/>
            <a:chOff x="0" y="0"/>
            <a:chExt cx="5588000" cy="22860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55880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5588000">
                  <a:moveTo>
                    <a:pt x="23091" y="0"/>
                  </a:moveTo>
                  <a:lnTo>
                    <a:pt x="5564909" y="0"/>
                  </a:lnTo>
                  <a:cubicBezTo>
                    <a:pt x="5577662" y="0"/>
                    <a:pt x="5588000" y="10338"/>
                    <a:pt x="5588000" y="23091"/>
                  </a:cubicBezTo>
                  <a:lnTo>
                    <a:pt x="5588000" y="2262909"/>
                  </a:lnTo>
                  <a:cubicBezTo>
                    <a:pt x="5588000" y="2275662"/>
                    <a:pt x="5577662" y="2286000"/>
                    <a:pt x="5564909" y="2286000"/>
                  </a:cubicBezTo>
                  <a:lnTo>
                    <a:pt x="23091" y="2286000"/>
                  </a:lnTo>
                  <a:cubicBezTo>
                    <a:pt x="10338" y="2286000"/>
                    <a:pt x="0" y="2275662"/>
                    <a:pt x="0" y="2262909"/>
                  </a:cubicBezTo>
                  <a:lnTo>
                    <a:pt x="0" y="23091"/>
                  </a:lnTo>
                  <a:cubicBezTo>
                    <a:pt x="0" y="10338"/>
                    <a:pt x="10338" y="0"/>
                    <a:pt x="23091" y="0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0" y="-19050"/>
              <a:ext cx="5588000" cy="23050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05"/>
                </a:lnSpc>
              </a:pPr>
              <a:r>
                <a:rPr lang="en-US" sz="2100" b="true">
                  <a:solidFill>
                    <a:srgbClr val="000000"/>
                  </a:solidFill>
                  <a:latin typeface="Akzidenz-Grotesk Bold"/>
                  <a:ea typeface="Akzidenz-Grotesk Bold"/>
                  <a:cs typeface="Akzidenz-Grotesk Bold"/>
                  <a:sym typeface="Akzidenz-Grotesk Bold"/>
                </a:rPr>
                <a:t>QUARANTINE DLQ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6819900" y="2914650"/>
            <a:ext cx="4191000" cy="1524000"/>
            <a:chOff x="0" y="0"/>
            <a:chExt cx="5588000" cy="20320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55880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5588000">
                  <a:moveTo>
                    <a:pt x="0" y="0"/>
                  </a:moveTo>
                  <a:lnTo>
                    <a:pt x="5588000" y="0"/>
                  </a:lnTo>
                  <a:lnTo>
                    <a:pt x="55880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000000"/>
            </a:solidFill>
            <a:ln cap="sq">
              <a:noFill/>
              <a:prstDash val="solid"/>
              <a:miter/>
            </a:ln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55880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6762750" y="2857500"/>
            <a:ext cx="4191000" cy="1524000"/>
            <a:chOff x="0" y="0"/>
            <a:chExt cx="5588000" cy="203200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55880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5588000">
                  <a:moveTo>
                    <a:pt x="23091" y="0"/>
                  </a:moveTo>
                  <a:lnTo>
                    <a:pt x="5564909" y="0"/>
                  </a:lnTo>
                  <a:cubicBezTo>
                    <a:pt x="5577662" y="0"/>
                    <a:pt x="5588000" y="10338"/>
                    <a:pt x="5588000" y="23091"/>
                  </a:cubicBezTo>
                  <a:lnTo>
                    <a:pt x="5588000" y="2008909"/>
                  </a:lnTo>
                  <a:cubicBezTo>
                    <a:pt x="5588000" y="2021662"/>
                    <a:pt x="5577662" y="2032000"/>
                    <a:pt x="5564909" y="2032000"/>
                  </a:cubicBezTo>
                  <a:lnTo>
                    <a:pt x="23091" y="2032000"/>
                  </a:lnTo>
                  <a:cubicBezTo>
                    <a:pt x="10338" y="2032000"/>
                    <a:pt x="0" y="2021662"/>
                    <a:pt x="0" y="2008909"/>
                  </a:cubicBezTo>
                  <a:lnTo>
                    <a:pt x="0" y="23091"/>
                  </a:lnTo>
                  <a:cubicBezTo>
                    <a:pt x="0" y="10338"/>
                    <a:pt x="10338" y="0"/>
                    <a:pt x="23091" y="0"/>
                  </a:cubicBezTo>
                  <a:close/>
                </a:path>
              </a:pathLst>
            </a:custGeom>
            <a:solidFill>
              <a:srgbClr val="7C3AED"/>
            </a:solidFill>
            <a:ln w="3810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22" id="22"/>
            <p:cNvSpPr txBox="true"/>
            <p:nvPr/>
          </p:nvSpPr>
          <p:spPr>
            <a:xfrm>
              <a:off x="0" y="-19050"/>
              <a:ext cx="5588000" cy="20510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05"/>
                </a:lnSpc>
              </a:pPr>
              <a:r>
                <a:rPr lang="en-US" sz="2100" b="true">
                  <a:solidFill>
                    <a:srgbClr val="000000"/>
                  </a:solidFill>
                  <a:latin typeface="Akzidenz-Grotesk Bold"/>
                  <a:ea typeface="Akzidenz-Grotesk Bold"/>
                  <a:cs typeface="Akzidenz-Grotesk Bold"/>
                  <a:sym typeface="Akzidenz-Grotesk Bold"/>
                </a:rPr>
                <a:t>REDIS</a:t>
              </a:r>
            </a:p>
            <a:p>
              <a:pPr algn="ctr">
                <a:lnSpc>
                  <a:spcPts val="2205"/>
                </a:lnSpc>
              </a:pPr>
              <a:r>
                <a:rPr lang="en-US" sz="2100" b="true">
                  <a:solidFill>
                    <a:srgbClr val="000000"/>
                  </a:solidFill>
                  <a:latin typeface="Akzidenz-Grotesk Bold"/>
                  <a:ea typeface="Akzidenz-Grotesk Bold"/>
                  <a:cs typeface="Akzidenz-Grotesk Bold"/>
                  <a:sym typeface="Akzidenz-Grotesk Bold"/>
                </a:rPr>
                <a:t>DOWNTIME</a:t>
              </a:r>
            </a:p>
          </p:txBody>
        </p:sp>
      </p:grpSp>
      <p:sp>
        <p:nvSpPr>
          <p:cNvPr name="AutoShape 23" id="23"/>
          <p:cNvSpPr/>
          <p:nvPr/>
        </p:nvSpPr>
        <p:spPr>
          <a:xfrm>
            <a:off x="8858250" y="4476750"/>
            <a:ext cx="0" cy="1619250"/>
          </a:xfrm>
          <a:prstGeom prst="line">
            <a:avLst/>
          </a:prstGeom>
          <a:ln cap="rnd" w="47625">
            <a:solidFill>
              <a:srgbClr val="000000"/>
            </a:solidFill>
            <a:prstDash val="solid"/>
            <a:headEnd type="none" len="sm" w="sm"/>
            <a:tailEnd type="arrow" len="sm" w="med"/>
          </a:ln>
        </p:spPr>
      </p:sp>
      <p:grpSp>
        <p:nvGrpSpPr>
          <p:cNvPr name="Group 24" id="24"/>
          <p:cNvGrpSpPr/>
          <p:nvPr/>
        </p:nvGrpSpPr>
        <p:grpSpPr>
          <a:xfrm rot="0">
            <a:off x="6819900" y="6153150"/>
            <a:ext cx="4191000" cy="1714500"/>
            <a:chOff x="0" y="0"/>
            <a:chExt cx="5588000" cy="228600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55880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5588000">
                  <a:moveTo>
                    <a:pt x="0" y="0"/>
                  </a:moveTo>
                  <a:lnTo>
                    <a:pt x="5588000" y="0"/>
                  </a:lnTo>
                  <a:lnTo>
                    <a:pt x="5588000" y="2286000"/>
                  </a:lnTo>
                  <a:lnTo>
                    <a:pt x="0" y="2286000"/>
                  </a:lnTo>
                  <a:close/>
                </a:path>
              </a:pathLst>
            </a:custGeom>
            <a:solidFill>
              <a:srgbClr val="000000"/>
            </a:solidFill>
            <a:ln cap="sq">
              <a:noFill/>
              <a:prstDash val="solid"/>
              <a:miter/>
            </a:ln>
          </p:spPr>
        </p:sp>
        <p:sp>
          <p:nvSpPr>
            <p:cNvPr name="TextBox 26" id="26"/>
            <p:cNvSpPr txBox="true"/>
            <p:nvPr/>
          </p:nvSpPr>
          <p:spPr>
            <a:xfrm>
              <a:off x="0" y="-38100"/>
              <a:ext cx="5588000" cy="2324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7" id="27"/>
          <p:cNvGrpSpPr/>
          <p:nvPr/>
        </p:nvGrpSpPr>
        <p:grpSpPr>
          <a:xfrm rot="0">
            <a:off x="6762750" y="6096000"/>
            <a:ext cx="4191000" cy="1714500"/>
            <a:chOff x="0" y="0"/>
            <a:chExt cx="5588000" cy="228600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55880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5588000">
                  <a:moveTo>
                    <a:pt x="23091" y="0"/>
                  </a:moveTo>
                  <a:lnTo>
                    <a:pt x="5564909" y="0"/>
                  </a:lnTo>
                  <a:cubicBezTo>
                    <a:pt x="5577662" y="0"/>
                    <a:pt x="5588000" y="10338"/>
                    <a:pt x="5588000" y="23091"/>
                  </a:cubicBezTo>
                  <a:lnTo>
                    <a:pt x="5588000" y="2262909"/>
                  </a:lnTo>
                  <a:cubicBezTo>
                    <a:pt x="5588000" y="2275662"/>
                    <a:pt x="5577662" y="2286000"/>
                    <a:pt x="5564909" y="2286000"/>
                  </a:cubicBezTo>
                  <a:lnTo>
                    <a:pt x="23091" y="2286000"/>
                  </a:lnTo>
                  <a:cubicBezTo>
                    <a:pt x="10338" y="2286000"/>
                    <a:pt x="0" y="2275662"/>
                    <a:pt x="0" y="2262909"/>
                  </a:cubicBezTo>
                  <a:lnTo>
                    <a:pt x="0" y="23091"/>
                  </a:lnTo>
                  <a:cubicBezTo>
                    <a:pt x="0" y="10338"/>
                    <a:pt x="10338" y="0"/>
                    <a:pt x="23091" y="0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29" id="29"/>
            <p:cNvSpPr txBox="true"/>
            <p:nvPr/>
          </p:nvSpPr>
          <p:spPr>
            <a:xfrm>
              <a:off x="0" y="-19050"/>
              <a:ext cx="5588000" cy="23050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05"/>
                </a:lnSpc>
              </a:pPr>
              <a:r>
                <a:rPr lang="en-US" sz="2100" b="true">
                  <a:solidFill>
                    <a:srgbClr val="000000"/>
                  </a:solidFill>
                  <a:latin typeface="Akzidenz-Grotesk Bold"/>
                  <a:ea typeface="Akzidenz-Grotesk Bold"/>
                  <a:cs typeface="Akzidenz-Grotesk Bold"/>
                  <a:sym typeface="Akzidenz-Grotesk Bold"/>
                </a:rPr>
                <a:t>CIRCUIT BREAKER</a:t>
              </a:r>
            </a:p>
            <a:p>
              <a:pPr algn="ctr">
                <a:lnSpc>
                  <a:spcPts val="2205"/>
                </a:lnSpc>
              </a:pPr>
              <a:r>
                <a:rPr lang="en-US" sz="2100" b="true">
                  <a:solidFill>
                    <a:srgbClr val="000000"/>
                  </a:solidFill>
                  <a:latin typeface="Akzidenz-Grotesk Bold"/>
                  <a:ea typeface="Akzidenz-Grotesk Bold"/>
                  <a:cs typeface="Akzidenz-Grotesk Bold"/>
                  <a:sym typeface="Akzidenz-Grotesk Bold"/>
                </a:rPr>
                <a:t>+ SAFE POLICY</a:t>
              </a:r>
            </a:p>
          </p:txBody>
        </p:sp>
      </p:grpSp>
      <p:grpSp>
        <p:nvGrpSpPr>
          <p:cNvPr name="Group 30" id="30"/>
          <p:cNvGrpSpPr/>
          <p:nvPr/>
        </p:nvGrpSpPr>
        <p:grpSpPr>
          <a:xfrm rot="0">
            <a:off x="12439650" y="2914650"/>
            <a:ext cx="4191000" cy="1524000"/>
            <a:chOff x="0" y="0"/>
            <a:chExt cx="5588000" cy="203200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55880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5588000">
                  <a:moveTo>
                    <a:pt x="0" y="0"/>
                  </a:moveTo>
                  <a:lnTo>
                    <a:pt x="5588000" y="0"/>
                  </a:lnTo>
                  <a:lnTo>
                    <a:pt x="55880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000000"/>
            </a:solidFill>
            <a:ln cap="sq">
              <a:noFill/>
              <a:prstDash val="solid"/>
              <a:miter/>
            </a:ln>
          </p:spPr>
        </p:sp>
        <p:sp>
          <p:nvSpPr>
            <p:cNvPr name="TextBox 32" id="32"/>
            <p:cNvSpPr txBox="true"/>
            <p:nvPr/>
          </p:nvSpPr>
          <p:spPr>
            <a:xfrm>
              <a:off x="0" y="-38100"/>
              <a:ext cx="5588000" cy="2070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33" id="33"/>
          <p:cNvGrpSpPr/>
          <p:nvPr/>
        </p:nvGrpSpPr>
        <p:grpSpPr>
          <a:xfrm rot="0">
            <a:off x="12382500" y="2857500"/>
            <a:ext cx="4191000" cy="1524000"/>
            <a:chOff x="0" y="0"/>
            <a:chExt cx="5588000" cy="203200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5588000" cy="2032000"/>
            </a:xfrm>
            <a:custGeom>
              <a:avLst/>
              <a:gdLst/>
              <a:ahLst/>
              <a:cxnLst/>
              <a:rect r="r" b="b" t="t" l="l"/>
              <a:pathLst>
                <a:path h="2032000" w="5588000">
                  <a:moveTo>
                    <a:pt x="23091" y="0"/>
                  </a:moveTo>
                  <a:lnTo>
                    <a:pt x="5564909" y="0"/>
                  </a:lnTo>
                  <a:cubicBezTo>
                    <a:pt x="5577662" y="0"/>
                    <a:pt x="5588000" y="10338"/>
                    <a:pt x="5588000" y="23091"/>
                  </a:cubicBezTo>
                  <a:lnTo>
                    <a:pt x="5588000" y="2008909"/>
                  </a:lnTo>
                  <a:cubicBezTo>
                    <a:pt x="5588000" y="2021662"/>
                    <a:pt x="5577662" y="2032000"/>
                    <a:pt x="5564909" y="2032000"/>
                  </a:cubicBezTo>
                  <a:lnTo>
                    <a:pt x="23091" y="2032000"/>
                  </a:lnTo>
                  <a:cubicBezTo>
                    <a:pt x="10338" y="2032000"/>
                    <a:pt x="0" y="2021662"/>
                    <a:pt x="0" y="2008909"/>
                  </a:cubicBezTo>
                  <a:lnTo>
                    <a:pt x="0" y="23091"/>
                  </a:lnTo>
                  <a:cubicBezTo>
                    <a:pt x="0" y="10338"/>
                    <a:pt x="10338" y="0"/>
                    <a:pt x="23091" y="0"/>
                  </a:cubicBezTo>
                  <a:close/>
                </a:path>
              </a:pathLst>
            </a:custGeom>
            <a:solidFill>
              <a:srgbClr val="FFE600"/>
            </a:solidFill>
            <a:ln w="3810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35" id="35"/>
            <p:cNvSpPr txBox="true"/>
            <p:nvPr/>
          </p:nvSpPr>
          <p:spPr>
            <a:xfrm>
              <a:off x="0" y="-19050"/>
              <a:ext cx="5588000" cy="20510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05"/>
                </a:lnSpc>
              </a:pPr>
              <a:r>
                <a:rPr lang="en-US" sz="2100" b="true">
                  <a:solidFill>
                    <a:srgbClr val="000000"/>
                  </a:solidFill>
                  <a:latin typeface="Akzidenz-Grotesk Bold"/>
                  <a:ea typeface="Akzidenz-Grotesk Bold"/>
                  <a:cs typeface="Akzidenz-Grotesk Bold"/>
                  <a:sym typeface="Akzidenz-Grotesk Bold"/>
                </a:rPr>
                <a:t>CONSUMER</a:t>
              </a:r>
            </a:p>
            <a:p>
              <a:pPr algn="ctr">
                <a:lnSpc>
                  <a:spcPts val="2205"/>
                </a:lnSpc>
              </a:pPr>
              <a:r>
                <a:rPr lang="en-US" sz="2100" b="true">
                  <a:solidFill>
                    <a:srgbClr val="000000"/>
                  </a:solidFill>
                  <a:latin typeface="Akzidenz-Grotesk Bold"/>
                  <a:ea typeface="Akzidenz-Grotesk Bold"/>
                  <a:cs typeface="Akzidenz-Grotesk Bold"/>
                  <a:sym typeface="Akzidenz-Grotesk Bold"/>
                </a:rPr>
                <a:t>LAG</a:t>
              </a:r>
            </a:p>
          </p:txBody>
        </p:sp>
      </p:grpSp>
      <p:sp>
        <p:nvSpPr>
          <p:cNvPr name="AutoShape 36" id="36"/>
          <p:cNvSpPr/>
          <p:nvPr/>
        </p:nvSpPr>
        <p:spPr>
          <a:xfrm>
            <a:off x="14478000" y="4476750"/>
            <a:ext cx="0" cy="1619250"/>
          </a:xfrm>
          <a:prstGeom prst="line">
            <a:avLst/>
          </a:prstGeom>
          <a:ln cap="rnd" w="47625">
            <a:solidFill>
              <a:srgbClr val="000000"/>
            </a:solidFill>
            <a:prstDash val="solid"/>
            <a:headEnd type="none" len="sm" w="sm"/>
            <a:tailEnd type="arrow" len="sm" w="med"/>
          </a:ln>
        </p:spPr>
      </p:sp>
      <p:grpSp>
        <p:nvGrpSpPr>
          <p:cNvPr name="Group 37" id="37"/>
          <p:cNvGrpSpPr/>
          <p:nvPr/>
        </p:nvGrpSpPr>
        <p:grpSpPr>
          <a:xfrm rot="0">
            <a:off x="12439650" y="6153150"/>
            <a:ext cx="4191000" cy="1714500"/>
            <a:chOff x="0" y="0"/>
            <a:chExt cx="5588000" cy="2286000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55880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5588000">
                  <a:moveTo>
                    <a:pt x="0" y="0"/>
                  </a:moveTo>
                  <a:lnTo>
                    <a:pt x="5588000" y="0"/>
                  </a:lnTo>
                  <a:lnTo>
                    <a:pt x="5588000" y="2286000"/>
                  </a:lnTo>
                  <a:lnTo>
                    <a:pt x="0" y="2286000"/>
                  </a:lnTo>
                  <a:close/>
                </a:path>
              </a:pathLst>
            </a:custGeom>
            <a:solidFill>
              <a:srgbClr val="000000"/>
            </a:solidFill>
            <a:ln cap="sq">
              <a:noFill/>
              <a:prstDash val="solid"/>
              <a:miter/>
            </a:ln>
          </p:spPr>
        </p:sp>
        <p:sp>
          <p:nvSpPr>
            <p:cNvPr name="TextBox 39" id="39"/>
            <p:cNvSpPr txBox="true"/>
            <p:nvPr/>
          </p:nvSpPr>
          <p:spPr>
            <a:xfrm>
              <a:off x="0" y="-38100"/>
              <a:ext cx="5588000" cy="2324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40" id="40"/>
          <p:cNvGrpSpPr/>
          <p:nvPr/>
        </p:nvGrpSpPr>
        <p:grpSpPr>
          <a:xfrm rot="0">
            <a:off x="12382500" y="6096000"/>
            <a:ext cx="4191000" cy="1714500"/>
            <a:chOff x="0" y="0"/>
            <a:chExt cx="5588000" cy="2286000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5588000" cy="2286000"/>
            </a:xfrm>
            <a:custGeom>
              <a:avLst/>
              <a:gdLst/>
              <a:ahLst/>
              <a:cxnLst/>
              <a:rect r="r" b="b" t="t" l="l"/>
              <a:pathLst>
                <a:path h="2286000" w="5588000">
                  <a:moveTo>
                    <a:pt x="23091" y="0"/>
                  </a:moveTo>
                  <a:lnTo>
                    <a:pt x="5564909" y="0"/>
                  </a:lnTo>
                  <a:cubicBezTo>
                    <a:pt x="5577662" y="0"/>
                    <a:pt x="5588000" y="10338"/>
                    <a:pt x="5588000" y="23091"/>
                  </a:cubicBezTo>
                  <a:lnTo>
                    <a:pt x="5588000" y="2262909"/>
                  </a:lnTo>
                  <a:cubicBezTo>
                    <a:pt x="5588000" y="2275662"/>
                    <a:pt x="5577662" y="2286000"/>
                    <a:pt x="5564909" y="2286000"/>
                  </a:cubicBezTo>
                  <a:lnTo>
                    <a:pt x="23091" y="2286000"/>
                  </a:lnTo>
                  <a:cubicBezTo>
                    <a:pt x="10338" y="2286000"/>
                    <a:pt x="0" y="2275662"/>
                    <a:pt x="0" y="2262909"/>
                  </a:cubicBezTo>
                  <a:lnTo>
                    <a:pt x="0" y="23091"/>
                  </a:lnTo>
                  <a:cubicBezTo>
                    <a:pt x="0" y="10338"/>
                    <a:pt x="10338" y="0"/>
                    <a:pt x="23091" y="0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42" id="42"/>
            <p:cNvSpPr txBox="true"/>
            <p:nvPr/>
          </p:nvSpPr>
          <p:spPr>
            <a:xfrm>
              <a:off x="0" y="-19050"/>
              <a:ext cx="5588000" cy="23050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05"/>
                </a:lnSpc>
              </a:pPr>
              <a:r>
                <a:rPr lang="en-US" sz="2100" b="true">
                  <a:solidFill>
                    <a:srgbClr val="000000"/>
                  </a:solidFill>
                  <a:latin typeface="Akzidenz-Grotesk Bold"/>
                  <a:ea typeface="Akzidenz-Grotesk Bold"/>
                  <a:cs typeface="Akzidenz-Grotesk Bold"/>
                  <a:sym typeface="Akzidenz-Grotesk Bold"/>
                </a:rPr>
                <a:t>BACKPRESSURE</a:t>
              </a:r>
            </a:p>
            <a:p>
              <a:pPr algn="ctr">
                <a:lnSpc>
                  <a:spcPts val="2205"/>
                </a:lnSpc>
              </a:pPr>
              <a:r>
                <a:rPr lang="en-US" sz="2100" b="true">
                  <a:solidFill>
                    <a:srgbClr val="000000"/>
                  </a:solidFill>
                  <a:latin typeface="Akzidenz-Grotesk Bold"/>
                  <a:ea typeface="Akzidenz-Grotesk Bold"/>
                  <a:cs typeface="Akzidenz-Grotesk Bold"/>
                  <a:sym typeface="Akzidenz-Grotesk Bold"/>
                </a:rPr>
                <a:t>+ REPLAY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A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819150" y="647700"/>
            <a:ext cx="16649700" cy="6294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04"/>
              </a:lnSpc>
            </a:pPr>
            <a:r>
              <a:rPr lang="en-US" sz="4800">
                <a:solidFill>
                  <a:srgbClr val="000000"/>
                </a:solidFill>
                <a:latin typeface="Archivo Black"/>
                <a:ea typeface="Archivo Black"/>
                <a:cs typeface="Archivo Black"/>
                <a:sym typeface="Archivo Black"/>
              </a:rPr>
              <a:t>EXECUTIVE FRAUD OPERATIONS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 rot="0">
            <a:off x="-143977" y="1460657"/>
            <a:ext cx="12479954" cy="8222936"/>
          </a:xfrm>
          <a:prstGeom prst="rect">
            <a:avLst/>
          </a:prstGeom>
        </p:spPr>
      </p:pic>
      <p:grpSp>
        <p:nvGrpSpPr>
          <p:cNvPr name="Group 4" id="4"/>
          <p:cNvGrpSpPr/>
          <p:nvPr/>
        </p:nvGrpSpPr>
        <p:grpSpPr>
          <a:xfrm rot="0">
            <a:off x="12153900" y="2628900"/>
            <a:ext cx="4762500" cy="1619250"/>
            <a:chOff x="0" y="0"/>
            <a:chExt cx="6350000" cy="2159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6350000" cy="2159000"/>
            </a:xfrm>
            <a:custGeom>
              <a:avLst/>
              <a:gdLst/>
              <a:ahLst/>
              <a:cxnLst/>
              <a:rect r="r" b="b" t="t" l="l"/>
              <a:pathLst>
                <a:path h="2159000" w="6350000">
                  <a:moveTo>
                    <a:pt x="0" y="0"/>
                  </a:moveTo>
                  <a:lnTo>
                    <a:pt x="6350000" y="0"/>
                  </a:lnTo>
                  <a:lnTo>
                    <a:pt x="6350000" y="2159000"/>
                  </a:lnTo>
                  <a:lnTo>
                    <a:pt x="0" y="2159000"/>
                  </a:lnTo>
                  <a:close/>
                </a:path>
              </a:pathLst>
            </a:custGeom>
            <a:solidFill>
              <a:srgbClr val="000000"/>
            </a:solidFill>
            <a:ln cap="sq">
              <a:noFill/>
              <a:prstDash val="solid"/>
              <a:miter/>
            </a:ln>
          </p:spPr>
        </p:sp>
        <p:sp>
          <p:nvSpPr>
            <p:cNvPr name="TextBox 6" id="6"/>
            <p:cNvSpPr txBox="true"/>
            <p:nvPr/>
          </p:nvSpPr>
          <p:spPr>
            <a:xfrm>
              <a:off x="0" y="-38100"/>
              <a:ext cx="6350000" cy="2197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2096750" y="2571750"/>
            <a:ext cx="4762500" cy="1619250"/>
            <a:chOff x="0" y="0"/>
            <a:chExt cx="6350000" cy="2159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6350000" cy="2159000"/>
            </a:xfrm>
            <a:custGeom>
              <a:avLst/>
              <a:gdLst/>
              <a:ahLst/>
              <a:cxnLst/>
              <a:rect r="r" b="b" t="t" l="l"/>
              <a:pathLst>
                <a:path h="2159000" w="6350000">
                  <a:moveTo>
                    <a:pt x="20320" y="0"/>
                  </a:moveTo>
                  <a:lnTo>
                    <a:pt x="6329680" y="0"/>
                  </a:lnTo>
                  <a:cubicBezTo>
                    <a:pt x="6335069" y="0"/>
                    <a:pt x="6340238" y="2141"/>
                    <a:pt x="6344048" y="5952"/>
                  </a:cubicBezTo>
                  <a:cubicBezTo>
                    <a:pt x="6347859" y="9762"/>
                    <a:pt x="6350000" y="14931"/>
                    <a:pt x="6350000" y="20320"/>
                  </a:cubicBezTo>
                  <a:lnTo>
                    <a:pt x="6350000" y="2138680"/>
                  </a:lnTo>
                  <a:cubicBezTo>
                    <a:pt x="6350000" y="2149902"/>
                    <a:pt x="6340902" y="2159000"/>
                    <a:pt x="6329680" y="2159000"/>
                  </a:cubicBezTo>
                  <a:lnTo>
                    <a:pt x="20320" y="2159000"/>
                  </a:lnTo>
                  <a:cubicBezTo>
                    <a:pt x="9098" y="2159000"/>
                    <a:pt x="0" y="2149902"/>
                    <a:pt x="0" y="2138680"/>
                  </a:cubicBezTo>
                  <a:lnTo>
                    <a:pt x="0" y="20320"/>
                  </a:lnTo>
                  <a:cubicBezTo>
                    <a:pt x="0" y="9098"/>
                    <a:pt x="9098" y="0"/>
                    <a:pt x="20320" y="0"/>
                  </a:cubicBezTo>
                  <a:close/>
                </a:path>
              </a:pathLst>
            </a:custGeom>
            <a:solidFill>
              <a:srgbClr val="FFE600"/>
            </a:solidFill>
            <a:ln w="3810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9" id="9"/>
            <p:cNvSpPr txBox="true"/>
            <p:nvPr/>
          </p:nvSpPr>
          <p:spPr>
            <a:xfrm>
              <a:off x="0" y="-9525"/>
              <a:ext cx="6350000" cy="21685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992"/>
                </a:lnSpc>
              </a:pPr>
              <a:r>
                <a:rPr lang="en-US" sz="2850" b="true">
                  <a:solidFill>
                    <a:srgbClr val="000000"/>
                  </a:solidFill>
                  <a:latin typeface="Akzidenz-Grotesk Bold"/>
                  <a:ea typeface="Akzidenz-Grotesk Bold"/>
                  <a:cs typeface="Akzidenz-Grotesk Bold"/>
                  <a:sym typeface="Akzidenz-Grotesk Bold"/>
                </a:rPr>
                <a:t>96.4%</a:t>
              </a:r>
            </a:p>
            <a:p>
              <a:pPr algn="ctr">
                <a:lnSpc>
                  <a:spcPts val="2992"/>
                </a:lnSpc>
              </a:pPr>
              <a:r>
                <a:rPr lang="en-US" sz="2850" b="true">
                  <a:solidFill>
                    <a:srgbClr val="000000"/>
                  </a:solidFill>
                  <a:latin typeface="Akzidenz-Grotesk Bold"/>
                  <a:ea typeface="Akzidenz-Grotesk Bold"/>
                  <a:cs typeface="Akzidenz-Grotesk Bold"/>
                  <a:sym typeface="Akzidenz-Grotesk Bold"/>
                </a:rPr>
                <a:t>PRECISION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2153900" y="4724400"/>
            <a:ext cx="4762500" cy="1619250"/>
            <a:chOff x="0" y="0"/>
            <a:chExt cx="6350000" cy="21590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6350000" cy="2159000"/>
            </a:xfrm>
            <a:custGeom>
              <a:avLst/>
              <a:gdLst/>
              <a:ahLst/>
              <a:cxnLst/>
              <a:rect r="r" b="b" t="t" l="l"/>
              <a:pathLst>
                <a:path h="2159000" w="6350000">
                  <a:moveTo>
                    <a:pt x="0" y="0"/>
                  </a:moveTo>
                  <a:lnTo>
                    <a:pt x="6350000" y="0"/>
                  </a:lnTo>
                  <a:lnTo>
                    <a:pt x="6350000" y="2159000"/>
                  </a:lnTo>
                  <a:lnTo>
                    <a:pt x="0" y="2159000"/>
                  </a:lnTo>
                  <a:close/>
                </a:path>
              </a:pathLst>
            </a:custGeom>
            <a:solidFill>
              <a:srgbClr val="000000"/>
            </a:solidFill>
            <a:ln cap="sq">
              <a:noFill/>
              <a:prstDash val="solid"/>
              <a:miter/>
            </a:ln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6350000" cy="2197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2096750" y="4667250"/>
            <a:ext cx="4762500" cy="1619250"/>
            <a:chOff x="0" y="0"/>
            <a:chExt cx="6350000" cy="21590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6350000" cy="2159000"/>
            </a:xfrm>
            <a:custGeom>
              <a:avLst/>
              <a:gdLst/>
              <a:ahLst/>
              <a:cxnLst/>
              <a:rect r="r" b="b" t="t" l="l"/>
              <a:pathLst>
                <a:path h="2159000" w="6350000">
                  <a:moveTo>
                    <a:pt x="20320" y="0"/>
                  </a:moveTo>
                  <a:lnTo>
                    <a:pt x="6329680" y="0"/>
                  </a:lnTo>
                  <a:cubicBezTo>
                    <a:pt x="6335069" y="0"/>
                    <a:pt x="6340238" y="2141"/>
                    <a:pt x="6344048" y="5952"/>
                  </a:cubicBezTo>
                  <a:cubicBezTo>
                    <a:pt x="6347859" y="9762"/>
                    <a:pt x="6350000" y="14931"/>
                    <a:pt x="6350000" y="20320"/>
                  </a:cubicBezTo>
                  <a:lnTo>
                    <a:pt x="6350000" y="2138680"/>
                  </a:lnTo>
                  <a:cubicBezTo>
                    <a:pt x="6350000" y="2149902"/>
                    <a:pt x="6340902" y="2159000"/>
                    <a:pt x="6329680" y="2159000"/>
                  </a:cubicBezTo>
                  <a:lnTo>
                    <a:pt x="20320" y="2159000"/>
                  </a:lnTo>
                  <a:cubicBezTo>
                    <a:pt x="9098" y="2159000"/>
                    <a:pt x="0" y="2149902"/>
                    <a:pt x="0" y="2138680"/>
                  </a:cubicBezTo>
                  <a:lnTo>
                    <a:pt x="0" y="20320"/>
                  </a:lnTo>
                  <a:cubicBezTo>
                    <a:pt x="0" y="9098"/>
                    <a:pt x="9098" y="0"/>
                    <a:pt x="20320" y="0"/>
                  </a:cubicBezTo>
                  <a:close/>
                </a:path>
              </a:pathLst>
            </a:custGeom>
            <a:solidFill>
              <a:srgbClr val="00F5A0"/>
            </a:solidFill>
            <a:ln w="3810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15" id="15"/>
            <p:cNvSpPr txBox="true"/>
            <p:nvPr/>
          </p:nvSpPr>
          <p:spPr>
            <a:xfrm>
              <a:off x="0" y="-9525"/>
              <a:ext cx="6350000" cy="21685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992"/>
                </a:lnSpc>
              </a:pPr>
              <a:r>
                <a:rPr lang="en-US" sz="2850" b="true">
                  <a:solidFill>
                    <a:srgbClr val="000000"/>
                  </a:solidFill>
                  <a:latin typeface="Akzidenz-Grotesk Bold"/>
                  <a:ea typeface="Akzidenz-Grotesk Bold"/>
                  <a:cs typeface="Akzidenz-Grotesk Bold"/>
                  <a:sym typeface="Akzidenz-Grotesk Bold"/>
                </a:rPr>
                <a:t>$2.8M</a:t>
              </a:r>
            </a:p>
            <a:p>
              <a:pPr algn="ctr">
                <a:lnSpc>
                  <a:spcPts val="2992"/>
                </a:lnSpc>
              </a:pPr>
              <a:r>
                <a:rPr lang="en-US" sz="2850" b="true">
                  <a:solidFill>
                    <a:srgbClr val="000000"/>
                  </a:solidFill>
                  <a:latin typeface="Akzidenz-Grotesk Bold"/>
                  <a:ea typeface="Akzidenz-Grotesk Bold"/>
                  <a:cs typeface="Akzidenz-Grotesk Bold"/>
                  <a:sym typeface="Akzidenz-Grotesk Bold"/>
                </a:rPr>
                <a:t>BLOCKED</a:t>
              </a: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12153900" y="6819900"/>
            <a:ext cx="4762500" cy="1619250"/>
            <a:chOff x="0" y="0"/>
            <a:chExt cx="6350000" cy="21590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6350000" cy="2159000"/>
            </a:xfrm>
            <a:custGeom>
              <a:avLst/>
              <a:gdLst/>
              <a:ahLst/>
              <a:cxnLst/>
              <a:rect r="r" b="b" t="t" l="l"/>
              <a:pathLst>
                <a:path h="2159000" w="6350000">
                  <a:moveTo>
                    <a:pt x="0" y="0"/>
                  </a:moveTo>
                  <a:lnTo>
                    <a:pt x="6350000" y="0"/>
                  </a:lnTo>
                  <a:lnTo>
                    <a:pt x="6350000" y="2159000"/>
                  </a:lnTo>
                  <a:lnTo>
                    <a:pt x="0" y="2159000"/>
                  </a:lnTo>
                  <a:close/>
                </a:path>
              </a:pathLst>
            </a:custGeom>
            <a:solidFill>
              <a:srgbClr val="000000"/>
            </a:solidFill>
            <a:ln cap="sq">
              <a:noFill/>
              <a:prstDash val="solid"/>
              <a:miter/>
            </a:ln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6350000" cy="2197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12096750" y="6762750"/>
            <a:ext cx="4762500" cy="1619250"/>
            <a:chOff x="0" y="0"/>
            <a:chExt cx="6350000" cy="215900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6350000" cy="2159000"/>
            </a:xfrm>
            <a:custGeom>
              <a:avLst/>
              <a:gdLst/>
              <a:ahLst/>
              <a:cxnLst/>
              <a:rect r="r" b="b" t="t" l="l"/>
              <a:pathLst>
                <a:path h="2159000" w="6350000">
                  <a:moveTo>
                    <a:pt x="20320" y="0"/>
                  </a:moveTo>
                  <a:lnTo>
                    <a:pt x="6329680" y="0"/>
                  </a:lnTo>
                  <a:cubicBezTo>
                    <a:pt x="6335069" y="0"/>
                    <a:pt x="6340238" y="2141"/>
                    <a:pt x="6344048" y="5952"/>
                  </a:cubicBezTo>
                  <a:cubicBezTo>
                    <a:pt x="6347859" y="9762"/>
                    <a:pt x="6350000" y="14931"/>
                    <a:pt x="6350000" y="20320"/>
                  </a:cubicBezTo>
                  <a:lnTo>
                    <a:pt x="6350000" y="2138680"/>
                  </a:lnTo>
                  <a:cubicBezTo>
                    <a:pt x="6350000" y="2149902"/>
                    <a:pt x="6340902" y="2159000"/>
                    <a:pt x="6329680" y="2159000"/>
                  </a:cubicBezTo>
                  <a:lnTo>
                    <a:pt x="20320" y="2159000"/>
                  </a:lnTo>
                  <a:cubicBezTo>
                    <a:pt x="9098" y="2159000"/>
                    <a:pt x="0" y="2149902"/>
                    <a:pt x="0" y="2138680"/>
                  </a:cubicBezTo>
                  <a:lnTo>
                    <a:pt x="0" y="20320"/>
                  </a:lnTo>
                  <a:cubicBezTo>
                    <a:pt x="0" y="9098"/>
                    <a:pt x="9098" y="0"/>
                    <a:pt x="20320" y="0"/>
                  </a:cubicBezTo>
                  <a:close/>
                </a:path>
              </a:pathLst>
            </a:custGeom>
            <a:solidFill>
              <a:srgbClr val="FF4757"/>
            </a:solidFill>
            <a:ln w="3810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21" id="21"/>
            <p:cNvSpPr txBox="true"/>
            <p:nvPr/>
          </p:nvSpPr>
          <p:spPr>
            <a:xfrm>
              <a:off x="0" y="-9525"/>
              <a:ext cx="6350000" cy="21685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992"/>
                </a:lnSpc>
              </a:pPr>
              <a:r>
                <a:rPr lang="en-US" sz="2850" b="true">
                  <a:solidFill>
                    <a:srgbClr val="000000"/>
                  </a:solidFill>
                  <a:latin typeface="Akzidenz-Grotesk Bold"/>
                  <a:ea typeface="Akzidenz-Grotesk Bold"/>
                  <a:cs typeface="Akzidenz-Grotesk Bold"/>
                  <a:sym typeface="Akzidenz-Grotesk Bold"/>
                </a:rPr>
                <a:t>7.6ms</a:t>
              </a:r>
            </a:p>
            <a:p>
              <a:pPr algn="ctr">
                <a:lnSpc>
                  <a:spcPts val="2992"/>
                </a:lnSpc>
              </a:pPr>
              <a:r>
                <a:rPr lang="en-US" sz="2850" b="true">
                  <a:solidFill>
                    <a:srgbClr val="000000"/>
                  </a:solidFill>
                  <a:latin typeface="Akzidenz-Grotesk Bold"/>
                  <a:ea typeface="Akzidenz-Grotesk Bold"/>
                  <a:cs typeface="Akzidenz-Grotesk Bold"/>
                  <a:sym typeface="Akzidenz-Grotesk Bold"/>
                </a:rPr>
                <a:t>P95 SCORE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A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819150" y="647700"/>
            <a:ext cx="16649700" cy="6294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04"/>
              </a:lnSpc>
            </a:pPr>
            <a:r>
              <a:rPr lang="en-US" sz="4800">
                <a:solidFill>
                  <a:srgbClr val="000000"/>
                </a:solidFill>
                <a:latin typeface="Archivo Black"/>
                <a:ea typeface="Archivo Black"/>
                <a:cs typeface="Archivo Black"/>
                <a:sym typeface="Archivo Black"/>
              </a:rPr>
              <a:t>INGESTION &amp; PIPELINE HEALTH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tretch>
            <a:fillRect/>
          </a:stretch>
        </p:blipFill>
        <p:spPr>
          <a:xfrm rot="0">
            <a:off x="-297961" y="1555962"/>
            <a:ext cx="13359424" cy="8127576"/>
          </a:xfrm>
          <a:prstGeom prst="rect">
            <a:avLst/>
          </a:prstGeom>
        </p:spPr>
      </p:pic>
      <p:grpSp>
        <p:nvGrpSpPr>
          <p:cNvPr name="Group 4" id="4"/>
          <p:cNvGrpSpPr/>
          <p:nvPr/>
        </p:nvGrpSpPr>
        <p:grpSpPr>
          <a:xfrm rot="0">
            <a:off x="12820650" y="2724150"/>
            <a:ext cx="4191000" cy="1476375"/>
            <a:chOff x="0" y="0"/>
            <a:chExt cx="5588000" cy="19685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5588000" cy="1968500"/>
            </a:xfrm>
            <a:custGeom>
              <a:avLst/>
              <a:gdLst/>
              <a:ahLst/>
              <a:cxnLst/>
              <a:rect r="r" b="b" t="t" l="l"/>
              <a:pathLst>
                <a:path h="1968500" w="5588000">
                  <a:moveTo>
                    <a:pt x="0" y="0"/>
                  </a:moveTo>
                  <a:lnTo>
                    <a:pt x="5588000" y="0"/>
                  </a:lnTo>
                  <a:lnTo>
                    <a:pt x="5588000" y="1968500"/>
                  </a:lnTo>
                  <a:lnTo>
                    <a:pt x="0" y="1968500"/>
                  </a:lnTo>
                  <a:close/>
                </a:path>
              </a:pathLst>
            </a:custGeom>
            <a:solidFill>
              <a:srgbClr val="000000"/>
            </a:solidFill>
            <a:ln cap="sq">
              <a:noFill/>
              <a:prstDash val="solid"/>
              <a:miter/>
            </a:ln>
          </p:spPr>
        </p:sp>
        <p:sp>
          <p:nvSpPr>
            <p:cNvPr name="TextBox 6" id="6"/>
            <p:cNvSpPr txBox="true"/>
            <p:nvPr/>
          </p:nvSpPr>
          <p:spPr>
            <a:xfrm>
              <a:off x="0" y="-38100"/>
              <a:ext cx="5588000" cy="2006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2763500" y="2667000"/>
            <a:ext cx="4191000" cy="1476375"/>
            <a:chOff x="0" y="0"/>
            <a:chExt cx="5588000" cy="19685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5588000" cy="1968500"/>
            </a:xfrm>
            <a:custGeom>
              <a:avLst/>
              <a:gdLst/>
              <a:ahLst/>
              <a:cxnLst/>
              <a:rect r="r" b="b" t="t" l="l"/>
              <a:pathLst>
                <a:path h="1968500" w="5588000">
                  <a:moveTo>
                    <a:pt x="23091" y="0"/>
                  </a:moveTo>
                  <a:lnTo>
                    <a:pt x="5564909" y="0"/>
                  </a:lnTo>
                  <a:cubicBezTo>
                    <a:pt x="5577662" y="0"/>
                    <a:pt x="5588000" y="10338"/>
                    <a:pt x="5588000" y="23091"/>
                  </a:cubicBezTo>
                  <a:lnTo>
                    <a:pt x="5588000" y="1945409"/>
                  </a:lnTo>
                  <a:cubicBezTo>
                    <a:pt x="5588000" y="1958162"/>
                    <a:pt x="5577662" y="1968500"/>
                    <a:pt x="5564909" y="1968500"/>
                  </a:cubicBezTo>
                  <a:lnTo>
                    <a:pt x="23091" y="1968500"/>
                  </a:lnTo>
                  <a:cubicBezTo>
                    <a:pt x="10338" y="1968500"/>
                    <a:pt x="0" y="1958162"/>
                    <a:pt x="0" y="1945409"/>
                  </a:cubicBezTo>
                  <a:lnTo>
                    <a:pt x="0" y="23091"/>
                  </a:lnTo>
                  <a:cubicBezTo>
                    <a:pt x="0" y="10338"/>
                    <a:pt x="10338" y="0"/>
                    <a:pt x="23091" y="0"/>
                  </a:cubicBezTo>
                  <a:close/>
                </a:path>
              </a:pathLst>
            </a:custGeom>
            <a:solidFill>
              <a:srgbClr val="FFE600"/>
            </a:solidFill>
            <a:ln w="3810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9" id="9"/>
            <p:cNvSpPr txBox="true"/>
            <p:nvPr/>
          </p:nvSpPr>
          <p:spPr>
            <a:xfrm>
              <a:off x="0" y="-19050"/>
              <a:ext cx="5588000" cy="19875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35"/>
                </a:lnSpc>
              </a:pPr>
              <a:r>
                <a:rPr lang="en-US" sz="2700" b="true">
                  <a:solidFill>
                    <a:srgbClr val="000000"/>
                  </a:solidFill>
                  <a:latin typeface="Akzidenz-Grotesk Bold"/>
                  <a:ea typeface="Akzidenz-Grotesk Bold"/>
                  <a:cs typeface="Akzidenz-Grotesk Bold"/>
                  <a:sym typeface="Akzidenz-Grotesk Bold"/>
                </a:rPr>
                <a:t>0.42s</a:t>
              </a:r>
            </a:p>
            <a:p>
              <a:pPr algn="ctr">
                <a:lnSpc>
                  <a:spcPts val="2835"/>
                </a:lnSpc>
              </a:pPr>
              <a:r>
                <a:rPr lang="en-US" sz="2700" b="true">
                  <a:solidFill>
                    <a:srgbClr val="000000"/>
                  </a:solidFill>
                  <a:latin typeface="Akzidenz-Grotesk Bold"/>
                  <a:ea typeface="Akzidenz-Grotesk Bold"/>
                  <a:cs typeface="Akzidenz-Grotesk Bold"/>
                  <a:sym typeface="Akzidenz-Grotesk Bold"/>
                </a:rPr>
                <a:t>TOPIC LAG</a:t>
              </a: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2820650" y="4724400"/>
            <a:ext cx="4191000" cy="1476375"/>
            <a:chOff x="0" y="0"/>
            <a:chExt cx="5588000" cy="196850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5588000" cy="1968500"/>
            </a:xfrm>
            <a:custGeom>
              <a:avLst/>
              <a:gdLst/>
              <a:ahLst/>
              <a:cxnLst/>
              <a:rect r="r" b="b" t="t" l="l"/>
              <a:pathLst>
                <a:path h="1968500" w="5588000">
                  <a:moveTo>
                    <a:pt x="0" y="0"/>
                  </a:moveTo>
                  <a:lnTo>
                    <a:pt x="5588000" y="0"/>
                  </a:lnTo>
                  <a:lnTo>
                    <a:pt x="5588000" y="1968500"/>
                  </a:lnTo>
                  <a:lnTo>
                    <a:pt x="0" y="1968500"/>
                  </a:lnTo>
                  <a:close/>
                </a:path>
              </a:pathLst>
            </a:custGeom>
            <a:solidFill>
              <a:srgbClr val="000000"/>
            </a:solidFill>
            <a:ln cap="sq">
              <a:noFill/>
              <a:prstDash val="solid"/>
              <a:miter/>
            </a:ln>
          </p:spPr>
        </p:sp>
        <p:sp>
          <p:nvSpPr>
            <p:cNvPr name="TextBox 12" id="12"/>
            <p:cNvSpPr txBox="true"/>
            <p:nvPr/>
          </p:nvSpPr>
          <p:spPr>
            <a:xfrm>
              <a:off x="0" y="-38100"/>
              <a:ext cx="5588000" cy="2006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12763500" y="4667250"/>
            <a:ext cx="4191000" cy="1476375"/>
            <a:chOff x="0" y="0"/>
            <a:chExt cx="5588000" cy="1968500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5588000" cy="1968500"/>
            </a:xfrm>
            <a:custGeom>
              <a:avLst/>
              <a:gdLst/>
              <a:ahLst/>
              <a:cxnLst/>
              <a:rect r="r" b="b" t="t" l="l"/>
              <a:pathLst>
                <a:path h="1968500" w="5588000">
                  <a:moveTo>
                    <a:pt x="23091" y="0"/>
                  </a:moveTo>
                  <a:lnTo>
                    <a:pt x="5564909" y="0"/>
                  </a:lnTo>
                  <a:cubicBezTo>
                    <a:pt x="5577662" y="0"/>
                    <a:pt x="5588000" y="10338"/>
                    <a:pt x="5588000" y="23091"/>
                  </a:cubicBezTo>
                  <a:lnTo>
                    <a:pt x="5588000" y="1945409"/>
                  </a:lnTo>
                  <a:cubicBezTo>
                    <a:pt x="5588000" y="1958162"/>
                    <a:pt x="5577662" y="1968500"/>
                    <a:pt x="5564909" y="1968500"/>
                  </a:cubicBezTo>
                  <a:lnTo>
                    <a:pt x="23091" y="1968500"/>
                  </a:lnTo>
                  <a:cubicBezTo>
                    <a:pt x="10338" y="1968500"/>
                    <a:pt x="0" y="1958162"/>
                    <a:pt x="0" y="1945409"/>
                  </a:cubicBezTo>
                  <a:lnTo>
                    <a:pt x="0" y="23091"/>
                  </a:lnTo>
                  <a:cubicBezTo>
                    <a:pt x="0" y="10338"/>
                    <a:pt x="10338" y="0"/>
                    <a:pt x="23091" y="0"/>
                  </a:cubicBezTo>
                  <a:close/>
                </a:path>
              </a:pathLst>
            </a:custGeom>
            <a:solidFill>
              <a:srgbClr val="00F5A0"/>
            </a:solidFill>
            <a:ln w="3810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15" id="15"/>
            <p:cNvSpPr txBox="true"/>
            <p:nvPr/>
          </p:nvSpPr>
          <p:spPr>
            <a:xfrm>
              <a:off x="0" y="-19050"/>
              <a:ext cx="5588000" cy="19875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35"/>
                </a:lnSpc>
              </a:pPr>
              <a:r>
                <a:rPr lang="en-US" sz="2700" b="true">
                  <a:solidFill>
                    <a:srgbClr val="000000"/>
                  </a:solidFill>
                  <a:latin typeface="Akzidenz-Grotesk Bold"/>
                  <a:ea typeface="Akzidenz-Grotesk Bold"/>
                  <a:cs typeface="Akzidenz-Grotesk Bold"/>
                  <a:sym typeface="Akzidenz-Grotesk Bold"/>
                </a:rPr>
                <a:t>0.81s</a:t>
              </a:r>
            </a:p>
            <a:p>
              <a:pPr algn="ctr">
                <a:lnSpc>
                  <a:spcPts val="2835"/>
                </a:lnSpc>
              </a:pPr>
              <a:r>
                <a:rPr lang="en-US" sz="2700" b="true">
                  <a:solidFill>
                    <a:srgbClr val="000000"/>
                  </a:solidFill>
                  <a:latin typeface="Akzidenz-Grotesk Bold"/>
                  <a:ea typeface="Akzidenz-Grotesk Bold"/>
                  <a:cs typeface="Akzidenz-Grotesk Bold"/>
                  <a:sym typeface="Akzidenz-Grotesk Bold"/>
                </a:rPr>
                <a:t>S3 FLUSH</a:t>
              </a: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12820650" y="6724650"/>
            <a:ext cx="4191000" cy="1476375"/>
            <a:chOff x="0" y="0"/>
            <a:chExt cx="5588000" cy="19685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5588000" cy="1968500"/>
            </a:xfrm>
            <a:custGeom>
              <a:avLst/>
              <a:gdLst/>
              <a:ahLst/>
              <a:cxnLst/>
              <a:rect r="r" b="b" t="t" l="l"/>
              <a:pathLst>
                <a:path h="1968500" w="5588000">
                  <a:moveTo>
                    <a:pt x="0" y="0"/>
                  </a:moveTo>
                  <a:lnTo>
                    <a:pt x="5588000" y="0"/>
                  </a:lnTo>
                  <a:lnTo>
                    <a:pt x="5588000" y="1968500"/>
                  </a:lnTo>
                  <a:lnTo>
                    <a:pt x="0" y="1968500"/>
                  </a:lnTo>
                  <a:close/>
                </a:path>
              </a:pathLst>
            </a:custGeom>
            <a:solidFill>
              <a:srgbClr val="000000"/>
            </a:solidFill>
            <a:ln cap="sq">
              <a:noFill/>
              <a:prstDash val="solid"/>
              <a:miter/>
            </a:ln>
          </p:spPr>
        </p:sp>
        <p:sp>
          <p:nvSpPr>
            <p:cNvPr name="TextBox 18" id="18"/>
            <p:cNvSpPr txBox="true"/>
            <p:nvPr/>
          </p:nvSpPr>
          <p:spPr>
            <a:xfrm>
              <a:off x="0" y="-38100"/>
              <a:ext cx="5588000" cy="20066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12763500" y="6667500"/>
            <a:ext cx="4191000" cy="1476375"/>
            <a:chOff x="0" y="0"/>
            <a:chExt cx="5588000" cy="196850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5588000" cy="1968500"/>
            </a:xfrm>
            <a:custGeom>
              <a:avLst/>
              <a:gdLst/>
              <a:ahLst/>
              <a:cxnLst/>
              <a:rect r="r" b="b" t="t" l="l"/>
              <a:pathLst>
                <a:path h="1968500" w="5588000">
                  <a:moveTo>
                    <a:pt x="23091" y="0"/>
                  </a:moveTo>
                  <a:lnTo>
                    <a:pt x="5564909" y="0"/>
                  </a:lnTo>
                  <a:cubicBezTo>
                    <a:pt x="5577662" y="0"/>
                    <a:pt x="5588000" y="10338"/>
                    <a:pt x="5588000" y="23091"/>
                  </a:cubicBezTo>
                  <a:lnTo>
                    <a:pt x="5588000" y="1945409"/>
                  </a:lnTo>
                  <a:cubicBezTo>
                    <a:pt x="5588000" y="1958162"/>
                    <a:pt x="5577662" y="1968500"/>
                    <a:pt x="5564909" y="1968500"/>
                  </a:cubicBezTo>
                  <a:lnTo>
                    <a:pt x="23091" y="1968500"/>
                  </a:lnTo>
                  <a:cubicBezTo>
                    <a:pt x="10338" y="1968500"/>
                    <a:pt x="0" y="1958162"/>
                    <a:pt x="0" y="1945409"/>
                  </a:cubicBezTo>
                  <a:lnTo>
                    <a:pt x="0" y="23091"/>
                  </a:lnTo>
                  <a:cubicBezTo>
                    <a:pt x="0" y="10338"/>
                    <a:pt x="10338" y="0"/>
                    <a:pt x="23091" y="0"/>
                  </a:cubicBezTo>
                  <a:close/>
                </a:path>
              </a:pathLst>
            </a:custGeom>
            <a:solidFill>
              <a:srgbClr val="7C3AED"/>
            </a:solidFill>
            <a:ln w="3810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21" id="21"/>
            <p:cNvSpPr txBox="true"/>
            <p:nvPr/>
          </p:nvSpPr>
          <p:spPr>
            <a:xfrm>
              <a:off x="0" y="-19050"/>
              <a:ext cx="5588000" cy="19875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35"/>
                </a:lnSpc>
              </a:pPr>
              <a:r>
                <a:rPr lang="en-US" sz="2700" b="true">
                  <a:solidFill>
                    <a:srgbClr val="000000"/>
                  </a:solidFill>
                  <a:latin typeface="Akzidenz-Grotesk Bold"/>
                  <a:ea typeface="Akzidenz-Grotesk Bold"/>
                  <a:cs typeface="Akzidenz-Grotesk Bold"/>
                  <a:sym typeface="Akzidenz-Grotesk Bold"/>
                </a:rPr>
                <a:t>68%</a:t>
              </a:r>
            </a:p>
            <a:p>
              <a:pPr algn="ctr">
                <a:lnSpc>
                  <a:spcPts val="2835"/>
                </a:lnSpc>
              </a:pPr>
              <a:r>
                <a:rPr lang="en-US" sz="2700" b="true">
                  <a:solidFill>
                    <a:srgbClr val="000000"/>
                  </a:solidFill>
                  <a:latin typeface="Akzidenz-Grotesk Bold"/>
                  <a:ea typeface="Akzidenz-Grotesk Bold"/>
                  <a:cs typeface="Akzidenz-Grotesk Bold"/>
                  <a:sym typeface="Akzidenz-Grotesk Bold"/>
                </a:rPr>
                <a:t>CLUSTER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>
  <p:cSld>
    <p:bg>
      <p:bgPr>
        <a:solidFill>
          <a:srgbClr val="FA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819150" y="647700"/>
            <a:ext cx="16649700" cy="6294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04"/>
              </a:lnSpc>
            </a:pPr>
            <a:r>
              <a:rPr lang="en-US" sz="4800">
                <a:solidFill>
                  <a:srgbClr val="000000"/>
                </a:solidFill>
                <a:latin typeface="Archivo Black"/>
                <a:ea typeface="Archivo Black"/>
                <a:cs typeface="Archivo Black"/>
                <a:sym typeface="Archivo Black"/>
              </a:rPr>
              <a:t>DELIBERATE TRADE-OFFS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1009650" y="2724150"/>
            <a:ext cx="4762500" cy="1428750"/>
            <a:chOff x="0" y="0"/>
            <a:chExt cx="6350000" cy="1905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6350000" cy="1905000"/>
            </a:xfrm>
            <a:custGeom>
              <a:avLst/>
              <a:gdLst/>
              <a:ahLst/>
              <a:cxnLst/>
              <a:rect r="r" b="b" t="t" l="l"/>
              <a:pathLst>
                <a:path h="1905000" w="6350000">
                  <a:moveTo>
                    <a:pt x="0" y="0"/>
                  </a:moveTo>
                  <a:lnTo>
                    <a:pt x="6350000" y="0"/>
                  </a:lnTo>
                  <a:lnTo>
                    <a:pt x="6350000" y="1905000"/>
                  </a:lnTo>
                  <a:lnTo>
                    <a:pt x="0" y="1905000"/>
                  </a:lnTo>
                  <a:close/>
                </a:path>
              </a:pathLst>
            </a:custGeom>
            <a:solidFill>
              <a:srgbClr val="000000"/>
            </a:solidFill>
            <a:ln cap="sq">
              <a:noFill/>
              <a:prstDash val="solid"/>
              <a:miter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6350000" cy="194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952500" y="2667000"/>
            <a:ext cx="4762500" cy="1428750"/>
            <a:chOff x="0" y="0"/>
            <a:chExt cx="6350000" cy="19050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6350000" cy="1905000"/>
            </a:xfrm>
            <a:custGeom>
              <a:avLst/>
              <a:gdLst/>
              <a:ahLst/>
              <a:cxnLst/>
              <a:rect r="r" b="b" t="t" l="l"/>
              <a:pathLst>
                <a:path h="1905000" w="6350000">
                  <a:moveTo>
                    <a:pt x="20320" y="0"/>
                  </a:moveTo>
                  <a:lnTo>
                    <a:pt x="6329680" y="0"/>
                  </a:lnTo>
                  <a:cubicBezTo>
                    <a:pt x="6335069" y="0"/>
                    <a:pt x="6340238" y="2141"/>
                    <a:pt x="6344048" y="5952"/>
                  </a:cubicBezTo>
                  <a:cubicBezTo>
                    <a:pt x="6347859" y="9762"/>
                    <a:pt x="6350000" y="14931"/>
                    <a:pt x="6350000" y="20320"/>
                  </a:cubicBezTo>
                  <a:lnTo>
                    <a:pt x="6350000" y="1884680"/>
                  </a:lnTo>
                  <a:cubicBezTo>
                    <a:pt x="6350000" y="1895902"/>
                    <a:pt x="6340902" y="1905000"/>
                    <a:pt x="6329680" y="1905000"/>
                  </a:cubicBezTo>
                  <a:lnTo>
                    <a:pt x="20320" y="1905000"/>
                  </a:lnTo>
                  <a:cubicBezTo>
                    <a:pt x="9098" y="1905000"/>
                    <a:pt x="0" y="1895902"/>
                    <a:pt x="0" y="1884680"/>
                  </a:cubicBezTo>
                  <a:lnTo>
                    <a:pt x="0" y="20320"/>
                  </a:lnTo>
                  <a:cubicBezTo>
                    <a:pt x="0" y="9098"/>
                    <a:pt x="9098" y="0"/>
                    <a:pt x="20320" y="0"/>
                  </a:cubicBezTo>
                  <a:close/>
                </a:path>
              </a:pathLst>
            </a:custGeom>
            <a:solidFill>
              <a:srgbClr val="FFE600"/>
            </a:solidFill>
            <a:ln w="3810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8" id="8"/>
            <p:cNvSpPr txBox="true"/>
            <p:nvPr/>
          </p:nvSpPr>
          <p:spPr>
            <a:xfrm>
              <a:off x="0" y="-19050"/>
              <a:ext cx="6350000" cy="19240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05"/>
                </a:lnSpc>
              </a:pPr>
              <a:r>
                <a:rPr lang="en-US" sz="2100" b="true">
                  <a:solidFill>
                    <a:srgbClr val="000000"/>
                  </a:solidFill>
                  <a:latin typeface="Akzidenz-Grotesk Bold"/>
                  <a:ea typeface="Akzidenz-Grotesk Bold"/>
                  <a:cs typeface="Akzidenz-Grotesk Bold"/>
                  <a:sym typeface="Akzidenz-Grotesk Bold"/>
                </a:rPr>
                <a:t>DIRECT TO MSK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6762750" y="2667000"/>
            <a:ext cx="4000500" cy="1428750"/>
            <a:chOff x="0" y="0"/>
            <a:chExt cx="5334000" cy="19050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5334000" cy="1905000"/>
            </a:xfrm>
            <a:custGeom>
              <a:avLst/>
              <a:gdLst/>
              <a:ahLst/>
              <a:cxnLst/>
              <a:rect r="r" b="b" t="t" l="l"/>
              <a:pathLst>
                <a:path h="1905000" w="5334000">
                  <a:moveTo>
                    <a:pt x="24190" y="0"/>
                  </a:moveTo>
                  <a:lnTo>
                    <a:pt x="5309810" y="0"/>
                  </a:lnTo>
                  <a:cubicBezTo>
                    <a:pt x="5316225" y="0"/>
                    <a:pt x="5322378" y="2549"/>
                    <a:pt x="5326915" y="7085"/>
                  </a:cubicBezTo>
                  <a:cubicBezTo>
                    <a:pt x="5331451" y="11622"/>
                    <a:pt x="5334000" y="17775"/>
                    <a:pt x="5334000" y="24190"/>
                  </a:cubicBezTo>
                  <a:lnTo>
                    <a:pt x="5334000" y="1880810"/>
                  </a:lnTo>
                  <a:cubicBezTo>
                    <a:pt x="5334000" y="1887225"/>
                    <a:pt x="5331451" y="1893378"/>
                    <a:pt x="5326915" y="1897915"/>
                  </a:cubicBezTo>
                  <a:cubicBezTo>
                    <a:pt x="5322378" y="1902451"/>
                    <a:pt x="5316225" y="1905000"/>
                    <a:pt x="5309810" y="1905000"/>
                  </a:cubicBezTo>
                  <a:lnTo>
                    <a:pt x="24190" y="1905000"/>
                  </a:lnTo>
                  <a:cubicBezTo>
                    <a:pt x="17775" y="1905000"/>
                    <a:pt x="11622" y="1902451"/>
                    <a:pt x="7085" y="1897915"/>
                  </a:cubicBezTo>
                  <a:cubicBezTo>
                    <a:pt x="2549" y="1893378"/>
                    <a:pt x="0" y="1887225"/>
                    <a:pt x="0" y="1880810"/>
                  </a:cubicBezTo>
                  <a:lnTo>
                    <a:pt x="0" y="24190"/>
                  </a:lnTo>
                  <a:cubicBezTo>
                    <a:pt x="0" y="17775"/>
                    <a:pt x="2549" y="11622"/>
                    <a:pt x="7085" y="7085"/>
                  </a:cubicBezTo>
                  <a:cubicBezTo>
                    <a:pt x="11622" y="2549"/>
                    <a:pt x="17775" y="0"/>
                    <a:pt x="24190" y="0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11" id="11"/>
            <p:cNvSpPr txBox="true"/>
            <p:nvPr/>
          </p:nvSpPr>
          <p:spPr>
            <a:xfrm>
              <a:off x="0" y="-19050"/>
              <a:ext cx="5334000" cy="19240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05"/>
                </a:lnSpc>
              </a:pPr>
              <a:r>
                <a:rPr lang="en-US" sz="2100" b="true">
                  <a:solidFill>
                    <a:srgbClr val="000000"/>
                  </a:solidFill>
                  <a:latin typeface="Akzidenz-Grotesk Bold"/>
                  <a:ea typeface="Akzidenz-Grotesk Bold"/>
                  <a:cs typeface="Akzidenz-Grotesk Bold"/>
                  <a:sym typeface="Akzidenz-Grotesk Bold"/>
                </a:rPr>
                <a:t>RDBMS FIRST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11811000" y="2667000"/>
            <a:ext cx="5334000" cy="1428750"/>
            <a:chOff x="0" y="0"/>
            <a:chExt cx="7112000" cy="190500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7112000" cy="1905000"/>
            </a:xfrm>
            <a:custGeom>
              <a:avLst/>
              <a:gdLst/>
              <a:ahLst/>
              <a:cxnLst/>
              <a:rect r="r" b="b" t="t" l="l"/>
              <a:pathLst>
                <a:path h="1905000" w="7112000">
                  <a:moveTo>
                    <a:pt x="18143" y="0"/>
                  </a:moveTo>
                  <a:lnTo>
                    <a:pt x="7093857" y="0"/>
                  </a:lnTo>
                  <a:cubicBezTo>
                    <a:pt x="7103877" y="0"/>
                    <a:pt x="7112000" y="8123"/>
                    <a:pt x="7112000" y="18143"/>
                  </a:cubicBezTo>
                  <a:lnTo>
                    <a:pt x="7112000" y="1886857"/>
                  </a:lnTo>
                  <a:cubicBezTo>
                    <a:pt x="7112000" y="1896877"/>
                    <a:pt x="7103877" y="1905000"/>
                    <a:pt x="7093857" y="1905000"/>
                  </a:cubicBezTo>
                  <a:lnTo>
                    <a:pt x="18143" y="1905000"/>
                  </a:lnTo>
                  <a:cubicBezTo>
                    <a:pt x="8123" y="1905000"/>
                    <a:pt x="0" y="1896877"/>
                    <a:pt x="0" y="1886857"/>
                  </a:cubicBezTo>
                  <a:lnTo>
                    <a:pt x="0" y="18143"/>
                  </a:lnTo>
                  <a:cubicBezTo>
                    <a:pt x="0" y="8123"/>
                    <a:pt x="8123" y="0"/>
                    <a:pt x="18143" y="0"/>
                  </a:cubicBezTo>
                  <a:close/>
                </a:path>
              </a:pathLst>
            </a:custGeom>
            <a:solidFill>
              <a:srgbClr val="FF4757"/>
            </a:solidFill>
            <a:ln w="3810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14" id="14"/>
            <p:cNvSpPr txBox="true"/>
            <p:nvPr/>
          </p:nvSpPr>
          <p:spPr>
            <a:xfrm>
              <a:off x="0" y="-19050"/>
              <a:ext cx="7112000" cy="19240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05"/>
                </a:lnSpc>
              </a:pPr>
              <a:r>
                <a:rPr lang="en-US" sz="2100" b="true">
                  <a:solidFill>
                    <a:srgbClr val="000000"/>
                  </a:solidFill>
                  <a:latin typeface="Akzidenz-Grotesk Bold"/>
                  <a:ea typeface="Akzidenz-Grotesk Bold"/>
                  <a:cs typeface="Akzidenz-Grotesk Bold"/>
                  <a:sym typeface="Akzidenz-Grotesk Bold"/>
                </a:rPr>
                <a:t>Linear scale wins</a:t>
              </a:r>
            </a:p>
          </p:txBody>
        </p:sp>
      </p:grpSp>
      <p:sp>
        <p:nvSpPr>
          <p:cNvPr name="AutoShape 15" id="15"/>
          <p:cNvSpPr/>
          <p:nvPr/>
        </p:nvSpPr>
        <p:spPr>
          <a:xfrm>
            <a:off x="5810250" y="3381375"/>
            <a:ext cx="857250" cy="0"/>
          </a:xfrm>
          <a:prstGeom prst="line">
            <a:avLst/>
          </a:prstGeom>
          <a:ln cap="rnd" w="47625">
            <a:solidFill>
              <a:srgbClr val="000000"/>
            </a:solidFill>
            <a:prstDash val="solid"/>
            <a:headEnd type="none" len="sm" w="sm"/>
            <a:tailEnd type="arrow" len="sm" w="med"/>
          </a:ln>
        </p:spPr>
      </p:sp>
      <p:sp>
        <p:nvSpPr>
          <p:cNvPr name="AutoShape 16" id="16"/>
          <p:cNvSpPr/>
          <p:nvPr/>
        </p:nvSpPr>
        <p:spPr>
          <a:xfrm>
            <a:off x="10858500" y="3381375"/>
            <a:ext cx="857250" cy="0"/>
          </a:xfrm>
          <a:prstGeom prst="line">
            <a:avLst/>
          </a:prstGeom>
          <a:ln cap="rnd" w="47625">
            <a:solidFill>
              <a:srgbClr val="000000"/>
            </a:solidFill>
            <a:prstDash val="solid"/>
            <a:headEnd type="none" len="sm" w="sm"/>
            <a:tailEnd type="arrow" len="sm" w="med"/>
          </a:ln>
        </p:spPr>
      </p:sp>
      <p:grpSp>
        <p:nvGrpSpPr>
          <p:cNvPr name="Group 17" id="17"/>
          <p:cNvGrpSpPr/>
          <p:nvPr/>
        </p:nvGrpSpPr>
        <p:grpSpPr>
          <a:xfrm rot="0">
            <a:off x="1009650" y="4867275"/>
            <a:ext cx="4762500" cy="1428750"/>
            <a:chOff x="0" y="0"/>
            <a:chExt cx="6350000" cy="19050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6350000" cy="1905000"/>
            </a:xfrm>
            <a:custGeom>
              <a:avLst/>
              <a:gdLst/>
              <a:ahLst/>
              <a:cxnLst/>
              <a:rect r="r" b="b" t="t" l="l"/>
              <a:pathLst>
                <a:path h="1905000" w="6350000">
                  <a:moveTo>
                    <a:pt x="0" y="0"/>
                  </a:moveTo>
                  <a:lnTo>
                    <a:pt x="6350000" y="0"/>
                  </a:lnTo>
                  <a:lnTo>
                    <a:pt x="6350000" y="1905000"/>
                  </a:lnTo>
                  <a:lnTo>
                    <a:pt x="0" y="1905000"/>
                  </a:lnTo>
                  <a:close/>
                </a:path>
              </a:pathLst>
            </a:custGeom>
            <a:solidFill>
              <a:srgbClr val="000000"/>
            </a:solidFill>
            <a:ln cap="sq">
              <a:noFill/>
              <a:prstDash val="solid"/>
              <a:miter/>
            </a:ln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6350000" cy="194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952500" y="4810125"/>
            <a:ext cx="4762500" cy="1428750"/>
            <a:chOff x="0" y="0"/>
            <a:chExt cx="6350000" cy="190500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6350000" cy="1905000"/>
            </a:xfrm>
            <a:custGeom>
              <a:avLst/>
              <a:gdLst/>
              <a:ahLst/>
              <a:cxnLst/>
              <a:rect r="r" b="b" t="t" l="l"/>
              <a:pathLst>
                <a:path h="1905000" w="6350000">
                  <a:moveTo>
                    <a:pt x="20320" y="0"/>
                  </a:moveTo>
                  <a:lnTo>
                    <a:pt x="6329680" y="0"/>
                  </a:lnTo>
                  <a:cubicBezTo>
                    <a:pt x="6335069" y="0"/>
                    <a:pt x="6340238" y="2141"/>
                    <a:pt x="6344048" y="5952"/>
                  </a:cubicBezTo>
                  <a:cubicBezTo>
                    <a:pt x="6347859" y="9762"/>
                    <a:pt x="6350000" y="14931"/>
                    <a:pt x="6350000" y="20320"/>
                  </a:cubicBezTo>
                  <a:lnTo>
                    <a:pt x="6350000" y="1884680"/>
                  </a:lnTo>
                  <a:cubicBezTo>
                    <a:pt x="6350000" y="1895902"/>
                    <a:pt x="6340902" y="1905000"/>
                    <a:pt x="6329680" y="1905000"/>
                  </a:cubicBezTo>
                  <a:lnTo>
                    <a:pt x="20320" y="1905000"/>
                  </a:lnTo>
                  <a:cubicBezTo>
                    <a:pt x="9098" y="1905000"/>
                    <a:pt x="0" y="1895902"/>
                    <a:pt x="0" y="1884680"/>
                  </a:cubicBezTo>
                  <a:lnTo>
                    <a:pt x="0" y="20320"/>
                  </a:lnTo>
                  <a:cubicBezTo>
                    <a:pt x="0" y="9098"/>
                    <a:pt x="9098" y="0"/>
                    <a:pt x="20320" y="0"/>
                  </a:cubicBezTo>
                  <a:close/>
                </a:path>
              </a:pathLst>
            </a:custGeom>
            <a:solidFill>
              <a:srgbClr val="00F5A0"/>
            </a:solidFill>
            <a:ln w="3810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22" id="22"/>
            <p:cNvSpPr txBox="true"/>
            <p:nvPr/>
          </p:nvSpPr>
          <p:spPr>
            <a:xfrm>
              <a:off x="0" y="-19050"/>
              <a:ext cx="6350000" cy="19240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05"/>
                </a:lnSpc>
              </a:pPr>
              <a:r>
                <a:rPr lang="en-US" sz="2100" b="true">
                  <a:solidFill>
                    <a:srgbClr val="000000"/>
                  </a:solidFill>
                  <a:latin typeface="Akzidenz-Grotesk Bold"/>
                  <a:ea typeface="Akzidenz-Grotesk Bold"/>
                  <a:cs typeface="Akzidenz-Grotesk Bold"/>
                  <a:sym typeface="Akzidenz-Grotesk Bold"/>
                </a:rPr>
                <a:t>DEBEZIUM WAL</a:t>
              </a: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6762750" y="4810125"/>
            <a:ext cx="4000500" cy="1428750"/>
            <a:chOff x="0" y="0"/>
            <a:chExt cx="5334000" cy="190500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5334000" cy="1905000"/>
            </a:xfrm>
            <a:custGeom>
              <a:avLst/>
              <a:gdLst/>
              <a:ahLst/>
              <a:cxnLst/>
              <a:rect r="r" b="b" t="t" l="l"/>
              <a:pathLst>
                <a:path h="1905000" w="5334000">
                  <a:moveTo>
                    <a:pt x="24190" y="0"/>
                  </a:moveTo>
                  <a:lnTo>
                    <a:pt x="5309810" y="0"/>
                  </a:lnTo>
                  <a:cubicBezTo>
                    <a:pt x="5316225" y="0"/>
                    <a:pt x="5322378" y="2549"/>
                    <a:pt x="5326915" y="7085"/>
                  </a:cubicBezTo>
                  <a:cubicBezTo>
                    <a:pt x="5331451" y="11622"/>
                    <a:pt x="5334000" y="17775"/>
                    <a:pt x="5334000" y="24190"/>
                  </a:cubicBezTo>
                  <a:lnTo>
                    <a:pt x="5334000" y="1880810"/>
                  </a:lnTo>
                  <a:cubicBezTo>
                    <a:pt x="5334000" y="1887225"/>
                    <a:pt x="5331451" y="1893378"/>
                    <a:pt x="5326915" y="1897915"/>
                  </a:cubicBezTo>
                  <a:cubicBezTo>
                    <a:pt x="5322378" y="1902451"/>
                    <a:pt x="5316225" y="1905000"/>
                    <a:pt x="5309810" y="1905000"/>
                  </a:cubicBezTo>
                  <a:lnTo>
                    <a:pt x="24190" y="1905000"/>
                  </a:lnTo>
                  <a:cubicBezTo>
                    <a:pt x="17775" y="1905000"/>
                    <a:pt x="11622" y="1902451"/>
                    <a:pt x="7085" y="1897915"/>
                  </a:cubicBezTo>
                  <a:cubicBezTo>
                    <a:pt x="2549" y="1893378"/>
                    <a:pt x="0" y="1887225"/>
                    <a:pt x="0" y="1880810"/>
                  </a:cubicBezTo>
                  <a:lnTo>
                    <a:pt x="0" y="24190"/>
                  </a:lnTo>
                  <a:cubicBezTo>
                    <a:pt x="0" y="17775"/>
                    <a:pt x="2549" y="11622"/>
                    <a:pt x="7085" y="7085"/>
                  </a:cubicBezTo>
                  <a:cubicBezTo>
                    <a:pt x="11622" y="2549"/>
                    <a:pt x="17775" y="0"/>
                    <a:pt x="24190" y="0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25" id="25"/>
            <p:cNvSpPr txBox="true"/>
            <p:nvPr/>
          </p:nvSpPr>
          <p:spPr>
            <a:xfrm>
              <a:off x="0" y="-19050"/>
              <a:ext cx="5334000" cy="19240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05"/>
                </a:lnSpc>
              </a:pPr>
              <a:r>
                <a:rPr lang="en-US" sz="2100" b="true">
                  <a:solidFill>
                    <a:srgbClr val="000000"/>
                  </a:solidFill>
                  <a:latin typeface="Akzidenz-Grotesk Bold"/>
                  <a:ea typeface="Akzidenz-Grotesk Bold"/>
                  <a:cs typeface="Akzidenz-Grotesk Bold"/>
                  <a:sym typeface="Akzidenz-Grotesk Bold"/>
                </a:rPr>
                <a:t>APP POLLING</a:t>
              </a:r>
            </a:p>
          </p:txBody>
        </p:sp>
      </p:grpSp>
      <p:grpSp>
        <p:nvGrpSpPr>
          <p:cNvPr name="Group 26" id="26"/>
          <p:cNvGrpSpPr/>
          <p:nvPr/>
        </p:nvGrpSpPr>
        <p:grpSpPr>
          <a:xfrm rot="0">
            <a:off x="11811000" y="4810125"/>
            <a:ext cx="5334000" cy="1428750"/>
            <a:chOff x="0" y="0"/>
            <a:chExt cx="7112000" cy="190500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7112000" cy="1905000"/>
            </a:xfrm>
            <a:custGeom>
              <a:avLst/>
              <a:gdLst/>
              <a:ahLst/>
              <a:cxnLst/>
              <a:rect r="r" b="b" t="t" l="l"/>
              <a:pathLst>
                <a:path h="1905000" w="7112000">
                  <a:moveTo>
                    <a:pt x="18143" y="0"/>
                  </a:moveTo>
                  <a:lnTo>
                    <a:pt x="7093857" y="0"/>
                  </a:lnTo>
                  <a:cubicBezTo>
                    <a:pt x="7103877" y="0"/>
                    <a:pt x="7112000" y="8123"/>
                    <a:pt x="7112000" y="18143"/>
                  </a:cubicBezTo>
                  <a:lnTo>
                    <a:pt x="7112000" y="1886857"/>
                  </a:lnTo>
                  <a:cubicBezTo>
                    <a:pt x="7112000" y="1896877"/>
                    <a:pt x="7103877" y="1905000"/>
                    <a:pt x="7093857" y="1905000"/>
                  </a:cubicBezTo>
                  <a:lnTo>
                    <a:pt x="18143" y="1905000"/>
                  </a:lnTo>
                  <a:cubicBezTo>
                    <a:pt x="8123" y="1905000"/>
                    <a:pt x="0" y="1896877"/>
                    <a:pt x="0" y="1886857"/>
                  </a:cubicBezTo>
                  <a:lnTo>
                    <a:pt x="0" y="18143"/>
                  </a:lnTo>
                  <a:cubicBezTo>
                    <a:pt x="0" y="8123"/>
                    <a:pt x="8123" y="0"/>
                    <a:pt x="18143" y="0"/>
                  </a:cubicBezTo>
                  <a:close/>
                </a:path>
              </a:pathLst>
            </a:custGeom>
            <a:solidFill>
              <a:srgbClr val="FF4757"/>
            </a:solidFill>
            <a:ln w="3810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28" id="28"/>
            <p:cNvSpPr txBox="true"/>
            <p:nvPr/>
          </p:nvSpPr>
          <p:spPr>
            <a:xfrm>
              <a:off x="0" y="-19050"/>
              <a:ext cx="7112000" cy="19240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05"/>
                </a:lnSpc>
              </a:pPr>
              <a:r>
                <a:rPr lang="en-US" sz="2100" b="true">
                  <a:solidFill>
                    <a:srgbClr val="000000"/>
                  </a:solidFill>
                  <a:latin typeface="Akzidenz-Grotesk Bold"/>
                  <a:ea typeface="Akzidenz-Grotesk Bold"/>
                  <a:cs typeface="Akzidenz-Grotesk Bold"/>
                  <a:sym typeface="Akzidenz-Grotesk Bold"/>
                </a:rPr>
                <a:t>Lower coupling wins</a:t>
              </a:r>
            </a:p>
          </p:txBody>
        </p:sp>
      </p:grpSp>
      <p:sp>
        <p:nvSpPr>
          <p:cNvPr name="AutoShape 29" id="29"/>
          <p:cNvSpPr/>
          <p:nvPr/>
        </p:nvSpPr>
        <p:spPr>
          <a:xfrm>
            <a:off x="5810250" y="5524500"/>
            <a:ext cx="857250" cy="0"/>
          </a:xfrm>
          <a:prstGeom prst="line">
            <a:avLst/>
          </a:prstGeom>
          <a:ln cap="rnd" w="47625">
            <a:solidFill>
              <a:srgbClr val="000000"/>
            </a:solidFill>
            <a:prstDash val="solid"/>
            <a:headEnd type="none" len="sm" w="sm"/>
            <a:tailEnd type="arrow" len="sm" w="med"/>
          </a:ln>
        </p:spPr>
      </p:sp>
      <p:sp>
        <p:nvSpPr>
          <p:cNvPr name="AutoShape 30" id="30"/>
          <p:cNvSpPr/>
          <p:nvPr/>
        </p:nvSpPr>
        <p:spPr>
          <a:xfrm>
            <a:off x="10858500" y="5524500"/>
            <a:ext cx="857250" cy="0"/>
          </a:xfrm>
          <a:prstGeom prst="line">
            <a:avLst/>
          </a:prstGeom>
          <a:ln cap="rnd" w="47625">
            <a:solidFill>
              <a:srgbClr val="000000"/>
            </a:solidFill>
            <a:prstDash val="solid"/>
            <a:headEnd type="none" len="sm" w="sm"/>
            <a:tailEnd type="arrow" len="sm" w="med"/>
          </a:ln>
        </p:spPr>
      </p:sp>
      <p:grpSp>
        <p:nvGrpSpPr>
          <p:cNvPr name="Group 31" id="31"/>
          <p:cNvGrpSpPr/>
          <p:nvPr/>
        </p:nvGrpSpPr>
        <p:grpSpPr>
          <a:xfrm rot="0">
            <a:off x="1009650" y="7010400"/>
            <a:ext cx="4762500" cy="1428750"/>
            <a:chOff x="0" y="0"/>
            <a:chExt cx="6350000" cy="190500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6350000" cy="1905000"/>
            </a:xfrm>
            <a:custGeom>
              <a:avLst/>
              <a:gdLst/>
              <a:ahLst/>
              <a:cxnLst/>
              <a:rect r="r" b="b" t="t" l="l"/>
              <a:pathLst>
                <a:path h="1905000" w="6350000">
                  <a:moveTo>
                    <a:pt x="0" y="0"/>
                  </a:moveTo>
                  <a:lnTo>
                    <a:pt x="6350000" y="0"/>
                  </a:lnTo>
                  <a:lnTo>
                    <a:pt x="6350000" y="1905000"/>
                  </a:lnTo>
                  <a:lnTo>
                    <a:pt x="0" y="1905000"/>
                  </a:lnTo>
                  <a:close/>
                </a:path>
              </a:pathLst>
            </a:custGeom>
            <a:solidFill>
              <a:srgbClr val="000000"/>
            </a:solidFill>
            <a:ln cap="sq">
              <a:noFill/>
              <a:prstDash val="solid"/>
              <a:miter/>
            </a:ln>
          </p:spPr>
        </p:sp>
        <p:sp>
          <p:nvSpPr>
            <p:cNvPr name="TextBox 33" id="33"/>
            <p:cNvSpPr txBox="true"/>
            <p:nvPr/>
          </p:nvSpPr>
          <p:spPr>
            <a:xfrm>
              <a:off x="0" y="-38100"/>
              <a:ext cx="6350000" cy="1943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34" id="34"/>
          <p:cNvGrpSpPr/>
          <p:nvPr/>
        </p:nvGrpSpPr>
        <p:grpSpPr>
          <a:xfrm rot="0">
            <a:off x="952500" y="6953250"/>
            <a:ext cx="4762500" cy="1428750"/>
            <a:chOff x="0" y="0"/>
            <a:chExt cx="6350000" cy="1905000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6350000" cy="1905000"/>
            </a:xfrm>
            <a:custGeom>
              <a:avLst/>
              <a:gdLst/>
              <a:ahLst/>
              <a:cxnLst/>
              <a:rect r="r" b="b" t="t" l="l"/>
              <a:pathLst>
                <a:path h="1905000" w="6350000">
                  <a:moveTo>
                    <a:pt x="20320" y="0"/>
                  </a:moveTo>
                  <a:lnTo>
                    <a:pt x="6329680" y="0"/>
                  </a:lnTo>
                  <a:cubicBezTo>
                    <a:pt x="6335069" y="0"/>
                    <a:pt x="6340238" y="2141"/>
                    <a:pt x="6344048" y="5952"/>
                  </a:cubicBezTo>
                  <a:cubicBezTo>
                    <a:pt x="6347859" y="9762"/>
                    <a:pt x="6350000" y="14931"/>
                    <a:pt x="6350000" y="20320"/>
                  </a:cubicBezTo>
                  <a:lnTo>
                    <a:pt x="6350000" y="1884680"/>
                  </a:lnTo>
                  <a:cubicBezTo>
                    <a:pt x="6350000" y="1895902"/>
                    <a:pt x="6340902" y="1905000"/>
                    <a:pt x="6329680" y="1905000"/>
                  </a:cubicBezTo>
                  <a:lnTo>
                    <a:pt x="20320" y="1905000"/>
                  </a:lnTo>
                  <a:cubicBezTo>
                    <a:pt x="9098" y="1905000"/>
                    <a:pt x="0" y="1895902"/>
                    <a:pt x="0" y="1884680"/>
                  </a:cubicBezTo>
                  <a:lnTo>
                    <a:pt x="0" y="20320"/>
                  </a:lnTo>
                  <a:cubicBezTo>
                    <a:pt x="0" y="9098"/>
                    <a:pt x="9098" y="0"/>
                    <a:pt x="20320" y="0"/>
                  </a:cubicBezTo>
                  <a:close/>
                </a:path>
              </a:pathLst>
            </a:custGeom>
            <a:solidFill>
              <a:srgbClr val="7C3AED"/>
            </a:solidFill>
            <a:ln w="3810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36" id="36"/>
            <p:cNvSpPr txBox="true"/>
            <p:nvPr/>
          </p:nvSpPr>
          <p:spPr>
            <a:xfrm>
              <a:off x="0" y="-19050"/>
              <a:ext cx="6350000" cy="19240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05"/>
                </a:lnSpc>
              </a:pPr>
              <a:r>
                <a:rPr lang="en-US" sz="2100" b="true">
                  <a:solidFill>
                    <a:srgbClr val="000000"/>
                  </a:solidFill>
                  <a:latin typeface="Akzidenz-Grotesk Bold"/>
                  <a:ea typeface="Akzidenz-Grotesk Bold"/>
                  <a:cs typeface="Akzidenz-Grotesk Bold"/>
                  <a:sym typeface="Akzidenz-Grotesk Bold"/>
                </a:rPr>
                <a:t>DELTA LAKE</a:t>
              </a:r>
            </a:p>
          </p:txBody>
        </p:sp>
      </p:grpSp>
      <p:grpSp>
        <p:nvGrpSpPr>
          <p:cNvPr name="Group 37" id="37"/>
          <p:cNvGrpSpPr/>
          <p:nvPr/>
        </p:nvGrpSpPr>
        <p:grpSpPr>
          <a:xfrm rot="0">
            <a:off x="6762750" y="6953250"/>
            <a:ext cx="4000500" cy="1428750"/>
            <a:chOff x="0" y="0"/>
            <a:chExt cx="5334000" cy="1905000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5334000" cy="1905000"/>
            </a:xfrm>
            <a:custGeom>
              <a:avLst/>
              <a:gdLst/>
              <a:ahLst/>
              <a:cxnLst/>
              <a:rect r="r" b="b" t="t" l="l"/>
              <a:pathLst>
                <a:path h="1905000" w="5334000">
                  <a:moveTo>
                    <a:pt x="24190" y="0"/>
                  </a:moveTo>
                  <a:lnTo>
                    <a:pt x="5309810" y="0"/>
                  </a:lnTo>
                  <a:cubicBezTo>
                    <a:pt x="5316225" y="0"/>
                    <a:pt x="5322378" y="2549"/>
                    <a:pt x="5326915" y="7085"/>
                  </a:cubicBezTo>
                  <a:cubicBezTo>
                    <a:pt x="5331451" y="11622"/>
                    <a:pt x="5334000" y="17775"/>
                    <a:pt x="5334000" y="24190"/>
                  </a:cubicBezTo>
                  <a:lnTo>
                    <a:pt x="5334000" y="1880810"/>
                  </a:lnTo>
                  <a:cubicBezTo>
                    <a:pt x="5334000" y="1887225"/>
                    <a:pt x="5331451" y="1893378"/>
                    <a:pt x="5326915" y="1897915"/>
                  </a:cubicBezTo>
                  <a:cubicBezTo>
                    <a:pt x="5322378" y="1902451"/>
                    <a:pt x="5316225" y="1905000"/>
                    <a:pt x="5309810" y="1905000"/>
                  </a:cubicBezTo>
                  <a:lnTo>
                    <a:pt x="24190" y="1905000"/>
                  </a:lnTo>
                  <a:cubicBezTo>
                    <a:pt x="17775" y="1905000"/>
                    <a:pt x="11622" y="1902451"/>
                    <a:pt x="7085" y="1897915"/>
                  </a:cubicBezTo>
                  <a:cubicBezTo>
                    <a:pt x="2549" y="1893378"/>
                    <a:pt x="0" y="1887225"/>
                    <a:pt x="0" y="1880810"/>
                  </a:cubicBezTo>
                  <a:lnTo>
                    <a:pt x="0" y="24190"/>
                  </a:lnTo>
                  <a:cubicBezTo>
                    <a:pt x="0" y="17775"/>
                    <a:pt x="2549" y="11622"/>
                    <a:pt x="7085" y="7085"/>
                  </a:cubicBezTo>
                  <a:cubicBezTo>
                    <a:pt x="11622" y="2549"/>
                    <a:pt x="17775" y="0"/>
                    <a:pt x="24190" y="0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39" id="39"/>
            <p:cNvSpPr txBox="true"/>
            <p:nvPr/>
          </p:nvSpPr>
          <p:spPr>
            <a:xfrm>
              <a:off x="0" y="-19050"/>
              <a:ext cx="5334000" cy="19240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05"/>
                </a:lnSpc>
              </a:pPr>
              <a:r>
                <a:rPr lang="en-US" sz="2100" b="true">
                  <a:solidFill>
                    <a:srgbClr val="000000"/>
                  </a:solidFill>
                  <a:latin typeface="Akzidenz-Grotesk Bold"/>
                  <a:ea typeface="Akzidenz-Grotesk Bold"/>
                  <a:cs typeface="Akzidenz-Grotesk Bold"/>
                  <a:sym typeface="Akzidenz-Grotesk Bold"/>
                </a:rPr>
                <a:t>PLAIN PARQUET</a:t>
              </a:r>
            </a:p>
          </p:txBody>
        </p:sp>
      </p:grpSp>
      <p:grpSp>
        <p:nvGrpSpPr>
          <p:cNvPr name="Group 40" id="40"/>
          <p:cNvGrpSpPr/>
          <p:nvPr/>
        </p:nvGrpSpPr>
        <p:grpSpPr>
          <a:xfrm rot="0">
            <a:off x="11811000" y="6953250"/>
            <a:ext cx="5334000" cy="1428750"/>
            <a:chOff x="0" y="0"/>
            <a:chExt cx="7112000" cy="1905000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7112000" cy="1905000"/>
            </a:xfrm>
            <a:custGeom>
              <a:avLst/>
              <a:gdLst/>
              <a:ahLst/>
              <a:cxnLst/>
              <a:rect r="r" b="b" t="t" l="l"/>
              <a:pathLst>
                <a:path h="1905000" w="7112000">
                  <a:moveTo>
                    <a:pt x="18143" y="0"/>
                  </a:moveTo>
                  <a:lnTo>
                    <a:pt x="7093857" y="0"/>
                  </a:lnTo>
                  <a:cubicBezTo>
                    <a:pt x="7103877" y="0"/>
                    <a:pt x="7112000" y="8123"/>
                    <a:pt x="7112000" y="18143"/>
                  </a:cubicBezTo>
                  <a:lnTo>
                    <a:pt x="7112000" y="1886857"/>
                  </a:lnTo>
                  <a:cubicBezTo>
                    <a:pt x="7112000" y="1896877"/>
                    <a:pt x="7103877" y="1905000"/>
                    <a:pt x="7093857" y="1905000"/>
                  </a:cubicBezTo>
                  <a:lnTo>
                    <a:pt x="18143" y="1905000"/>
                  </a:lnTo>
                  <a:cubicBezTo>
                    <a:pt x="8123" y="1905000"/>
                    <a:pt x="0" y="1896877"/>
                    <a:pt x="0" y="1886857"/>
                  </a:cubicBezTo>
                  <a:lnTo>
                    <a:pt x="0" y="18143"/>
                  </a:lnTo>
                  <a:cubicBezTo>
                    <a:pt x="0" y="8123"/>
                    <a:pt x="8123" y="0"/>
                    <a:pt x="18143" y="0"/>
                  </a:cubicBezTo>
                  <a:close/>
                </a:path>
              </a:pathLst>
            </a:custGeom>
            <a:solidFill>
              <a:srgbClr val="FF4757"/>
            </a:solidFill>
            <a:ln w="3810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42" id="42"/>
            <p:cNvSpPr txBox="true"/>
            <p:nvPr/>
          </p:nvSpPr>
          <p:spPr>
            <a:xfrm>
              <a:off x="0" y="-19050"/>
              <a:ext cx="7112000" cy="19240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05"/>
                </a:lnSpc>
              </a:pPr>
              <a:r>
                <a:rPr lang="en-US" sz="2100" b="true">
                  <a:solidFill>
                    <a:srgbClr val="000000"/>
                  </a:solidFill>
                  <a:latin typeface="Akzidenz-Grotesk Bold"/>
                  <a:ea typeface="Akzidenz-Grotesk Bold"/>
                  <a:cs typeface="Akzidenz-Grotesk Bold"/>
                  <a:sym typeface="Akzidenz-Grotesk Bold"/>
                </a:rPr>
                <a:t>Reliable mutation wins</a:t>
              </a:r>
            </a:p>
          </p:txBody>
        </p:sp>
      </p:grpSp>
      <p:sp>
        <p:nvSpPr>
          <p:cNvPr name="AutoShape 43" id="43"/>
          <p:cNvSpPr/>
          <p:nvPr/>
        </p:nvSpPr>
        <p:spPr>
          <a:xfrm>
            <a:off x="5810250" y="7667625"/>
            <a:ext cx="857250" cy="0"/>
          </a:xfrm>
          <a:prstGeom prst="line">
            <a:avLst/>
          </a:prstGeom>
          <a:ln cap="rnd" w="47625">
            <a:solidFill>
              <a:srgbClr val="000000"/>
            </a:solidFill>
            <a:prstDash val="solid"/>
            <a:headEnd type="none" len="sm" w="sm"/>
            <a:tailEnd type="arrow" len="sm" w="med"/>
          </a:ln>
        </p:spPr>
      </p:sp>
      <p:sp>
        <p:nvSpPr>
          <p:cNvPr name="AutoShape 44" id="44"/>
          <p:cNvSpPr/>
          <p:nvPr/>
        </p:nvSpPr>
        <p:spPr>
          <a:xfrm>
            <a:off x="10858500" y="7667625"/>
            <a:ext cx="857250" cy="0"/>
          </a:xfrm>
          <a:prstGeom prst="line">
            <a:avLst/>
          </a:prstGeom>
          <a:ln cap="rnd" w="47625">
            <a:solidFill>
              <a:srgbClr val="000000"/>
            </a:solidFill>
            <a:prstDash val="solid"/>
            <a:headEnd type="none" len="sm" w="sm"/>
            <a:tailEnd type="arrow" len="sm" w="med"/>
          </a:ln>
        </p:spPr>
      </p: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>
  <p:cSld>
    <p:bg>
      <p:bgPr>
        <a:solidFill>
          <a:srgbClr val="FA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819150" y="647700"/>
            <a:ext cx="16649700" cy="6294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04"/>
              </a:lnSpc>
            </a:pPr>
            <a:r>
              <a:rPr lang="en-US" sz="4800">
                <a:solidFill>
                  <a:srgbClr val="000000"/>
                </a:solidFill>
                <a:latin typeface="Archivo Black"/>
                <a:ea typeface="Archivo Black"/>
                <a:cs typeface="Archivo Black"/>
                <a:sym typeface="Archivo Black"/>
              </a:rPr>
              <a:t>TEST THE SYSTEM, NOT JUST THE FUNCTIONS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819150" y="1400937"/>
            <a:ext cx="13811250" cy="3309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343"/>
              </a:lnSpc>
            </a:pPr>
            <a:r>
              <a:rPr lang="en-US" sz="1875">
                <a:solidFill>
                  <a:srgbClr val="000000"/>
                </a:solidFill>
                <a:latin typeface="Akzidenz-Grotesk"/>
                <a:ea typeface="Akzidenz-Grotesk"/>
                <a:cs typeface="Akzidenz-Grotesk"/>
                <a:sym typeface="Akzidenz-Grotesk"/>
              </a:rPr>
              <a:t>Parity across generators, transport, state, transformations and orchestration.</a:t>
            </a:r>
          </a:p>
        </p:txBody>
      </p:sp>
      <p:grpSp>
        <p:nvGrpSpPr>
          <p:cNvPr name="Group 4" id="4"/>
          <p:cNvGrpSpPr/>
          <p:nvPr/>
        </p:nvGrpSpPr>
        <p:grpSpPr>
          <a:xfrm rot="0">
            <a:off x="866775" y="3200400"/>
            <a:ext cx="3429000" cy="1809750"/>
            <a:chOff x="0" y="0"/>
            <a:chExt cx="4572000" cy="24130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4572000" cy="2413000"/>
            </a:xfrm>
            <a:custGeom>
              <a:avLst/>
              <a:gdLst/>
              <a:ahLst/>
              <a:cxnLst/>
              <a:rect r="r" b="b" t="t" l="l"/>
              <a:pathLst>
                <a:path h="2413000" w="4572000">
                  <a:moveTo>
                    <a:pt x="0" y="0"/>
                  </a:moveTo>
                  <a:lnTo>
                    <a:pt x="4572000" y="0"/>
                  </a:lnTo>
                  <a:lnTo>
                    <a:pt x="4572000" y="2413000"/>
                  </a:lnTo>
                  <a:lnTo>
                    <a:pt x="0" y="2413000"/>
                  </a:lnTo>
                  <a:close/>
                </a:path>
              </a:pathLst>
            </a:custGeom>
            <a:solidFill>
              <a:srgbClr val="000000"/>
            </a:solidFill>
            <a:ln cap="sq">
              <a:noFill/>
              <a:prstDash val="solid"/>
              <a:miter/>
            </a:ln>
          </p:spPr>
        </p:sp>
        <p:sp>
          <p:nvSpPr>
            <p:cNvPr name="TextBox 6" id="6"/>
            <p:cNvSpPr txBox="true"/>
            <p:nvPr/>
          </p:nvSpPr>
          <p:spPr>
            <a:xfrm>
              <a:off x="0" y="-38100"/>
              <a:ext cx="4572000" cy="245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809625" y="3143250"/>
            <a:ext cx="3429000" cy="1809750"/>
            <a:chOff x="0" y="0"/>
            <a:chExt cx="4572000" cy="24130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4572000" cy="2413000"/>
            </a:xfrm>
            <a:custGeom>
              <a:avLst/>
              <a:gdLst/>
              <a:ahLst/>
              <a:cxnLst/>
              <a:rect r="r" b="b" t="t" l="l"/>
              <a:pathLst>
                <a:path h="2413000" w="4572000">
                  <a:moveTo>
                    <a:pt x="28222" y="0"/>
                  </a:moveTo>
                  <a:lnTo>
                    <a:pt x="4543778" y="0"/>
                  </a:lnTo>
                  <a:cubicBezTo>
                    <a:pt x="4551263" y="0"/>
                    <a:pt x="4558441" y="2973"/>
                    <a:pt x="4563734" y="8266"/>
                  </a:cubicBezTo>
                  <a:cubicBezTo>
                    <a:pt x="4569027" y="13559"/>
                    <a:pt x="4572000" y="20737"/>
                    <a:pt x="4572000" y="28222"/>
                  </a:cubicBezTo>
                  <a:lnTo>
                    <a:pt x="4572000" y="2384778"/>
                  </a:lnTo>
                  <a:cubicBezTo>
                    <a:pt x="4572000" y="2392263"/>
                    <a:pt x="4569027" y="2399441"/>
                    <a:pt x="4563734" y="2404734"/>
                  </a:cubicBezTo>
                  <a:cubicBezTo>
                    <a:pt x="4558441" y="2410027"/>
                    <a:pt x="4551263" y="2413000"/>
                    <a:pt x="4543778" y="2413000"/>
                  </a:cubicBezTo>
                  <a:lnTo>
                    <a:pt x="28222" y="2413000"/>
                  </a:lnTo>
                  <a:cubicBezTo>
                    <a:pt x="20737" y="2413000"/>
                    <a:pt x="13559" y="2410027"/>
                    <a:pt x="8266" y="2404734"/>
                  </a:cubicBezTo>
                  <a:cubicBezTo>
                    <a:pt x="2973" y="2399441"/>
                    <a:pt x="0" y="2392263"/>
                    <a:pt x="0" y="2384778"/>
                  </a:cubicBezTo>
                  <a:lnTo>
                    <a:pt x="0" y="28222"/>
                  </a:lnTo>
                  <a:cubicBezTo>
                    <a:pt x="0" y="20737"/>
                    <a:pt x="2973" y="13559"/>
                    <a:pt x="8266" y="8266"/>
                  </a:cubicBezTo>
                  <a:cubicBezTo>
                    <a:pt x="13559" y="2973"/>
                    <a:pt x="20737" y="0"/>
                    <a:pt x="28222" y="0"/>
                  </a:cubicBezTo>
                  <a:close/>
                </a:path>
              </a:pathLst>
            </a:custGeom>
            <a:solidFill>
              <a:srgbClr val="FFE600"/>
            </a:solidFill>
            <a:ln w="3810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9" id="9"/>
            <p:cNvSpPr txBox="true"/>
            <p:nvPr/>
          </p:nvSpPr>
          <p:spPr>
            <a:xfrm>
              <a:off x="0" y="-19050"/>
              <a:ext cx="4572000" cy="24320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05"/>
                </a:lnSpc>
              </a:pPr>
              <a:r>
                <a:rPr lang="en-US" sz="2100" b="true">
                  <a:solidFill>
                    <a:srgbClr val="000000"/>
                  </a:solidFill>
                  <a:latin typeface="Akzidenz-Grotesk Bold"/>
                  <a:ea typeface="Akzidenz-Grotesk Bold"/>
                  <a:cs typeface="Akzidenz-Grotesk Bold"/>
                  <a:sym typeface="Akzidenz-Grotesk Bold"/>
                </a:rPr>
                <a:t>DATA</a:t>
              </a:r>
            </a:p>
            <a:p>
              <a:pPr algn="ctr">
                <a:lnSpc>
                  <a:spcPts val="2205"/>
                </a:lnSpc>
              </a:pPr>
              <a:r>
                <a:rPr lang="en-US" sz="2100" b="true">
                  <a:solidFill>
                    <a:srgbClr val="000000"/>
                  </a:solidFill>
                  <a:latin typeface="Akzidenz-Grotesk Bold"/>
                  <a:ea typeface="Akzidenz-Grotesk Bold"/>
                  <a:cs typeface="Akzidenz-Grotesk Bold"/>
                  <a:sym typeface="Akzidenz-Grotesk Bold"/>
                </a:rPr>
                <a:t>GENERATORS</a:t>
              </a:r>
            </a:p>
          </p:txBody>
        </p:sp>
      </p:grpSp>
      <p:sp>
        <p:nvSpPr>
          <p:cNvPr name="AutoShape 10" id="10"/>
          <p:cNvSpPr/>
          <p:nvPr/>
        </p:nvSpPr>
        <p:spPr>
          <a:xfrm>
            <a:off x="2524125" y="5048250"/>
            <a:ext cx="0" cy="1333500"/>
          </a:xfrm>
          <a:prstGeom prst="line">
            <a:avLst/>
          </a:prstGeom>
          <a:ln cap="rnd" w="47625">
            <a:solidFill>
              <a:srgbClr val="000000"/>
            </a:solidFill>
            <a:prstDash val="solid"/>
            <a:headEnd type="none" len="sm" w="sm"/>
            <a:tailEnd type="arrow" len="sm" w="med"/>
          </a:ln>
        </p:spPr>
      </p:sp>
      <p:grpSp>
        <p:nvGrpSpPr>
          <p:cNvPr name="Group 11" id="11"/>
          <p:cNvGrpSpPr/>
          <p:nvPr/>
        </p:nvGrpSpPr>
        <p:grpSpPr>
          <a:xfrm rot="0">
            <a:off x="809625" y="6381750"/>
            <a:ext cx="3429000" cy="1238250"/>
            <a:chOff x="0" y="0"/>
            <a:chExt cx="4572000" cy="16510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4572000" cy="1651000"/>
            </a:xfrm>
            <a:custGeom>
              <a:avLst/>
              <a:gdLst/>
              <a:ahLst/>
              <a:cxnLst/>
              <a:rect r="r" b="b" t="t" l="l"/>
              <a:pathLst>
                <a:path h="1651000" w="4572000">
                  <a:moveTo>
                    <a:pt x="28222" y="0"/>
                  </a:moveTo>
                  <a:lnTo>
                    <a:pt x="4543778" y="0"/>
                  </a:lnTo>
                  <a:cubicBezTo>
                    <a:pt x="4551263" y="0"/>
                    <a:pt x="4558441" y="2973"/>
                    <a:pt x="4563734" y="8266"/>
                  </a:cubicBezTo>
                  <a:cubicBezTo>
                    <a:pt x="4569027" y="13559"/>
                    <a:pt x="4572000" y="20737"/>
                    <a:pt x="4572000" y="28222"/>
                  </a:cubicBezTo>
                  <a:lnTo>
                    <a:pt x="4572000" y="1622778"/>
                  </a:lnTo>
                  <a:cubicBezTo>
                    <a:pt x="4572000" y="1630263"/>
                    <a:pt x="4569027" y="1637441"/>
                    <a:pt x="4563734" y="1642734"/>
                  </a:cubicBezTo>
                  <a:cubicBezTo>
                    <a:pt x="4558441" y="1648027"/>
                    <a:pt x="4551263" y="1651000"/>
                    <a:pt x="4543778" y="1651000"/>
                  </a:cubicBezTo>
                  <a:lnTo>
                    <a:pt x="28222" y="1651000"/>
                  </a:lnTo>
                  <a:cubicBezTo>
                    <a:pt x="20737" y="1651000"/>
                    <a:pt x="13559" y="1648027"/>
                    <a:pt x="8266" y="1642734"/>
                  </a:cubicBezTo>
                  <a:cubicBezTo>
                    <a:pt x="2973" y="1637441"/>
                    <a:pt x="0" y="1630263"/>
                    <a:pt x="0" y="1622778"/>
                  </a:cubicBezTo>
                  <a:lnTo>
                    <a:pt x="0" y="28222"/>
                  </a:lnTo>
                  <a:cubicBezTo>
                    <a:pt x="0" y="20737"/>
                    <a:pt x="2973" y="13559"/>
                    <a:pt x="8266" y="8266"/>
                  </a:cubicBezTo>
                  <a:cubicBezTo>
                    <a:pt x="13559" y="2973"/>
                    <a:pt x="20737" y="0"/>
                    <a:pt x="28222" y="0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13" id="13"/>
            <p:cNvSpPr txBox="true"/>
            <p:nvPr/>
          </p:nvSpPr>
          <p:spPr>
            <a:xfrm>
              <a:off x="0" y="-19050"/>
              <a:ext cx="4572000" cy="16700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05"/>
                </a:lnSpc>
              </a:pPr>
              <a:r>
                <a:rPr lang="en-US" sz="2100" b="true">
                  <a:solidFill>
                    <a:srgbClr val="000000"/>
                  </a:solidFill>
                  <a:latin typeface="Akzidenz-Grotesk Bold"/>
                  <a:ea typeface="Akzidenz-Grotesk Bold"/>
                  <a:cs typeface="Akzidenz-Grotesk Bold"/>
                  <a:sym typeface="Akzidenz-Grotesk Bold"/>
                </a:rPr>
                <a:t>CONTRACT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5200650" y="3200400"/>
            <a:ext cx="3429000" cy="1809750"/>
            <a:chOff x="0" y="0"/>
            <a:chExt cx="4572000" cy="24130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4572000" cy="2413000"/>
            </a:xfrm>
            <a:custGeom>
              <a:avLst/>
              <a:gdLst/>
              <a:ahLst/>
              <a:cxnLst/>
              <a:rect r="r" b="b" t="t" l="l"/>
              <a:pathLst>
                <a:path h="2413000" w="4572000">
                  <a:moveTo>
                    <a:pt x="0" y="0"/>
                  </a:moveTo>
                  <a:lnTo>
                    <a:pt x="4572000" y="0"/>
                  </a:lnTo>
                  <a:lnTo>
                    <a:pt x="4572000" y="2413000"/>
                  </a:lnTo>
                  <a:lnTo>
                    <a:pt x="0" y="2413000"/>
                  </a:lnTo>
                  <a:close/>
                </a:path>
              </a:pathLst>
            </a:custGeom>
            <a:solidFill>
              <a:srgbClr val="000000"/>
            </a:solidFill>
            <a:ln cap="sq">
              <a:noFill/>
              <a:prstDash val="solid"/>
              <a:miter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4572000" cy="245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5143500" y="3143250"/>
            <a:ext cx="3429000" cy="1809750"/>
            <a:chOff x="0" y="0"/>
            <a:chExt cx="4572000" cy="24130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4572000" cy="2413000"/>
            </a:xfrm>
            <a:custGeom>
              <a:avLst/>
              <a:gdLst/>
              <a:ahLst/>
              <a:cxnLst/>
              <a:rect r="r" b="b" t="t" l="l"/>
              <a:pathLst>
                <a:path h="2413000" w="4572000">
                  <a:moveTo>
                    <a:pt x="28222" y="0"/>
                  </a:moveTo>
                  <a:lnTo>
                    <a:pt x="4543778" y="0"/>
                  </a:lnTo>
                  <a:cubicBezTo>
                    <a:pt x="4551263" y="0"/>
                    <a:pt x="4558441" y="2973"/>
                    <a:pt x="4563734" y="8266"/>
                  </a:cubicBezTo>
                  <a:cubicBezTo>
                    <a:pt x="4569027" y="13559"/>
                    <a:pt x="4572000" y="20737"/>
                    <a:pt x="4572000" y="28222"/>
                  </a:cubicBezTo>
                  <a:lnTo>
                    <a:pt x="4572000" y="2384778"/>
                  </a:lnTo>
                  <a:cubicBezTo>
                    <a:pt x="4572000" y="2392263"/>
                    <a:pt x="4569027" y="2399441"/>
                    <a:pt x="4563734" y="2404734"/>
                  </a:cubicBezTo>
                  <a:cubicBezTo>
                    <a:pt x="4558441" y="2410027"/>
                    <a:pt x="4551263" y="2413000"/>
                    <a:pt x="4543778" y="2413000"/>
                  </a:cubicBezTo>
                  <a:lnTo>
                    <a:pt x="28222" y="2413000"/>
                  </a:lnTo>
                  <a:cubicBezTo>
                    <a:pt x="20737" y="2413000"/>
                    <a:pt x="13559" y="2410027"/>
                    <a:pt x="8266" y="2404734"/>
                  </a:cubicBezTo>
                  <a:cubicBezTo>
                    <a:pt x="2973" y="2399441"/>
                    <a:pt x="0" y="2392263"/>
                    <a:pt x="0" y="2384778"/>
                  </a:cubicBezTo>
                  <a:lnTo>
                    <a:pt x="0" y="28222"/>
                  </a:lnTo>
                  <a:cubicBezTo>
                    <a:pt x="0" y="20737"/>
                    <a:pt x="2973" y="13559"/>
                    <a:pt x="8266" y="8266"/>
                  </a:cubicBezTo>
                  <a:cubicBezTo>
                    <a:pt x="13559" y="2973"/>
                    <a:pt x="20737" y="0"/>
                    <a:pt x="28222" y="0"/>
                  </a:cubicBezTo>
                  <a:close/>
                </a:path>
              </a:pathLst>
            </a:custGeom>
            <a:solidFill>
              <a:srgbClr val="00F5A0"/>
            </a:solidFill>
            <a:ln w="3810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19" id="19"/>
            <p:cNvSpPr txBox="true"/>
            <p:nvPr/>
          </p:nvSpPr>
          <p:spPr>
            <a:xfrm>
              <a:off x="0" y="-19050"/>
              <a:ext cx="4572000" cy="24320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05"/>
                </a:lnSpc>
              </a:pPr>
              <a:r>
                <a:rPr lang="en-US" sz="2100" b="true">
                  <a:solidFill>
                    <a:srgbClr val="000000"/>
                  </a:solidFill>
                  <a:latin typeface="Akzidenz-Grotesk Bold"/>
                  <a:ea typeface="Akzidenz-Grotesk Bold"/>
                  <a:cs typeface="Akzidenz-Grotesk Bold"/>
                  <a:sym typeface="Akzidenz-Grotesk Bold"/>
                </a:rPr>
                <a:t>STREAMING</a:t>
              </a:r>
            </a:p>
            <a:p>
              <a:pPr algn="ctr">
                <a:lnSpc>
                  <a:spcPts val="2205"/>
                </a:lnSpc>
              </a:pPr>
              <a:r>
                <a:rPr lang="en-US" sz="2100" b="true">
                  <a:solidFill>
                    <a:srgbClr val="000000"/>
                  </a:solidFill>
                  <a:latin typeface="Akzidenz-Grotesk Bold"/>
                  <a:ea typeface="Akzidenz-Grotesk Bold"/>
                  <a:cs typeface="Akzidenz-Grotesk Bold"/>
                  <a:sym typeface="Akzidenz-Grotesk Bold"/>
                </a:rPr>
                <a:t>PIPELINES</a:t>
              </a:r>
            </a:p>
          </p:txBody>
        </p:sp>
      </p:grpSp>
      <p:sp>
        <p:nvSpPr>
          <p:cNvPr name="AutoShape 20" id="20"/>
          <p:cNvSpPr/>
          <p:nvPr/>
        </p:nvSpPr>
        <p:spPr>
          <a:xfrm>
            <a:off x="6858000" y="5048250"/>
            <a:ext cx="0" cy="1333500"/>
          </a:xfrm>
          <a:prstGeom prst="line">
            <a:avLst/>
          </a:prstGeom>
          <a:ln cap="rnd" w="47625">
            <a:solidFill>
              <a:srgbClr val="000000"/>
            </a:solidFill>
            <a:prstDash val="solid"/>
            <a:headEnd type="none" len="sm" w="sm"/>
            <a:tailEnd type="arrow" len="sm" w="med"/>
          </a:ln>
        </p:spPr>
      </p:sp>
      <p:grpSp>
        <p:nvGrpSpPr>
          <p:cNvPr name="Group 21" id="21"/>
          <p:cNvGrpSpPr/>
          <p:nvPr/>
        </p:nvGrpSpPr>
        <p:grpSpPr>
          <a:xfrm rot="0">
            <a:off x="5143500" y="6381750"/>
            <a:ext cx="3429000" cy="1238250"/>
            <a:chOff x="0" y="0"/>
            <a:chExt cx="4572000" cy="165100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4572000" cy="1651000"/>
            </a:xfrm>
            <a:custGeom>
              <a:avLst/>
              <a:gdLst/>
              <a:ahLst/>
              <a:cxnLst/>
              <a:rect r="r" b="b" t="t" l="l"/>
              <a:pathLst>
                <a:path h="1651000" w="4572000">
                  <a:moveTo>
                    <a:pt x="28222" y="0"/>
                  </a:moveTo>
                  <a:lnTo>
                    <a:pt x="4543778" y="0"/>
                  </a:lnTo>
                  <a:cubicBezTo>
                    <a:pt x="4551263" y="0"/>
                    <a:pt x="4558441" y="2973"/>
                    <a:pt x="4563734" y="8266"/>
                  </a:cubicBezTo>
                  <a:cubicBezTo>
                    <a:pt x="4569027" y="13559"/>
                    <a:pt x="4572000" y="20737"/>
                    <a:pt x="4572000" y="28222"/>
                  </a:cubicBezTo>
                  <a:lnTo>
                    <a:pt x="4572000" y="1622778"/>
                  </a:lnTo>
                  <a:cubicBezTo>
                    <a:pt x="4572000" y="1630263"/>
                    <a:pt x="4569027" y="1637441"/>
                    <a:pt x="4563734" y="1642734"/>
                  </a:cubicBezTo>
                  <a:cubicBezTo>
                    <a:pt x="4558441" y="1648027"/>
                    <a:pt x="4551263" y="1651000"/>
                    <a:pt x="4543778" y="1651000"/>
                  </a:cubicBezTo>
                  <a:lnTo>
                    <a:pt x="28222" y="1651000"/>
                  </a:lnTo>
                  <a:cubicBezTo>
                    <a:pt x="20737" y="1651000"/>
                    <a:pt x="13559" y="1648027"/>
                    <a:pt x="8266" y="1642734"/>
                  </a:cubicBezTo>
                  <a:cubicBezTo>
                    <a:pt x="2973" y="1637441"/>
                    <a:pt x="0" y="1630263"/>
                    <a:pt x="0" y="1622778"/>
                  </a:cubicBezTo>
                  <a:lnTo>
                    <a:pt x="0" y="28222"/>
                  </a:lnTo>
                  <a:cubicBezTo>
                    <a:pt x="0" y="20737"/>
                    <a:pt x="2973" y="13559"/>
                    <a:pt x="8266" y="8266"/>
                  </a:cubicBezTo>
                  <a:cubicBezTo>
                    <a:pt x="13559" y="2973"/>
                    <a:pt x="20737" y="0"/>
                    <a:pt x="28222" y="0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23" id="23"/>
            <p:cNvSpPr txBox="true"/>
            <p:nvPr/>
          </p:nvSpPr>
          <p:spPr>
            <a:xfrm>
              <a:off x="0" y="-19050"/>
              <a:ext cx="4572000" cy="16700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05"/>
                </a:lnSpc>
              </a:pPr>
              <a:r>
                <a:rPr lang="en-US" sz="2100" b="true">
                  <a:solidFill>
                    <a:srgbClr val="000000"/>
                  </a:solidFill>
                  <a:latin typeface="Akzidenz-Grotesk Bold"/>
                  <a:ea typeface="Akzidenz-Grotesk Bold"/>
                  <a:cs typeface="Akzidenz-Grotesk Bold"/>
                  <a:sym typeface="Akzidenz-Grotesk Bold"/>
                </a:rPr>
                <a:t>REPLAY</a:t>
              </a:r>
            </a:p>
          </p:txBody>
        </p:sp>
      </p:grpSp>
      <p:grpSp>
        <p:nvGrpSpPr>
          <p:cNvPr name="Group 24" id="24"/>
          <p:cNvGrpSpPr/>
          <p:nvPr/>
        </p:nvGrpSpPr>
        <p:grpSpPr>
          <a:xfrm rot="0">
            <a:off x="9534525" y="3200400"/>
            <a:ext cx="3429000" cy="1809750"/>
            <a:chOff x="0" y="0"/>
            <a:chExt cx="4572000" cy="241300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4572000" cy="2413000"/>
            </a:xfrm>
            <a:custGeom>
              <a:avLst/>
              <a:gdLst/>
              <a:ahLst/>
              <a:cxnLst/>
              <a:rect r="r" b="b" t="t" l="l"/>
              <a:pathLst>
                <a:path h="2413000" w="4572000">
                  <a:moveTo>
                    <a:pt x="0" y="0"/>
                  </a:moveTo>
                  <a:lnTo>
                    <a:pt x="4572000" y="0"/>
                  </a:lnTo>
                  <a:lnTo>
                    <a:pt x="4572000" y="2413000"/>
                  </a:lnTo>
                  <a:lnTo>
                    <a:pt x="0" y="2413000"/>
                  </a:lnTo>
                  <a:close/>
                </a:path>
              </a:pathLst>
            </a:custGeom>
            <a:solidFill>
              <a:srgbClr val="000000"/>
            </a:solidFill>
            <a:ln cap="sq">
              <a:noFill/>
              <a:prstDash val="solid"/>
              <a:miter/>
            </a:ln>
          </p:spPr>
        </p:sp>
        <p:sp>
          <p:nvSpPr>
            <p:cNvPr name="TextBox 26" id="26"/>
            <p:cNvSpPr txBox="true"/>
            <p:nvPr/>
          </p:nvSpPr>
          <p:spPr>
            <a:xfrm>
              <a:off x="0" y="-38100"/>
              <a:ext cx="4572000" cy="245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7" id="27"/>
          <p:cNvGrpSpPr/>
          <p:nvPr/>
        </p:nvGrpSpPr>
        <p:grpSpPr>
          <a:xfrm rot="0">
            <a:off x="9477375" y="3143250"/>
            <a:ext cx="3429000" cy="1809750"/>
            <a:chOff x="0" y="0"/>
            <a:chExt cx="4572000" cy="241300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4572000" cy="2413000"/>
            </a:xfrm>
            <a:custGeom>
              <a:avLst/>
              <a:gdLst/>
              <a:ahLst/>
              <a:cxnLst/>
              <a:rect r="r" b="b" t="t" l="l"/>
              <a:pathLst>
                <a:path h="2413000" w="4572000">
                  <a:moveTo>
                    <a:pt x="28222" y="0"/>
                  </a:moveTo>
                  <a:lnTo>
                    <a:pt x="4543778" y="0"/>
                  </a:lnTo>
                  <a:cubicBezTo>
                    <a:pt x="4551263" y="0"/>
                    <a:pt x="4558441" y="2973"/>
                    <a:pt x="4563734" y="8266"/>
                  </a:cubicBezTo>
                  <a:cubicBezTo>
                    <a:pt x="4569027" y="13559"/>
                    <a:pt x="4572000" y="20737"/>
                    <a:pt x="4572000" y="28222"/>
                  </a:cubicBezTo>
                  <a:lnTo>
                    <a:pt x="4572000" y="2384778"/>
                  </a:lnTo>
                  <a:cubicBezTo>
                    <a:pt x="4572000" y="2392263"/>
                    <a:pt x="4569027" y="2399441"/>
                    <a:pt x="4563734" y="2404734"/>
                  </a:cubicBezTo>
                  <a:cubicBezTo>
                    <a:pt x="4558441" y="2410027"/>
                    <a:pt x="4551263" y="2413000"/>
                    <a:pt x="4543778" y="2413000"/>
                  </a:cubicBezTo>
                  <a:lnTo>
                    <a:pt x="28222" y="2413000"/>
                  </a:lnTo>
                  <a:cubicBezTo>
                    <a:pt x="20737" y="2413000"/>
                    <a:pt x="13559" y="2410027"/>
                    <a:pt x="8266" y="2404734"/>
                  </a:cubicBezTo>
                  <a:cubicBezTo>
                    <a:pt x="2973" y="2399441"/>
                    <a:pt x="0" y="2392263"/>
                    <a:pt x="0" y="2384778"/>
                  </a:cubicBezTo>
                  <a:lnTo>
                    <a:pt x="0" y="28222"/>
                  </a:lnTo>
                  <a:cubicBezTo>
                    <a:pt x="0" y="20737"/>
                    <a:pt x="2973" y="13559"/>
                    <a:pt x="8266" y="8266"/>
                  </a:cubicBezTo>
                  <a:cubicBezTo>
                    <a:pt x="13559" y="2973"/>
                    <a:pt x="20737" y="0"/>
                    <a:pt x="28222" y="0"/>
                  </a:cubicBezTo>
                  <a:close/>
                </a:path>
              </a:pathLst>
            </a:custGeom>
            <a:solidFill>
              <a:srgbClr val="7C3AED"/>
            </a:solidFill>
            <a:ln w="3810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29" id="29"/>
            <p:cNvSpPr txBox="true"/>
            <p:nvPr/>
          </p:nvSpPr>
          <p:spPr>
            <a:xfrm>
              <a:off x="0" y="-19050"/>
              <a:ext cx="4572000" cy="24320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05"/>
                </a:lnSpc>
              </a:pPr>
              <a:r>
                <a:rPr lang="en-US" sz="2100" b="true">
                  <a:solidFill>
                    <a:srgbClr val="000000"/>
                  </a:solidFill>
                  <a:latin typeface="Akzidenz-Grotesk Bold"/>
                  <a:ea typeface="Akzidenz-Grotesk Bold"/>
                  <a:cs typeface="Akzidenz-Grotesk Bold"/>
                  <a:sym typeface="Akzidenz-Grotesk Bold"/>
                </a:rPr>
                <a:t>ML STATE</a:t>
              </a:r>
            </a:p>
            <a:p>
              <a:pPr algn="ctr">
                <a:lnSpc>
                  <a:spcPts val="2205"/>
                </a:lnSpc>
              </a:pPr>
              <a:r>
                <a:rPr lang="en-US" sz="2100" b="true">
                  <a:solidFill>
                    <a:srgbClr val="000000"/>
                  </a:solidFill>
                  <a:latin typeface="Akzidenz-Grotesk Bold"/>
                  <a:ea typeface="Akzidenz-Grotesk Bold"/>
                  <a:cs typeface="Akzidenz-Grotesk Bold"/>
                  <a:sym typeface="Akzidenz-Grotesk Bold"/>
                </a:rPr>
                <a:t>STORE</a:t>
              </a:r>
            </a:p>
          </p:txBody>
        </p:sp>
      </p:grpSp>
      <p:sp>
        <p:nvSpPr>
          <p:cNvPr name="AutoShape 30" id="30"/>
          <p:cNvSpPr/>
          <p:nvPr/>
        </p:nvSpPr>
        <p:spPr>
          <a:xfrm>
            <a:off x="11191875" y="5048250"/>
            <a:ext cx="0" cy="1333500"/>
          </a:xfrm>
          <a:prstGeom prst="line">
            <a:avLst/>
          </a:prstGeom>
          <a:ln cap="rnd" w="47625">
            <a:solidFill>
              <a:srgbClr val="000000"/>
            </a:solidFill>
            <a:prstDash val="solid"/>
            <a:headEnd type="none" len="sm" w="sm"/>
            <a:tailEnd type="arrow" len="sm" w="med"/>
          </a:ln>
        </p:spPr>
      </p:sp>
      <p:grpSp>
        <p:nvGrpSpPr>
          <p:cNvPr name="Group 31" id="31"/>
          <p:cNvGrpSpPr/>
          <p:nvPr/>
        </p:nvGrpSpPr>
        <p:grpSpPr>
          <a:xfrm rot="0">
            <a:off x="9477375" y="6381750"/>
            <a:ext cx="3429000" cy="1238250"/>
            <a:chOff x="0" y="0"/>
            <a:chExt cx="4572000" cy="165100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4572000" cy="1651000"/>
            </a:xfrm>
            <a:custGeom>
              <a:avLst/>
              <a:gdLst/>
              <a:ahLst/>
              <a:cxnLst/>
              <a:rect r="r" b="b" t="t" l="l"/>
              <a:pathLst>
                <a:path h="1651000" w="4572000">
                  <a:moveTo>
                    <a:pt x="28222" y="0"/>
                  </a:moveTo>
                  <a:lnTo>
                    <a:pt x="4543778" y="0"/>
                  </a:lnTo>
                  <a:cubicBezTo>
                    <a:pt x="4551263" y="0"/>
                    <a:pt x="4558441" y="2973"/>
                    <a:pt x="4563734" y="8266"/>
                  </a:cubicBezTo>
                  <a:cubicBezTo>
                    <a:pt x="4569027" y="13559"/>
                    <a:pt x="4572000" y="20737"/>
                    <a:pt x="4572000" y="28222"/>
                  </a:cubicBezTo>
                  <a:lnTo>
                    <a:pt x="4572000" y="1622778"/>
                  </a:lnTo>
                  <a:cubicBezTo>
                    <a:pt x="4572000" y="1630263"/>
                    <a:pt x="4569027" y="1637441"/>
                    <a:pt x="4563734" y="1642734"/>
                  </a:cubicBezTo>
                  <a:cubicBezTo>
                    <a:pt x="4558441" y="1648027"/>
                    <a:pt x="4551263" y="1651000"/>
                    <a:pt x="4543778" y="1651000"/>
                  </a:cubicBezTo>
                  <a:lnTo>
                    <a:pt x="28222" y="1651000"/>
                  </a:lnTo>
                  <a:cubicBezTo>
                    <a:pt x="20737" y="1651000"/>
                    <a:pt x="13559" y="1648027"/>
                    <a:pt x="8266" y="1642734"/>
                  </a:cubicBezTo>
                  <a:cubicBezTo>
                    <a:pt x="2973" y="1637441"/>
                    <a:pt x="0" y="1630263"/>
                    <a:pt x="0" y="1622778"/>
                  </a:cubicBezTo>
                  <a:lnTo>
                    <a:pt x="0" y="28222"/>
                  </a:lnTo>
                  <a:cubicBezTo>
                    <a:pt x="0" y="20737"/>
                    <a:pt x="2973" y="13559"/>
                    <a:pt x="8266" y="8266"/>
                  </a:cubicBezTo>
                  <a:cubicBezTo>
                    <a:pt x="13559" y="2973"/>
                    <a:pt x="20737" y="0"/>
                    <a:pt x="28222" y="0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33" id="33"/>
            <p:cNvSpPr txBox="true"/>
            <p:nvPr/>
          </p:nvSpPr>
          <p:spPr>
            <a:xfrm>
              <a:off x="0" y="-19050"/>
              <a:ext cx="4572000" cy="16700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05"/>
                </a:lnSpc>
              </a:pPr>
              <a:r>
                <a:rPr lang="en-US" sz="2100" b="true">
                  <a:solidFill>
                    <a:srgbClr val="000000"/>
                  </a:solidFill>
                  <a:latin typeface="Akzidenz-Grotesk Bold"/>
                  <a:ea typeface="Akzidenz-Grotesk Bold"/>
                  <a:cs typeface="Akzidenz-Grotesk Bold"/>
                  <a:sym typeface="Akzidenz-Grotesk Bold"/>
                </a:rPr>
                <a:t>TTL + FALLBACK</a:t>
              </a:r>
            </a:p>
          </p:txBody>
        </p:sp>
      </p:grpSp>
      <p:grpSp>
        <p:nvGrpSpPr>
          <p:cNvPr name="Group 34" id="34"/>
          <p:cNvGrpSpPr/>
          <p:nvPr/>
        </p:nvGrpSpPr>
        <p:grpSpPr>
          <a:xfrm rot="0">
            <a:off x="13868400" y="3200400"/>
            <a:ext cx="3429000" cy="1809750"/>
            <a:chOff x="0" y="0"/>
            <a:chExt cx="4572000" cy="2413000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4572000" cy="2413000"/>
            </a:xfrm>
            <a:custGeom>
              <a:avLst/>
              <a:gdLst/>
              <a:ahLst/>
              <a:cxnLst/>
              <a:rect r="r" b="b" t="t" l="l"/>
              <a:pathLst>
                <a:path h="2413000" w="4572000">
                  <a:moveTo>
                    <a:pt x="0" y="0"/>
                  </a:moveTo>
                  <a:lnTo>
                    <a:pt x="4572000" y="0"/>
                  </a:lnTo>
                  <a:lnTo>
                    <a:pt x="4572000" y="2413000"/>
                  </a:lnTo>
                  <a:lnTo>
                    <a:pt x="0" y="2413000"/>
                  </a:lnTo>
                  <a:close/>
                </a:path>
              </a:pathLst>
            </a:custGeom>
            <a:solidFill>
              <a:srgbClr val="000000"/>
            </a:solidFill>
            <a:ln cap="sq">
              <a:noFill/>
              <a:prstDash val="solid"/>
              <a:miter/>
            </a:ln>
          </p:spPr>
        </p:sp>
        <p:sp>
          <p:nvSpPr>
            <p:cNvPr name="TextBox 36" id="36"/>
            <p:cNvSpPr txBox="true"/>
            <p:nvPr/>
          </p:nvSpPr>
          <p:spPr>
            <a:xfrm>
              <a:off x="0" y="-38100"/>
              <a:ext cx="4572000" cy="2451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37" id="37"/>
          <p:cNvGrpSpPr/>
          <p:nvPr/>
        </p:nvGrpSpPr>
        <p:grpSpPr>
          <a:xfrm rot="0">
            <a:off x="13811250" y="3143250"/>
            <a:ext cx="3429000" cy="1809750"/>
            <a:chOff x="0" y="0"/>
            <a:chExt cx="4572000" cy="2413000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4572000" cy="2413000"/>
            </a:xfrm>
            <a:custGeom>
              <a:avLst/>
              <a:gdLst/>
              <a:ahLst/>
              <a:cxnLst/>
              <a:rect r="r" b="b" t="t" l="l"/>
              <a:pathLst>
                <a:path h="2413000" w="4572000">
                  <a:moveTo>
                    <a:pt x="28222" y="0"/>
                  </a:moveTo>
                  <a:lnTo>
                    <a:pt x="4543778" y="0"/>
                  </a:lnTo>
                  <a:cubicBezTo>
                    <a:pt x="4551263" y="0"/>
                    <a:pt x="4558441" y="2973"/>
                    <a:pt x="4563734" y="8266"/>
                  </a:cubicBezTo>
                  <a:cubicBezTo>
                    <a:pt x="4569027" y="13559"/>
                    <a:pt x="4572000" y="20737"/>
                    <a:pt x="4572000" y="28222"/>
                  </a:cubicBezTo>
                  <a:lnTo>
                    <a:pt x="4572000" y="2384778"/>
                  </a:lnTo>
                  <a:cubicBezTo>
                    <a:pt x="4572000" y="2392263"/>
                    <a:pt x="4569027" y="2399441"/>
                    <a:pt x="4563734" y="2404734"/>
                  </a:cubicBezTo>
                  <a:cubicBezTo>
                    <a:pt x="4558441" y="2410027"/>
                    <a:pt x="4551263" y="2413000"/>
                    <a:pt x="4543778" y="2413000"/>
                  </a:cubicBezTo>
                  <a:lnTo>
                    <a:pt x="28222" y="2413000"/>
                  </a:lnTo>
                  <a:cubicBezTo>
                    <a:pt x="20737" y="2413000"/>
                    <a:pt x="13559" y="2410027"/>
                    <a:pt x="8266" y="2404734"/>
                  </a:cubicBezTo>
                  <a:cubicBezTo>
                    <a:pt x="2973" y="2399441"/>
                    <a:pt x="0" y="2392263"/>
                    <a:pt x="0" y="2384778"/>
                  </a:cubicBezTo>
                  <a:lnTo>
                    <a:pt x="0" y="28222"/>
                  </a:lnTo>
                  <a:cubicBezTo>
                    <a:pt x="0" y="20737"/>
                    <a:pt x="2973" y="13559"/>
                    <a:pt x="8266" y="8266"/>
                  </a:cubicBezTo>
                  <a:cubicBezTo>
                    <a:pt x="13559" y="2973"/>
                    <a:pt x="20737" y="0"/>
                    <a:pt x="28222" y="0"/>
                  </a:cubicBezTo>
                  <a:close/>
                </a:path>
              </a:pathLst>
            </a:custGeom>
            <a:solidFill>
              <a:srgbClr val="FF4757"/>
            </a:solidFill>
            <a:ln w="3810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39" id="39"/>
            <p:cNvSpPr txBox="true"/>
            <p:nvPr/>
          </p:nvSpPr>
          <p:spPr>
            <a:xfrm>
              <a:off x="0" y="-19050"/>
              <a:ext cx="4572000" cy="24320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05"/>
                </a:lnSpc>
              </a:pPr>
              <a:r>
                <a:rPr lang="en-US" sz="2100" b="true">
                  <a:solidFill>
                    <a:srgbClr val="000000"/>
                  </a:solidFill>
                  <a:latin typeface="Akzidenz-Grotesk Bold"/>
                  <a:ea typeface="Akzidenz-Grotesk Bold"/>
                  <a:cs typeface="Akzidenz-Grotesk Bold"/>
                  <a:sym typeface="Akzidenz-Grotesk Bold"/>
                </a:rPr>
                <a:t>AIRFLOW</a:t>
              </a:r>
            </a:p>
            <a:p>
              <a:pPr algn="ctr">
                <a:lnSpc>
                  <a:spcPts val="2205"/>
                </a:lnSpc>
              </a:pPr>
              <a:r>
                <a:rPr lang="en-US" sz="2100" b="true">
                  <a:solidFill>
                    <a:srgbClr val="000000"/>
                  </a:solidFill>
                  <a:latin typeface="Akzidenz-Grotesk Bold"/>
                  <a:ea typeface="Akzidenz-Grotesk Bold"/>
                  <a:cs typeface="Akzidenz-Grotesk Bold"/>
                  <a:sym typeface="Akzidenz-Grotesk Bold"/>
                </a:rPr>
                <a:t>DAGS</a:t>
              </a:r>
            </a:p>
          </p:txBody>
        </p:sp>
      </p:grpSp>
      <p:sp>
        <p:nvSpPr>
          <p:cNvPr name="AutoShape 40" id="40"/>
          <p:cNvSpPr/>
          <p:nvPr/>
        </p:nvSpPr>
        <p:spPr>
          <a:xfrm>
            <a:off x="15525750" y="5048250"/>
            <a:ext cx="0" cy="1333500"/>
          </a:xfrm>
          <a:prstGeom prst="line">
            <a:avLst/>
          </a:prstGeom>
          <a:ln cap="rnd" w="47625">
            <a:solidFill>
              <a:srgbClr val="000000"/>
            </a:solidFill>
            <a:prstDash val="solid"/>
            <a:headEnd type="none" len="sm" w="sm"/>
            <a:tailEnd type="arrow" len="sm" w="med"/>
          </a:ln>
        </p:spPr>
      </p:sp>
      <p:grpSp>
        <p:nvGrpSpPr>
          <p:cNvPr name="Group 41" id="41"/>
          <p:cNvGrpSpPr/>
          <p:nvPr/>
        </p:nvGrpSpPr>
        <p:grpSpPr>
          <a:xfrm rot="0">
            <a:off x="13811250" y="6381750"/>
            <a:ext cx="3429000" cy="1238250"/>
            <a:chOff x="0" y="0"/>
            <a:chExt cx="4572000" cy="1651000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4572000" cy="1651000"/>
            </a:xfrm>
            <a:custGeom>
              <a:avLst/>
              <a:gdLst/>
              <a:ahLst/>
              <a:cxnLst/>
              <a:rect r="r" b="b" t="t" l="l"/>
              <a:pathLst>
                <a:path h="1651000" w="4572000">
                  <a:moveTo>
                    <a:pt x="28222" y="0"/>
                  </a:moveTo>
                  <a:lnTo>
                    <a:pt x="4543778" y="0"/>
                  </a:lnTo>
                  <a:cubicBezTo>
                    <a:pt x="4551263" y="0"/>
                    <a:pt x="4558441" y="2973"/>
                    <a:pt x="4563734" y="8266"/>
                  </a:cubicBezTo>
                  <a:cubicBezTo>
                    <a:pt x="4569027" y="13559"/>
                    <a:pt x="4572000" y="20737"/>
                    <a:pt x="4572000" y="28222"/>
                  </a:cubicBezTo>
                  <a:lnTo>
                    <a:pt x="4572000" y="1622778"/>
                  </a:lnTo>
                  <a:cubicBezTo>
                    <a:pt x="4572000" y="1630263"/>
                    <a:pt x="4569027" y="1637441"/>
                    <a:pt x="4563734" y="1642734"/>
                  </a:cubicBezTo>
                  <a:cubicBezTo>
                    <a:pt x="4558441" y="1648027"/>
                    <a:pt x="4551263" y="1651000"/>
                    <a:pt x="4543778" y="1651000"/>
                  </a:cubicBezTo>
                  <a:lnTo>
                    <a:pt x="28222" y="1651000"/>
                  </a:lnTo>
                  <a:cubicBezTo>
                    <a:pt x="20737" y="1651000"/>
                    <a:pt x="13559" y="1648027"/>
                    <a:pt x="8266" y="1642734"/>
                  </a:cubicBezTo>
                  <a:cubicBezTo>
                    <a:pt x="2973" y="1637441"/>
                    <a:pt x="0" y="1630263"/>
                    <a:pt x="0" y="1622778"/>
                  </a:cubicBezTo>
                  <a:lnTo>
                    <a:pt x="0" y="28222"/>
                  </a:lnTo>
                  <a:cubicBezTo>
                    <a:pt x="0" y="20737"/>
                    <a:pt x="2973" y="13559"/>
                    <a:pt x="8266" y="8266"/>
                  </a:cubicBezTo>
                  <a:cubicBezTo>
                    <a:pt x="13559" y="2973"/>
                    <a:pt x="20737" y="0"/>
                    <a:pt x="28222" y="0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43" id="43"/>
            <p:cNvSpPr txBox="true"/>
            <p:nvPr/>
          </p:nvSpPr>
          <p:spPr>
            <a:xfrm>
              <a:off x="0" y="-19050"/>
              <a:ext cx="4572000" cy="16700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205"/>
                </a:lnSpc>
              </a:pPr>
              <a:r>
                <a:rPr lang="en-US" sz="2100" b="true">
                  <a:solidFill>
                    <a:srgbClr val="000000"/>
                  </a:solidFill>
                  <a:latin typeface="Akzidenz-Grotesk Bold"/>
                  <a:ea typeface="Akzidenz-Grotesk Bold"/>
                  <a:cs typeface="Akzidenz-Grotesk Bold"/>
                  <a:sym typeface="Akzidenz-Grotesk Bold"/>
                </a:rPr>
                <a:t>DEPENDENCIES</a:t>
              </a:r>
            </a:p>
          </p:txBody>
        </p:sp>
      </p:grpSp>
      <p:sp>
        <p:nvSpPr>
          <p:cNvPr name="TextBox 44" id="44"/>
          <p:cNvSpPr txBox="true"/>
          <p:nvPr/>
        </p:nvSpPr>
        <p:spPr>
          <a:xfrm rot="0">
            <a:off x="2476500" y="8629650"/>
            <a:ext cx="13335000" cy="3749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793"/>
              </a:lnSpc>
            </a:pPr>
            <a:r>
              <a:rPr lang="en-US" sz="2850">
                <a:solidFill>
                  <a:srgbClr val="000000"/>
                </a:solidFill>
                <a:latin typeface="Archivo Black"/>
                <a:ea typeface="Archivo Black"/>
                <a:cs typeface="Archivo Black"/>
                <a:sym typeface="Archivo Black"/>
              </a:rPr>
              <a:t>UNIT  →  INTEGRATION  →  CHAOS  →  RECOVERY</a:t>
            </a:r>
          </a:p>
        </p:txBody>
      </p: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>
  <p:cSld>
    <p:bg>
      <p:bgPr>
        <a:solidFill>
          <a:srgbClr val="FA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819150" y="647700"/>
            <a:ext cx="16649700" cy="6294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704"/>
              </a:lnSpc>
            </a:pPr>
            <a:r>
              <a:rPr lang="en-US" sz="4800">
                <a:solidFill>
                  <a:srgbClr val="000000"/>
                </a:solidFill>
                <a:latin typeface="Archivo Black"/>
                <a:ea typeface="Archivo Black"/>
                <a:cs typeface="Archivo Black"/>
                <a:sym typeface="Archivo Black"/>
              </a:rPr>
              <a:t>SHIPPED FOR SCALE. READY FOR HARDENING.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1009650" y="2914650"/>
            <a:ext cx="4762500" cy="4953000"/>
            <a:chOff x="0" y="0"/>
            <a:chExt cx="6350000" cy="66040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6350000" cy="6604000"/>
            </a:xfrm>
            <a:custGeom>
              <a:avLst/>
              <a:gdLst/>
              <a:ahLst/>
              <a:cxnLst/>
              <a:rect r="r" b="b" t="t" l="l"/>
              <a:pathLst>
                <a:path h="6604000" w="6350000">
                  <a:moveTo>
                    <a:pt x="0" y="0"/>
                  </a:moveTo>
                  <a:lnTo>
                    <a:pt x="6350000" y="0"/>
                  </a:lnTo>
                  <a:lnTo>
                    <a:pt x="6350000" y="6604000"/>
                  </a:lnTo>
                  <a:lnTo>
                    <a:pt x="0" y="6604000"/>
                  </a:lnTo>
                  <a:close/>
                </a:path>
              </a:pathLst>
            </a:custGeom>
            <a:solidFill>
              <a:srgbClr val="000000"/>
            </a:solidFill>
            <a:ln cap="sq">
              <a:noFill/>
              <a:prstDash val="solid"/>
              <a:miter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6350000" cy="6642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952500" y="2857500"/>
            <a:ext cx="4762500" cy="1143000"/>
            <a:chOff x="0" y="0"/>
            <a:chExt cx="6350000" cy="15240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6350000" cy="1524000"/>
            </a:xfrm>
            <a:custGeom>
              <a:avLst/>
              <a:gdLst/>
              <a:ahLst/>
              <a:cxnLst/>
              <a:rect r="r" b="b" t="t" l="l"/>
              <a:pathLst>
                <a:path h="1524000" w="6350000">
                  <a:moveTo>
                    <a:pt x="20320" y="0"/>
                  </a:moveTo>
                  <a:lnTo>
                    <a:pt x="6329680" y="0"/>
                  </a:lnTo>
                  <a:cubicBezTo>
                    <a:pt x="6335069" y="0"/>
                    <a:pt x="6340238" y="2141"/>
                    <a:pt x="6344048" y="5952"/>
                  </a:cubicBezTo>
                  <a:cubicBezTo>
                    <a:pt x="6347859" y="9762"/>
                    <a:pt x="6350000" y="14931"/>
                    <a:pt x="6350000" y="20320"/>
                  </a:cubicBezTo>
                  <a:lnTo>
                    <a:pt x="6350000" y="1503680"/>
                  </a:lnTo>
                  <a:cubicBezTo>
                    <a:pt x="6350000" y="1514902"/>
                    <a:pt x="6340902" y="1524000"/>
                    <a:pt x="6329680" y="1524000"/>
                  </a:cubicBezTo>
                  <a:lnTo>
                    <a:pt x="20320" y="1524000"/>
                  </a:lnTo>
                  <a:cubicBezTo>
                    <a:pt x="9098" y="1524000"/>
                    <a:pt x="0" y="1514902"/>
                    <a:pt x="0" y="1503680"/>
                  </a:cubicBezTo>
                  <a:lnTo>
                    <a:pt x="0" y="20320"/>
                  </a:lnTo>
                  <a:cubicBezTo>
                    <a:pt x="0" y="9098"/>
                    <a:pt x="9098" y="0"/>
                    <a:pt x="20320" y="0"/>
                  </a:cubicBezTo>
                  <a:close/>
                </a:path>
              </a:pathLst>
            </a:custGeom>
            <a:solidFill>
              <a:srgbClr val="00F5A0"/>
            </a:solidFill>
            <a:ln w="3810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8" id="8"/>
            <p:cNvSpPr txBox="true"/>
            <p:nvPr/>
          </p:nvSpPr>
          <p:spPr>
            <a:xfrm>
              <a:off x="0" y="-19050"/>
              <a:ext cx="6350000" cy="15430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35"/>
                </a:lnSpc>
              </a:pPr>
              <a:r>
                <a:rPr lang="en-US" sz="2700" b="true">
                  <a:solidFill>
                    <a:srgbClr val="000000"/>
                  </a:solidFill>
                  <a:latin typeface="Akzidenz-Grotesk Bold"/>
                  <a:ea typeface="Akzidenz-Grotesk Bold"/>
                  <a:cs typeface="Akzidenz-Grotesk Bold"/>
                  <a:sym typeface="Akzidenz-Grotesk Bold"/>
                </a:rPr>
                <a:t>RESULTS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952500" y="4000500"/>
            <a:ext cx="4762500" cy="3810000"/>
            <a:chOff x="0" y="0"/>
            <a:chExt cx="6350000" cy="5080000"/>
          </a:xfrm>
        </p:grpSpPr>
        <p:grpSp>
          <p:nvGrpSpPr>
            <p:cNvPr name="Group 10" id="10"/>
            <p:cNvGrpSpPr/>
            <p:nvPr/>
          </p:nvGrpSpPr>
          <p:grpSpPr>
            <a:xfrm rot="0">
              <a:off x="0" y="0"/>
              <a:ext cx="6350000" cy="5080000"/>
              <a:chOff x="0" y="0"/>
              <a:chExt cx="6350000" cy="5080000"/>
            </a:xfrm>
          </p:grpSpPr>
          <p:sp>
            <p:nvSpPr>
              <p:cNvPr name="Freeform 11" id="11"/>
              <p:cNvSpPr/>
              <p:nvPr/>
            </p:nvSpPr>
            <p:spPr>
              <a:xfrm flipH="false" flipV="false" rot="0">
                <a:off x="0" y="0"/>
                <a:ext cx="6350000" cy="5080000"/>
              </a:xfrm>
              <a:custGeom>
                <a:avLst/>
                <a:gdLst/>
                <a:ahLst/>
                <a:cxnLst/>
                <a:rect r="r" b="b" t="t" l="l"/>
                <a:pathLst>
                  <a:path h="5080000" w="6350000">
                    <a:moveTo>
                      <a:pt x="0" y="0"/>
                    </a:moveTo>
                    <a:lnTo>
                      <a:pt x="6350000" y="0"/>
                    </a:lnTo>
                    <a:lnTo>
                      <a:pt x="6350000" y="5080000"/>
                    </a:lnTo>
                    <a:lnTo>
                      <a:pt x="0" y="5080000"/>
                    </a:lnTo>
                    <a:close/>
                  </a:path>
                </a:pathLst>
              </a:custGeom>
              <a:solidFill>
                <a:srgbClr val="FFFFFF"/>
              </a:solidFill>
              <a:ln w="38100" cap="sq">
                <a:solidFill>
                  <a:srgbClr val="000000"/>
                </a:solidFill>
                <a:prstDash val="solid"/>
                <a:miter/>
              </a:ln>
            </p:spPr>
          </p:sp>
          <p:sp>
            <p:nvSpPr>
              <p:cNvPr name="TextBox 12" id="12"/>
              <p:cNvSpPr txBox="true"/>
              <p:nvPr/>
            </p:nvSpPr>
            <p:spPr>
              <a:xfrm>
                <a:off x="0" y="-38100"/>
                <a:ext cx="6350000" cy="51181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1679"/>
                  </a:lnSpc>
                </a:pPr>
              </a:p>
            </p:txBody>
          </p:sp>
        </p:grpSp>
        <p:sp>
          <p:nvSpPr>
            <p:cNvPr name="TextBox 13" id="13"/>
            <p:cNvSpPr txBox="true"/>
            <p:nvPr/>
          </p:nvSpPr>
          <p:spPr>
            <a:xfrm rot="0">
              <a:off x="571500" y="749300"/>
              <a:ext cx="5207000" cy="157988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000"/>
                </a:lnSpc>
              </a:pPr>
              <a:r>
                <a:rPr lang="en-US" sz="2400">
                  <a:solidFill>
                    <a:srgbClr val="000000"/>
                  </a:solidFill>
                  <a:latin typeface="Akzidenz-Grotesk"/>
                  <a:ea typeface="Akzidenz-Grotesk"/>
                  <a:cs typeface="Akzidenz-Grotesk"/>
                  <a:sym typeface="Akzidenz-Grotesk"/>
                </a:rPr>
                <a:t>Zero DB inserts</a:t>
              </a:r>
            </a:p>
            <a:p>
              <a:pPr algn="l">
                <a:lnSpc>
                  <a:spcPts val="3000"/>
                </a:lnSpc>
              </a:pPr>
              <a:r>
                <a:rPr lang="en-US" sz="2400">
                  <a:solidFill>
                    <a:srgbClr val="000000"/>
                  </a:solidFill>
                  <a:latin typeface="Akzidenz-Grotesk"/>
                  <a:ea typeface="Akzidenz-Grotesk"/>
                  <a:cs typeface="Akzidenz-Grotesk"/>
                  <a:sym typeface="Akzidenz-Grotesk"/>
                </a:rPr>
                <a:t>Sub-10ms scoring</a:t>
              </a:r>
            </a:p>
            <a:p>
              <a:pPr algn="l">
                <a:lnSpc>
                  <a:spcPts val="3000"/>
                </a:lnSpc>
              </a:pPr>
              <a:r>
                <a:rPr lang="en-US" sz="2400">
                  <a:solidFill>
                    <a:srgbClr val="000000"/>
                  </a:solidFill>
                  <a:latin typeface="Akzidenz-Grotesk"/>
                  <a:ea typeface="Akzidenz-Grotesk"/>
                  <a:cs typeface="Akzidenz-Grotesk"/>
                  <a:sym typeface="Akzidenz-Grotesk"/>
                </a:rPr>
                <a:t>Replayable lineage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6819900" y="2914650"/>
            <a:ext cx="4762500" cy="4953000"/>
            <a:chOff x="0" y="0"/>
            <a:chExt cx="6350000" cy="66040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6350000" cy="6604000"/>
            </a:xfrm>
            <a:custGeom>
              <a:avLst/>
              <a:gdLst/>
              <a:ahLst/>
              <a:cxnLst/>
              <a:rect r="r" b="b" t="t" l="l"/>
              <a:pathLst>
                <a:path h="6604000" w="6350000">
                  <a:moveTo>
                    <a:pt x="0" y="0"/>
                  </a:moveTo>
                  <a:lnTo>
                    <a:pt x="6350000" y="0"/>
                  </a:lnTo>
                  <a:lnTo>
                    <a:pt x="6350000" y="6604000"/>
                  </a:lnTo>
                  <a:lnTo>
                    <a:pt x="0" y="6604000"/>
                  </a:lnTo>
                  <a:close/>
                </a:path>
              </a:pathLst>
            </a:custGeom>
            <a:solidFill>
              <a:srgbClr val="000000"/>
            </a:solidFill>
            <a:ln cap="sq">
              <a:noFill/>
              <a:prstDash val="solid"/>
              <a:miter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6350000" cy="6642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6762750" y="2857500"/>
            <a:ext cx="4762500" cy="1143000"/>
            <a:chOff x="0" y="0"/>
            <a:chExt cx="6350000" cy="15240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6350000" cy="1524000"/>
            </a:xfrm>
            <a:custGeom>
              <a:avLst/>
              <a:gdLst/>
              <a:ahLst/>
              <a:cxnLst/>
              <a:rect r="r" b="b" t="t" l="l"/>
              <a:pathLst>
                <a:path h="1524000" w="6350000">
                  <a:moveTo>
                    <a:pt x="20320" y="0"/>
                  </a:moveTo>
                  <a:lnTo>
                    <a:pt x="6329680" y="0"/>
                  </a:lnTo>
                  <a:cubicBezTo>
                    <a:pt x="6335069" y="0"/>
                    <a:pt x="6340238" y="2141"/>
                    <a:pt x="6344048" y="5952"/>
                  </a:cubicBezTo>
                  <a:cubicBezTo>
                    <a:pt x="6347859" y="9762"/>
                    <a:pt x="6350000" y="14931"/>
                    <a:pt x="6350000" y="20320"/>
                  </a:cubicBezTo>
                  <a:lnTo>
                    <a:pt x="6350000" y="1503680"/>
                  </a:lnTo>
                  <a:cubicBezTo>
                    <a:pt x="6350000" y="1514902"/>
                    <a:pt x="6340902" y="1524000"/>
                    <a:pt x="6329680" y="1524000"/>
                  </a:cubicBezTo>
                  <a:lnTo>
                    <a:pt x="20320" y="1524000"/>
                  </a:lnTo>
                  <a:cubicBezTo>
                    <a:pt x="9098" y="1524000"/>
                    <a:pt x="0" y="1514902"/>
                    <a:pt x="0" y="1503680"/>
                  </a:cubicBezTo>
                  <a:lnTo>
                    <a:pt x="0" y="20320"/>
                  </a:lnTo>
                  <a:cubicBezTo>
                    <a:pt x="0" y="9098"/>
                    <a:pt x="9098" y="0"/>
                    <a:pt x="20320" y="0"/>
                  </a:cubicBezTo>
                  <a:close/>
                </a:path>
              </a:pathLst>
            </a:custGeom>
            <a:solidFill>
              <a:srgbClr val="FF4757"/>
            </a:solidFill>
            <a:ln w="3810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19" id="19"/>
            <p:cNvSpPr txBox="true"/>
            <p:nvPr/>
          </p:nvSpPr>
          <p:spPr>
            <a:xfrm>
              <a:off x="0" y="-19050"/>
              <a:ext cx="6350000" cy="15430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35"/>
                </a:lnSpc>
              </a:pPr>
              <a:r>
                <a:rPr lang="en-US" sz="2700" b="true">
                  <a:solidFill>
                    <a:srgbClr val="000000"/>
                  </a:solidFill>
                  <a:latin typeface="Akzidenz-Grotesk Bold"/>
                  <a:ea typeface="Akzidenz-Grotesk Bold"/>
                  <a:cs typeface="Akzidenz-Grotesk Bold"/>
                  <a:sym typeface="Akzidenz-Grotesk Bold"/>
                </a:rPr>
                <a:t>LIMITS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6762750" y="4000500"/>
            <a:ext cx="4762500" cy="3810000"/>
            <a:chOff x="0" y="0"/>
            <a:chExt cx="6350000" cy="5080000"/>
          </a:xfrm>
        </p:grpSpPr>
        <p:grpSp>
          <p:nvGrpSpPr>
            <p:cNvPr name="Group 21" id="21"/>
            <p:cNvGrpSpPr/>
            <p:nvPr/>
          </p:nvGrpSpPr>
          <p:grpSpPr>
            <a:xfrm rot="0">
              <a:off x="0" y="0"/>
              <a:ext cx="6350000" cy="5080000"/>
              <a:chOff x="0" y="0"/>
              <a:chExt cx="6350000" cy="5080000"/>
            </a:xfrm>
          </p:grpSpPr>
          <p:sp>
            <p:nvSpPr>
              <p:cNvPr name="Freeform 22" id="22"/>
              <p:cNvSpPr/>
              <p:nvPr/>
            </p:nvSpPr>
            <p:spPr>
              <a:xfrm flipH="false" flipV="false" rot="0">
                <a:off x="0" y="0"/>
                <a:ext cx="6350000" cy="5080000"/>
              </a:xfrm>
              <a:custGeom>
                <a:avLst/>
                <a:gdLst/>
                <a:ahLst/>
                <a:cxnLst/>
                <a:rect r="r" b="b" t="t" l="l"/>
                <a:pathLst>
                  <a:path h="5080000" w="6350000">
                    <a:moveTo>
                      <a:pt x="0" y="0"/>
                    </a:moveTo>
                    <a:lnTo>
                      <a:pt x="6350000" y="0"/>
                    </a:lnTo>
                    <a:lnTo>
                      <a:pt x="6350000" y="5080000"/>
                    </a:lnTo>
                    <a:lnTo>
                      <a:pt x="0" y="5080000"/>
                    </a:lnTo>
                    <a:close/>
                  </a:path>
                </a:pathLst>
              </a:custGeom>
              <a:solidFill>
                <a:srgbClr val="FFFFFF"/>
              </a:solidFill>
              <a:ln w="38100" cap="sq">
                <a:solidFill>
                  <a:srgbClr val="000000"/>
                </a:solidFill>
                <a:prstDash val="solid"/>
                <a:miter/>
              </a:ln>
            </p:spPr>
          </p:sp>
          <p:sp>
            <p:nvSpPr>
              <p:cNvPr name="TextBox 23" id="23"/>
              <p:cNvSpPr txBox="true"/>
              <p:nvPr/>
            </p:nvSpPr>
            <p:spPr>
              <a:xfrm>
                <a:off x="0" y="-38100"/>
                <a:ext cx="6350000" cy="51181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1679"/>
                  </a:lnSpc>
                </a:pPr>
              </a:p>
            </p:txBody>
          </p:sp>
        </p:grpSp>
        <p:sp>
          <p:nvSpPr>
            <p:cNvPr name="TextBox 24" id="24"/>
            <p:cNvSpPr txBox="true"/>
            <p:nvPr/>
          </p:nvSpPr>
          <p:spPr>
            <a:xfrm rot="0">
              <a:off x="571500" y="749300"/>
              <a:ext cx="5207000" cy="157988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000"/>
                </a:lnSpc>
              </a:pPr>
              <a:r>
                <a:rPr lang="en-US" sz="2400">
                  <a:solidFill>
                    <a:srgbClr val="000000"/>
                  </a:solidFill>
                  <a:latin typeface="Akzidenz-Grotesk"/>
                  <a:ea typeface="Akzidenz-Grotesk"/>
                  <a:cs typeface="Akzidenz-Grotesk"/>
                  <a:sym typeface="Akzidenz-Grotesk"/>
                </a:rPr>
                <a:t>Single-region baseline</a:t>
              </a:r>
            </a:p>
            <a:p>
              <a:pPr algn="l">
                <a:lnSpc>
                  <a:spcPts val="3000"/>
                </a:lnSpc>
              </a:pPr>
              <a:r>
                <a:rPr lang="en-US" sz="2400">
                  <a:solidFill>
                    <a:srgbClr val="000000"/>
                  </a:solidFill>
                  <a:latin typeface="Akzidenz-Grotesk"/>
                  <a:ea typeface="Akzidenz-Grotesk"/>
                  <a:cs typeface="Akzidenz-Grotesk"/>
                  <a:sym typeface="Akzidenz-Grotesk"/>
                </a:rPr>
                <a:t>Feature freshness risk</a:t>
              </a:r>
            </a:p>
            <a:p>
              <a:pPr algn="l">
                <a:lnSpc>
                  <a:spcPts val="3000"/>
                </a:lnSpc>
              </a:pPr>
              <a:r>
                <a:rPr lang="en-US" sz="2400">
                  <a:solidFill>
                    <a:srgbClr val="000000"/>
                  </a:solidFill>
                  <a:latin typeface="Akzidenz-Grotesk"/>
                  <a:ea typeface="Akzidenz-Grotesk"/>
                  <a:cs typeface="Akzidenz-Grotesk"/>
                  <a:sym typeface="Akzidenz-Grotesk"/>
                </a:rPr>
                <a:t>Manual model promotion</a:t>
              </a: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12630150" y="2914650"/>
            <a:ext cx="4762500" cy="4953000"/>
            <a:chOff x="0" y="0"/>
            <a:chExt cx="6350000" cy="660400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6350000" cy="6604000"/>
            </a:xfrm>
            <a:custGeom>
              <a:avLst/>
              <a:gdLst/>
              <a:ahLst/>
              <a:cxnLst/>
              <a:rect r="r" b="b" t="t" l="l"/>
              <a:pathLst>
                <a:path h="6604000" w="6350000">
                  <a:moveTo>
                    <a:pt x="0" y="0"/>
                  </a:moveTo>
                  <a:lnTo>
                    <a:pt x="6350000" y="0"/>
                  </a:lnTo>
                  <a:lnTo>
                    <a:pt x="6350000" y="6604000"/>
                  </a:lnTo>
                  <a:lnTo>
                    <a:pt x="0" y="6604000"/>
                  </a:lnTo>
                  <a:close/>
                </a:path>
              </a:pathLst>
            </a:custGeom>
            <a:solidFill>
              <a:srgbClr val="000000"/>
            </a:solidFill>
            <a:ln cap="sq">
              <a:noFill/>
              <a:prstDash val="solid"/>
              <a:miter/>
            </a:ln>
          </p:spPr>
        </p:sp>
        <p:sp>
          <p:nvSpPr>
            <p:cNvPr name="TextBox 27" id="27"/>
            <p:cNvSpPr txBox="true"/>
            <p:nvPr/>
          </p:nvSpPr>
          <p:spPr>
            <a:xfrm>
              <a:off x="0" y="-38100"/>
              <a:ext cx="6350000" cy="66421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l">
                <a:lnSpc>
                  <a:spcPts val="1679"/>
                </a:lnSpc>
              </a:pPr>
            </a:p>
          </p:txBody>
        </p:sp>
      </p:grpSp>
      <p:grpSp>
        <p:nvGrpSpPr>
          <p:cNvPr name="Group 28" id="28"/>
          <p:cNvGrpSpPr/>
          <p:nvPr/>
        </p:nvGrpSpPr>
        <p:grpSpPr>
          <a:xfrm rot="0">
            <a:off x="12573000" y="2857500"/>
            <a:ext cx="4762500" cy="1143000"/>
            <a:chOff x="0" y="0"/>
            <a:chExt cx="6350000" cy="152400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6350000" cy="1524000"/>
            </a:xfrm>
            <a:custGeom>
              <a:avLst/>
              <a:gdLst/>
              <a:ahLst/>
              <a:cxnLst/>
              <a:rect r="r" b="b" t="t" l="l"/>
              <a:pathLst>
                <a:path h="1524000" w="6350000">
                  <a:moveTo>
                    <a:pt x="20320" y="0"/>
                  </a:moveTo>
                  <a:lnTo>
                    <a:pt x="6329680" y="0"/>
                  </a:lnTo>
                  <a:cubicBezTo>
                    <a:pt x="6335069" y="0"/>
                    <a:pt x="6340238" y="2141"/>
                    <a:pt x="6344048" y="5952"/>
                  </a:cubicBezTo>
                  <a:cubicBezTo>
                    <a:pt x="6347859" y="9762"/>
                    <a:pt x="6350000" y="14931"/>
                    <a:pt x="6350000" y="20320"/>
                  </a:cubicBezTo>
                  <a:lnTo>
                    <a:pt x="6350000" y="1503680"/>
                  </a:lnTo>
                  <a:cubicBezTo>
                    <a:pt x="6350000" y="1514902"/>
                    <a:pt x="6340902" y="1524000"/>
                    <a:pt x="6329680" y="1524000"/>
                  </a:cubicBezTo>
                  <a:lnTo>
                    <a:pt x="20320" y="1524000"/>
                  </a:lnTo>
                  <a:cubicBezTo>
                    <a:pt x="9098" y="1524000"/>
                    <a:pt x="0" y="1514902"/>
                    <a:pt x="0" y="1503680"/>
                  </a:cubicBezTo>
                  <a:lnTo>
                    <a:pt x="0" y="20320"/>
                  </a:lnTo>
                  <a:cubicBezTo>
                    <a:pt x="0" y="9098"/>
                    <a:pt x="9098" y="0"/>
                    <a:pt x="20320" y="0"/>
                  </a:cubicBezTo>
                  <a:close/>
                </a:path>
              </a:pathLst>
            </a:custGeom>
            <a:solidFill>
              <a:srgbClr val="FFE600"/>
            </a:solidFill>
            <a:ln w="3810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name="TextBox 30" id="30"/>
            <p:cNvSpPr txBox="true"/>
            <p:nvPr/>
          </p:nvSpPr>
          <p:spPr>
            <a:xfrm>
              <a:off x="0" y="-19050"/>
              <a:ext cx="6350000" cy="154305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835"/>
                </a:lnSpc>
              </a:pPr>
              <a:r>
                <a:rPr lang="en-US" sz="2700" b="true">
                  <a:solidFill>
                    <a:srgbClr val="000000"/>
                  </a:solidFill>
                  <a:latin typeface="Akzidenz-Grotesk Bold"/>
                  <a:ea typeface="Akzidenz-Grotesk Bold"/>
                  <a:cs typeface="Akzidenz-Grotesk Bold"/>
                  <a:sym typeface="Akzidenz-Grotesk Bold"/>
                </a:rPr>
                <a:t>NEXT</a:t>
              </a:r>
            </a:p>
          </p:txBody>
        </p:sp>
      </p:grpSp>
      <p:grpSp>
        <p:nvGrpSpPr>
          <p:cNvPr name="Group 31" id="31"/>
          <p:cNvGrpSpPr/>
          <p:nvPr/>
        </p:nvGrpSpPr>
        <p:grpSpPr>
          <a:xfrm rot="0">
            <a:off x="12573000" y="4000500"/>
            <a:ext cx="4762500" cy="3810000"/>
            <a:chOff x="0" y="0"/>
            <a:chExt cx="6350000" cy="5080000"/>
          </a:xfrm>
        </p:grpSpPr>
        <p:grpSp>
          <p:nvGrpSpPr>
            <p:cNvPr name="Group 32" id="32"/>
            <p:cNvGrpSpPr/>
            <p:nvPr/>
          </p:nvGrpSpPr>
          <p:grpSpPr>
            <a:xfrm rot="0">
              <a:off x="0" y="0"/>
              <a:ext cx="6350000" cy="5080000"/>
              <a:chOff x="0" y="0"/>
              <a:chExt cx="6350000" cy="5080000"/>
            </a:xfrm>
          </p:grpSpPr>
          <p:sp>
            <p:nvSpPr>
              <p:cNvPr name="Freeform 33" id="33"/>
              <p:cNvSpPr/>
              <p:nvPr/>
            </p:nvSpPr>
            <p:spPr>
              <a:xfrm flipH="false" flipV="false" rot="0">
                <a:off x="0" y="0"/>
                <a:ext cx="6350000" cy="5080000"/>
              </a:xfrm>
              <a:custGeom>
                <a:avLst/>
                <a:gdLst/>
                <a:ahLst/>
                <a:cxnLst/>
                <a:rect r="r" b="b" t="t" l="l"/>
                <a:pathLst>
                  <a:path h="5080000" w="6350000">
                    <a:moveTo>
                      <a:pt x="0" y="0"/>
                    </a:moveTo>
                    <a:lnTo>
                      <a:pt x="6350000" y="0"/>
                    </a:lnTo>
                    <a:lnTo>
                      <a:pt x="6350000" y="5080000"/>
                    </a:lnTo>
                    <a:lnTo>
                      <a:pt x="0" y="5080000"/>
                    </a:lnTo>
                    <a:close/>
                  </a:path>
                </a:pathLst>
              </a:custGeom>
              <a:solidFill>
                <a:srgbClr val="FFFFFF"/>
              </a:solidFill>
              <a:ln w="38100" cap="sq">
                <a:solidFill>
                  <a:srgbClr val="000000"/>
                </a:solidFill>
                <a:prstDash val="solid"/>
                <a:miter/>
              </a:ln>
            </p:spPr>
          </p:sp>
          <p:sp>
            <p:nvSpPr>
              <p:cNvPr name="TextBox 34" id="34"/>
              <p:cNvSpPr txBox="true"/>
              <p:nvPr/>
            </p:nvSpPr>
            <p:spPr>
              <a:xfrm>
                <a:off x="0" y="-38100"/>
                <a:ext cx="6350000" cy="51181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l">
                  <a:lnSpc>
                    <a:spcPts val="1679"/>
                  </a:lnSpc>
                </a:pPr>
              </a:p>
            </p:txBody>
          </p:sp>
        </p:grpSp>
        <p:sp>
          <p:nvSpPr>
            <p:cNvPr name="TextBox 35" id="35"/>
            <p:cNvSpPr txBox="true"/>
            <p:nvPr/>
          </p:nvSpPr>
          <p:spPr>
            <a:xfrm rot="0">
              <a:off x="571500" y="749300"/>
              <a:ext cx="5207000" cy="157988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000"/>
                </a:lnSpc>
              </a:pPr>
              <a:r>
                <a:rPr lang="en-US" sz="2400">
                  <a:solidFill>
                    <a:srgbClr val="000000"/>
                  </a:solidFill>
                  <a:latin typeface="Akzidenz-Grotesk"/>
                  <a:ea typeface="Akzidenz-Grotesk"/>
                  <a:cs typeface="Akzidenz-Grotesk"/>
                  <a:sym typeface="Akzidenz-Grotesk"/>
                </a:rPr>
                <a:t>Multi-region MSK</a:t>
              </a:r>
            </a:p>
            <a:p>
              <a:pPr algn="l">
                <a:lnSpc>
                  <a:spcPts val="3000"/>
                </a:lnSpc>
              </a:pPr>
              <a:r>
                <a:rPr lang="en-US" sz="2400">
                  <a:solidFill>
                    <a:srgbClr val="000000"/>
                  </a:solidFill>
                  <a:latin typeface="Akzidenz-Grotesk"/>
                  <a:ea typeface="Akzidenz-Grotesk"/>
                  <a:cs typeface="Akzidenz-Grotesk"/>
                  <a:sym typeface="Akzidenz-Grotesk"/>
                </a:rPr>
                <a:t>Online feature store</a:t>
              </a:r>
            </a:p>
            <a:p>
              <a:pPr algn="l">
                <a:lnSpc>
                  <a:spcPts val="3000"/>
                </a:lnSpc>
              </a:pPr>
              <a:r>
                <a:rPr lang="en-US" sz="2400">
                  <a:solidFill>
                    <a:srgbClr val="000000"/>
                  </a:solidFill>
                  <a:latin typeface="Akzidenz-Grotesk"/>
                  <a:ea typeface="Akzidenz-Grotesk"/>
                  <a:cs typeface="Akzidenz-Grotesk"/>
                  <a:sym typeface="Akzidenz-Grotesk"/>
                </a:rPr>
                <a:t>Automated model gates</a:t>
              </a:r>
            </a:p>
          </p:txBody>
        </p:sp>
      </p:grpSp>
      <p:sp>
        <p:nvSpPr>
          <p:cNvPr name="TextBox 36" id="36"/>
          <p:cNvSpPr txBox="true"/>
          <p:nvPr/>
        </p:nvSpPr>
        <p:spPr>
          <a:xfrm rot="0">
            <a:off x="2095500" y="8724900"/>
            <a:ext cx="14097000" cy="3981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940"/>
              </a:lnSpc>
            </a:pPr>
            <a:r>
              <a:rPr lang="en-US" sz="3000">
                <a:solidFill>
                  <a:srgbClr val="000000"/>
                </a:solidFill>
                <a:latin typeface="Archivo Black"/>
                <a:ea typeface="Archivo Black"/>
                <a:cs typeface="Archivo Black"/>
                <a:sym typeface="Archivo Black"/>
              </a:rPr>
              <a:t>SIC8 turns payment velocity into a competitive advantage.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DAHZa2MBwVU</dc:identifier>
  <dcterms:modified xsi:type="dcterms:W3CDTF">2011-08-01T06:04:30Z</dcterms:modified>
  <cp:revision>1</cp:revision>
  <dc:title>SIC8 Anti-Fraud Lakehouse</dc:title>
</cp:coreProperties>
</file>